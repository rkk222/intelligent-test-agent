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按当前平台结构复原：公共 Agent 使用公共配置 opencode/，应用 Agent 使用工作区 .opencode/；content 层已移除，spec/docs 直接位于 workspace；原知识库层已移除，SDD 能力栈增加 MCP 与 Tools。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0" y="128016"/>
            <a:ext cx="612648" cy="804672"/>
          </a:xfrm>
          <a:prstGeom prst="triangle">
            <a:avLst/>
          </a:prstGeom>
          <a:solidFill>
            <a:srgbClr val="D40000"/>
          </a:solidFill>
          <a:ln w="12700">
            <a:solidFill>
              <a:srgbClr val="D4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4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2.2 智能研发 “规范驱动” 范式在测试智能体的落地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6848856" cy="73152"/>
          </a:xfrm>
          <a:prstGeom prst="rect">
            <a:avLst/>
          </a:prstGeom>
          <a:solidFill>
            <a:srgbClr val="D40000"/>
          </a:solidFill>
          <a:ln w="12700">
            <a:solidFill>
              <a:srgbClr val="D4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70648" y="982980"/>
            <a:ext cx="4178808" cy="18288"/>
          </a:xfrm>
          <a:prstGeom prst="rect">
            <a:avLst/>
          </a:prstGeom>
          <a:solidFill>
            <a:srgbClr val="D40000"/>
          </a:solidFill>
          <a:ln w="12700">
            <a:solidFill>
              <a:srgbClr val="D4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25912" y="603504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ICBC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11712" y="576072"/>
            <a:ext cx="283464" cy="2834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43716" y="6126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508760"/>
            <a:ext cx="3730752" cy="376732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DF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1508760"/>
            <a:ext cx="3355848" cy="376732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1430">
            <a:solidFill>
              <a:srgbClr val="DFDF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63256" y="1508760"/>
            <a:ext cx="3950208" cy="3767328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1430">
            <a:solidFill>
              <a:srgbClr val="DFDF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1056" y="1591056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1595628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标准化工作区目录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49240" y="159105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59562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执行链路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15400" y="1591056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5956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SDD 规范驱动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86384" y="1965960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1989094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94767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public-config/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1051560" y="2130552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272" y="2153686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211226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opencode/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1316736" y="2295144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8448" y="2318278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4752" y="2276856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agents/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1572768" y="2455164"/>
            <a:ext cx="71323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9928" y="24414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test-design-agent.md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572768" y="2601468"/>
            <a:ext cx="71323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09928" y="2587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test-execution-agent.md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316736" y="2761488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98448" y="2784622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4752" y="274320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316736" y="2916936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98448" y="2940070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44752" y="289864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1307592" y="3067812"/>
            <a:ext cx="71323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44752" y="3054096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opencode.jsonc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86384" y="3282696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" y="3305830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326440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workspace/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1051560" y="3447288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3272" y="3470422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79576" y="342900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.opencode/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1316736" y="3611880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98448" y="3635014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44752" y="3593592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agents/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1572768" y="3771900"/>
            <a:ext cx="71323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09928" y="37581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test-design-agent.md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1572768" y="3918204"/>
            <a:ext cx="71323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09928" y="39044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test-execution-agent.md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1316736" y="4078224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98448" y="4101358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44752" y="4059936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1316736" y="4233672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98448" y="4256806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44752" y="4215384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1307592" y="4384548"/>
            <a:ext cx="71323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44752" y="4370832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opencode.jsonc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51560" y="4645152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3272" y="4668286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79576" y="462686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spec/</a:t>
            </a:r>
            <a:endParaRPr lang="en-US" sz="870" dirty="0"/>
          </a:p>
        </p:txBody>
      </p:sp>
      <p:sp>
        <p:nvSpPr>
          <p:cNvPr id="63" name="Shape 61"/>
          <p:cNvSpPr/>
          <p:nvPr/>
        </p:nvSpPr>
        <p:spPr>
          <a:xfrm>
            <a:off x="1051560" y="4846320"/>
            <a:ext cx="55321" cy="32187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3272" y="4869454"/>
            <a:ext cx="100584" cy="70409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D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79576" y="4828032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822960" y="2057400"/>
            <a:ext cx="914" cy="1051560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2960" y="2112264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88136" y="2221992"/>
            <a:ext cx="914" cy="886968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88136" y="2276856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8136" y="2743200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8136" y="2898648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88136" y="3054096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53312" y="2386584"/>
            <a:ext cx="914" cy="256032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53312" y="2441448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53312" y="2587752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2960" y="3374136"/>
            <a:ext cx="914" cy="1508760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2960" y="3429000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2960" y="4626864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2960" y="4828032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88136" y="3538728"/>
            <a:ext cx="914" cy="886968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88136" y="3593592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8136" y="4059936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88136" y="4215384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8136" y="4370832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53312" y="3703320"/>
            <a:ext cx="914" cy="256032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353312" y="3758184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353312" y="3904488"/>
            <a:ext cx="109728" cy="914"/>
          </a:xfrm>
          <a:prstGeom prst="line">
            <a:avLst/>
          </a:prstGeom>
          <a:noFill/>
          <a:ln w="10160">
            <a:solidFill>
              <a:srgbClr val="ED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07792" y="2075688"/>
            <a:ext cx="914" cy="1042416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834640" y="2075688"/>
            <a:ext cx="73152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34640" y="3118104"/>
            <a:ext cx="73152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907792" y="2596896"/>
            <a:ext cx="128016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44952" y="239572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1430">
            <a:solidFill>
              <a:srgbClr val="FFD6D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090672" y="2432304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82D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 Agent</a:t>
            </a:r>
            <a:endParaRPr lang="en-US" sz="1040" dirty="0"/>
          </a:p>
        </p:txBody>
      </p:sp>
      <p:sp>
        <p:nvSpPr>
          <p:cNvPr id="94" name="Text 92"/>
          <p:cNvSpPr/>
          <p:nvPr/>
        </p:nvSpPr>
        <p:spPr>
          <a:xfrm>
            <a:off x="3090672" y="2587752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公共能力区</a:t>
            </a:r>
            <a:endParaRPr lang="en-US" sz="920" dirty="0"/>
          </a:p>
        </p:txBody>
      </p:sp>
      <p:sp>
        <p:nvSpPr>
          <p:cNvPr id="95" name="Shape 93"/>
          <p:cNvSpPr/>
          <p:nvPr/>
        </p:nvSpPr>
        <p:spPr>
          <a:xfrm>
            <a:off x="2907792" y="3392424"/>
            <a:ext cx="914" cy="1042416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834640" y="3392424"/>
            <a:ext cx="73152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834640" y="4434840"/>
            <a:ext cx="73152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907792" y="3913632"/>
            <a:ext cx="128016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044952" y="371246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1430">
            <a:solidFill>
              <a:srgbClr val="FFD6D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090672" y="374904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82D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 Agent</a:t>
            </a:r>
            <a:endParaRPr lang="en-US" sz="1040" dirty="0"/>
          </a:p>
        </p:txBody>
      </p:sp>
      <p:sp>
        <p:nvSpPr>
          <p:cNvPr id="101" name="Text 99"/>
          <p:cNvSpPr/>
          <p:nvPr/>
        </p:nvSpPr>
        <p:spPr>
          <a:xfrm>
            <a:off x="3090672" y="3904488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应用定制区</a:t>
            </a:r>
            <a:endParaRPr lang="en-US" sz="920" dirty="0"/>
          </a:p>
        </p:txBody>
      </p:sp>
      <p:sp>
        <p:nvSpPr>
          <p:cNvPr id="102" name="Shape 100"/>
          <p:cNvSpPr/>
          <p:nvPr/>
        </p:nvSpPr>
        <p:spPr>
          <a:xfrm>
            <a:off x="2907792" y="4562856"/>
            <a:ext cx="914" cy="32918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834640" y="4562856"/>
            <a:ext cx="73152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834640" y="4892040"/>
            <a:ext cx="73152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907792" y="4727448"/>
            <a:ext cx="128016" cy="914"/>
          </a:xfrm>
          <a:prstGeom prst="line">
            <a:avLst/>
          </a:prstGeom>
          <a:noFill/>
          <a:ln w="15240">
            <a:solidFill>
              <a:srgbClr val="D4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044952" y="4526280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1430">
            <a:solidFill>
              <a:srgbClr val="FFD6D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090672" y="4562856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82D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/ docs</a:t>
            </a:r>
            <a:endParaRPr lang="en-US" sz="1040" dirty="0"/>
          </a:p>
        </p:txBody>
      </p:sp>
      <p:sp>
        <p:nvSpPr>
          <p:cNvPr id="108" name="Text 106"/>
          <p:cNvSpPr/>
          <p:nvPr/>
        </p:nvSpPr>
        <p:spPr>
          <a:xfrm>
            <a:off x="3090672" y="4718304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应用资产区</a:t>
            </a:r>
            <a:endParaRPr lang="en-US" sz="920" dirty="0"/>
          </a:p>
        </p:txBody>
      </p:sp>
      <p:sp>
        <p:nvSpPr>
          <p:cNvPr id="109" name="Shape 107"/>
          <p:cNvSpPr/>
          <p:nvPr/>
        </p:nvSpPr>
        <p:spPr>
          <a:xfrm>
            <a:off x="4983480" y="1929384"/>
            <a:ext cx="1984248" cy="283464"/>
          </a:xfrm>
          <a:prstGeom prst="roundRect">
            <a:avLst>
              <a:gd name="adj" fmla="val 16129"/>
            </a:avLst>
          </a:prstGeom>
          <a:solidFill>
            <a:srgbClr val="FFF0F0"/>
          </a:solidFill>
          <a:ln w="11430">
            <a:solidFill>
              <a:srgbClr val="FFD6D6"/>
            </a:solidFill>
            <a:prstDash val="solid"/>
          </a:ln>
        </p:spPr>
      </p:sp>
      <p:pic>
        <p:nvPicPr>
          <p:cNvPr id="1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1975104"/>
            <a:ext cx="155448" cy="155448"/>
          </a:xfrm>
          <a:prstGeom prst="rect">
            <a:avLst/>
          </a:prstGeom>
        </p:spPr>
      </p:pic>
      <p:sp>
        <p:nvSpPr>
          <p:cNvPr id="111" name="Text 108"/>
          <p:cNvSpPr/>
          <p:nvPr/>
        </p:nvSpPr>
        <p:spPr>
          <a:xfrm>
            <a:off x="5797296" y="1938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用户指令</a:t>
            </a:r>
            <a:endParaRPr lang="en-US" sz="1250" dirty="0"/>
          </a:p>
        </p:txBody>
      </p:sp>
      <p:sp>
        <p:nvSpPr>
          <p:cNvPr id="112" name="Shape 109"/>
          <p:cNvSpPr/>
          <p:nvPr/>
        </p:nvSpPr>
        <p:spPr>
          <a:xfrm>
            <a:off x="5975604" y="2212848"/>
            <a:ext cx="914" cy="137160"/>
          </a:xfrm>
          <a:prstGeom prst="line">
            <a:avLst/>
          </a:prstGeom>
          <a:noFill/>
          <a:ln w="13970">
            <a:solidFill>
              <a:srgbClr val="ED0000"/>
            </a:solidFill>
            <a:prstDash val="solid"/>
            <a:tailEnd type="triangle"/>
          </a:ln>
        </p:spPr>
      </p:sp>
      <p:sp>
        <p:nvSpPr>
          <p:cNvPr id="113" name="Shape 110"/>
          <p:cNvSpPr/>
          <p:nvPr/>
        </p:nvSpPr>
        <p:spPr>
          <a:xfrm>
            <a:off x="4928616" y="2359152"/>
            <a:ext cx="2093976" cy="320040"/>
          </a:xfrm>
          <a:prstGeom prst="roundRect">
            <a:avLst>
              <a:gd name="adj" fmla="val 34286"/>
            </a:avLst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pic>
        <p:nvPicPr>
          <p:cNvPr id="1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432304"/>
            <a:ext cx="164592" cy="164592"/>
          </a:xfrm>
          <a:prstGeom prst="rect">
            <a:avLst/>
          </a:prstGeom>
        </p:spPr>
      </p:pic>
      <p:sp>
        <p:nvSpPr>
          <p:cNvPr id="115" name="Text 111"/>
          <p:cNvSpPr/>
          <p:nvPr/>
        </p:nvSpPr>
        <p:spPr>
          <a:xfrm>
            <a:off x="5394960" y="236829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Master 主控智能体</a:t>
            </a:r>
            <a:endParaRPr lang="en-US" sz="1150" dirty="0"/>
          </a:p>
        </p:txBody>
      </p:sp>
      <p:sp>
        <p:nvSpPr>
          <p:cNvPr id="116" name="Shape 112"/>
          <p:cNvSpPr/>
          <p:nvPr/>
        </p:nvSpPr>
        <p:spPr>
          <a:xfrm>
            <a:off x="5975604" y="2679192"/>
            <a:ext cx="914" cy="155448"/>
          </a:xfrm>
          <a:prstGeom prst="line">
            <a:avLst/>
          </a:prstGeom>
          <a:noFill/>
          <a:ln w="13970">
            <a:solidFill>
              <a:srgbClr val="ED0000"/>
            </a:solidFill>
            <a:prstDash val="solid"/>
            <a:tailEnd type="triangle"/>
          </a:ln>
        </p:spPr>
      </p:sp>
      <p:sp>
        <p:nvSpPr>
          <p:cNvPr id="117" name="Shape 113"/>
          <p:cNvSpPr/>
          <p:nvPr/>
        </p:nvSpPr>
        <p:spPr>
          <a:xfrm>
            <a:off x="4764024" y="2843784"/>
            <a:ext cx="2423160" cy="68580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1430">
            <a:solidFill>
              <a:srgbClr val="FFD6D6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5230368" y="2907792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专业子智能体</a:t>
            </a:r>
            <a:endParaRPr lang="en-US" sz="1200" dirty="0"/>
          </a:p>
        </p:txBody>
      </p:sp>
      <p:pic>
        <p:nvPicPr>
          <p:cNvPr id="1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127248"/>
            <a:ext cx="182880" cy="182880"/>
          </a:xfrm>
          <a:prstGeom prst="rect">
            <a:avLst/>
          </a:prstGeom>
        </p:spPr>
      </p:pic>
      <p:sp>
        <p:nvSpPr>
          <p:cNvPr id="120" name="Text 115"/>
          <p:cNvSpPr/>
          <p:nvPr/>
        </p:nvSpPr>
        <p:spPr>
          <a:xfrm>
            <a:off x="4818888" y="3337560"/>
            <a:ext cx="694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test-design-agent</a:t>
            </a:r>
            <a:endParaRPr lang="en-US" sz="650" dirty="0"/>
          </a:p>
        </p:txBody>
      </p:sp>
      <p:pic>
        <p:nvPicPr>
          <p:cNvPr id="1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127248"/>
            <a:ext cx="182880" cy="182880"/>
          </a:xfrm>
          <a:prstGeom prst="rect">
            <a:avLst/>
          </a:prstGeom>
        </p:spPr>
      </p:pic>
      <p:sp>
        <p:nvSpPr>
          <p:cNvPr id="122" name="Text 116"/>
          <p:cNvSpPr/>
          <p:nvPr/>
        </p:nvSpPr>
        <p:spPr>
          <a:xfrm>
            <a:off x="5596128" y="3337560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api-agent</a:t>
            </a:r>
            <a:endParaRPr lang="en-US" sz="650" dirty="0"/>
          </a:p>
        </p:txBody>
      </p:sp>
      <p:pic>
        <p:nvPicPr>
          <p:cNvPr id="1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3127248"/>
            <a:ext cx="182880" cy="182880"/>
          </a:xfrm>
          <a:prstGeom prst="rect">
            <a:avLst/>
          </a:prstGeom>
        </p:spPr>
      </p:pic>
      <p:sp>
        <p:nvSpPr>
          <p:cNvPr id="124" name="Text 117"/>
          <p:cNvSpPr/>
          <p:nvPr/>
        </p:nvSpPr>
        <p:spPr>
          <a:xfrm>
            <a:off x="6391656" y="333756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ui-agent</a:t>
            </a:r>
            <a:endParaRPr lang="en-US" sz="650" dirty="0"/>
          </a:p>
        </p:txBody>
      </p:sp>
      <p:sp>
        <p:nvSpPr>
          <p:cNvPr id="125" name="Shape 118"/>
          <p:cNvSpPr/>
          <p:nvPr/>
        </p:nvSpPr>
        <p:spPr>
          <a:xfrm>
            <a:off x="5975604" y="3529584"/>
            <a:ext cx="914" cy="128016"/>
          </a:xfrm>
          <a:prstGeom prst="line">
            <a:avLst/>
          </a:prstGeom>
          <a:noFill/>
          <a:ln w="13970">
            <a:solidFill>
              <a:srgbClr val="ED0000"/>
            </a:solidFill>
            <a:prstDash val="solid"/>
            <a:tailEnd type="triangle"/>
          </a:ln>
        </p:spPr>
      </p:sp>
      <p:sp>
        <p:nvSpPr>
          <p:cNvPr id="126" name="Shape 119"/>
          <p:cNvSpPr/>
          <p:nvPr/>
        </p:nvSpPr>
        <p:spPr>
          <a:xfrm>
            <a:off x="4764024" y="3666744"/>
            <a:ext cx="2423160" cy="265176"/>
          </a:xfrm>
          <a:prstGeom prst="roundRect">
            <a:avLst>
              <a:gd name="adj" fmla="val 13793"/>
            </a:avLst>
          </a:prstGeom>
          <a:solidFill>
            <a:srgbClr val="FFF0F0"/>
          </a:solidFill>
          <a:ln w="11430">
            <a:solidFill>
              <a:srgbClr val="FFD6D6"/>
            </a:solidFill>
            <a:prstDash val="solid"/>
          </a:ln>
        </p:spPr>
      </p:sp>
      <p:pic>
        <p:nvPicPr>
          <p:cNvPr id="1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936" y="3712464"/>
            <a:ext cx="164592" cy="164592"/>
          </a:xfrm>
          <a:prstGeom prst="rect">
            <a:avLst/>
          </a:prstGeom>
        </p:spPr>
      </p:pic>
      <p:sp>
        <p:nvSpPr>
          <p:cNvPr id="128" name="Text 120"/>
          <p:cNvSpPr/>
          <p:nvPr/>
        </p:nvSpPr>
        <p:spPr>
          <a:xfrm>
            <a:off x="5495544" y="36667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标准工序</a:t>
            </a:r>
            <a:endParaRPr lang="en-US" sz="1200" dirty="0"/>
          </a:p>
        </p:txBody>
      </p:sp>
      <p:sp>
        <p:nvSpPr>
          <p:cNvPr id="129" name="Shape 121"/>
          <p:cNvSpPr/>
          <p:nvPr/>
        </p:nvSpPr>
        <p:spPr>
          <a:xfrm>
            <a:off x="5975604" y="3931920"/>
            <a:ext cx="914" cy="118872"/>
          </a:xfrm>
          <a:prstGeom prst="line">
            <a:avLst/>
          </a:prstGeom>
          <a:noFill/>
          <a:ln w="13970">
            <a:solidFill>
              <a:srgbClr val="ED0000"/>
            </a:solidFill>
            <a:prstDash val="solid"/>
            <a:tailEnd type="triangle"/>
          </a:ln>
        </p:spPr>
      </p:sp>
      <p:sp>
        <p:nvSpPr>
          <p:cNvPr id="130" name="Shape 122"/>
          <p:cNvSpPr/>
          <p:nvPr/>
        </p:nvSpPr>
        <p:spPr>
          <a:xfrm>
            <a:off x="4764024" y="4059936"/>
            <a:ext cx="2423160" cy="265176"/>
          </a:xfrm>
          <a:prstGeom prst="roundRect">
            <a:avLst>
              <a:gd name="adj" fmla="val 13793"/>
            </a:avLst>
          </a:prstGeom>
          <a:solidFill>
            <a:srgbClr val="FFF0F0"/>
          </a:solidFill>
          <a:ln w="11430">
            <a:solidFill>
              <a:srgbClr val="FFD6D6"/>
            </a:solidFill>
            <a:prstDash val="solid"/>
          </a:ln>
        </p:spPr>
      </p:sp>
      <p:pic>
        <p:nvPicPr>
          <p:cNvPr id="1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4105656"/>
            <a:ext cx="155448" cy="155448"/>
          </a:xfrm>
          <a:prstGeom prst="rect">
            <a:avLst/>
          </a:prstGeom>
        </p:spPr>
      </p:pic>
      <p:sp>
        <p:nvSpPr>
          <p:cNvPr id="132" name="Text 123"/>
          <p:cNvSpPr/>
          <p:nvPr/>
        </p:nvSpPr>
        <p:spPr>
          <a:xfrm>
            <a:off x="5522976" y="405993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标准测试资产</a:t>
            </a:r>
            <a:endParaRPr lang="en-US" sz="1200" dirty="0"/>
          </a:p>
        </p:txBody>
      </p:sp>
      <p:sp>
        <p:nvSpPr>
          <p:cNvPr id="133" name="Shape 124"/>
          <p:cNvSpPr/>
          <p:nvPr/>
        </p:nvSpPr>
        <p:spPr>
          <a:xfrm>
            <a:off x="5975604" y="4325112"/>
            <a:ext cx="914" cy="137160"/>
          </a:xfrm>
          <a:prstGeom prst="line">
            <a:avLst/>
          </a:prstGeom>
          <a:noFill/>
          <a:ln w="13970">
            <a:solidFill>
              <a:srgbClr val="ED0000"/>
            </a:solidFill>
            <a:prstDash val="solid"/>
            <a:tailEnd type="triangle"/>
          </a:ln>
        </p:spPr>
      </p:sp>
      <p:sp>
        <p:nvSpPr>
          <p:cNvPr id="134" name="Shape 125"/>
          <p:cNvSpPr/>
          <p:nvPr/>
        </p:nvSpPr>
        <p:spPr>
          <a:xfrm>
            <a:off x="4443984" y="4471416"/>
            <a:ext cx="3063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D0000"/>
            </a:solidFill>
            <a:prstDash val="solid"/>
          </a:ln>
        </p:spPr>
      </p:sp>
      <p:pic>
        <p:nvPicPr>
          <p:cNvPr id="1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4590288"/>
            <a:ext cx="173736" cy="173736"/>
          </a:xfrm>
          <a:prstGeom prst="rect">
            <a:avLst/>
          </a:prstGeom>
        </p:spPr>
      </p:pic>
      <p:sp>
        <p:nvSpPr>
          <p:cNvPr id="136" name="Text 126"/>
          <p:cNvSpPr/>
          <p:nvPr/>
        </p:nvSpPr>
        <p:spPr>
          <a:xfrm>
            <a:off x="4562856" y="4855464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案例表格</a:t>
            </a:r>
            <a:endParaRPr lang="en-US" sz="730" dirty="0"/>
          </a:p>
        </p:txBody>
      </p:sp>
      <p:sp>
        <p:nvSpPr>
          <p:cNvPr id="137" name="Shape 127"/>
          <p:cNvSpPr/>
          <p:nvPr/>
        </p:nvSpPr>
        <p:spPr>
          <a:xfrm>
            <a:off x="5065776" y="4608576"/>
            <a:ext cx="914" cy="256032"/>
          </a:xfrm>
          <a:prstGeom prst="line">
            <a:avLst/>
          </a:prstGeom>
          <a:noFill/>
          <a:ln w="8890">
            <a:solidFill>
              <a:srgbClr val="E7E7E7"/>
            </a:solidFill>
            <a:prstDash val="solid"/>
          </a:ln>
        </p:spPr>
      </p:sp>
      <p:pic>
        <p:nvPicPr>
          <p:cNvPr id="1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6944" y="4590288"/>
            <a:ext cx="173736" cy="173736"/>
          </a:xfrm>
          <a:prstGeom prst="rect">
            <a:avLst/>
          </a:prstGeom>
        </p:spPr>
      </p:pic>
      <p:sp>
        <p:nvSpPr>
          <p:cNvPr id="139" name="Text 128"/>
          <p:cNvSpPr/>
          <p:nvPr/>
        </p:nvSpPr>
        <p:spPr>
          <a:xfrm>
            <a:off x="5148072" y="4855464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路径图</a:t>
            </a:r>
            <a:endParaRPr lang="en-US" sz="730" dirty="0"/>
          </a:p>
        </p:txBody>
      </p:sp>
      <p:sp>
        <p:nvSpPr>
          <p:cNvPr id="140" name="Shape 129"/>
          <p:cNvSpPr/>
          <p:nvPr/>
        </p:nvSpPr>
        <p:spPr>
          <a:xfrm>
            <a:off x="5650992" y="4608576"/>
            <a:ext cx="914" cy="256032"/>
          </a:xfrm>
          <a:prstGeom prst="line">
            <a:avLst/>
          </a:prstGeom>
          <a:noFill/>
          <a:ln w="8890">
            <a:solidFill>
              <a:srgbClr val="E7E7E7"/>
            </a:solidFill>
            <a:prstDash val="solid"/>
          </a:ln>
        </p:spPr>
      </p:sp>
      <p:pic>
        <p:nvPicPr>
          <p:cNvPr id="1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0" y="4590288"/>
            <a:ext cx="173736" cy="173736"/>
          </a:xfrm>
          <a:prstGeom prst="rect">
            <a:avLst/>
          </a:prstGeom>
        </p:spPr>
      </p:pic>
      <p:sp>
        <p:nvSpPr>
          <p:cNvPr id="142" name="Text 130"/>
          <p:cNvSpPr/>
          <p:nvPr/>
        </p:nvSpPr>
        <p:spPr>
          <a:xfrm>
            <a:off x="5733288" y="4855464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测试数据</a:t>
            </a:r>
            <a:endParaRPr lang="en-US" sz="730" dirty="0"/>
          </a:p>
        </p:txBody>
      </p:sp>
      <p:sp>
        <p:nvSpPr>
          <p:cNvPr id="143" name="Shape 131"/>
          <p:cNvSpPr/>
          <p:nvPr/>
        </p:nvSpPr>
        <p:spPr>
          <a:xfrm>
            <a:off x="6236208" y="4608576"/>
            <a:ext cx="914" cy="256032"/>
          </a:xfrm>
          <a:prstGeom prst="line">
            <a:avLst/>
          </a:prstGeom>
          <a:noFill/>
          <a:ln w="8890">
            <a:solidFill>
              <a:srgbClr val="E7E7E7"/>
            </a:solidFill>
            <a:prstDash val="solid"/>
          </a:ln>
        </p:spPr>
      </p:sp>
      <p:pic>
        <p:nvPicPr>
          <p:cNvPr id="1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7376" y="4590288"/>
            <a:ext cx="173736" cy="173736"/>
          </a:xfrm>
          <a:prstGeom prst="rect">
            <a:avLst/>
          </a:prstGeom>
        </p:spPr>
      </p:pic>
      <p:sp>
        <p:nvSpPr>
          <p:cNvPr id="145" name="Text 132"/>
          <p:cNvSpPr/>
          <p:nvPr/>
        </p:nvSpPr>
        <p:spPr>
          <a:xfrm>
            <a:off x="6318504" y="4855464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自动化脚本</a:t>
            </a:r>
            <a:endParaRPr lang="en-US" sz="730" dirty="0"/>
          </a:p>
        </p:txBody>
      </p:sp>
      <p:sp>
        <p:nvSpPr>
          <p:cNvPr id="146" name="Shape 133"/>
          <p:cNvSpPr/>
          <p:nvPr/>
        </p:nvSpPr>
        <p:spPr>
          <a:xfrm>
            <a:off x="6821424" y="4608576"/>
            <a:ext cx="914" cy="256032"/>
          </a:xfrm>
          <a:prstGeom prst="line">
            <a:avLst/>
          </a:prstGeom>
          <a:noFill/>
          <a:ln w="8890">
            <a:solidFill>
              <a:srgbClr val="E7E7E7"/>
            </a:solidFill>
            <a:prstDash val="solid"/>
          </a:ln>
        </p:spPr>
      </p:sp>
      <p:pic>
        <p:nvPicPr>
          <p:cNvPr id="1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592" y="4590288"/>
            <a:ext cx="173736" cy="173736"/>
          </a:xfrm>
          <a:prstGeom prst="rect">
            <a:avLst/>
          </a:prstGeom>
        </p:spPr>
      </p:pic>
      <p:sp>
        <p:nvSpPr>
          <p:cNvPr id="148" name="Text 134"/>
          <p:cNvSpPr/>
          <p:nvPr/>
        </p:nvSpPr>
        <p:spPr>
          <a:xfrm>
            <a:off x="6903720" y="4855464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Mock/断言</a:t>
            </a:r>
            <a:endParaRPr lang="en-US" sz="730" dirty="0"/>
          </a:p>
        </p:txBody>
      </p:sp>
      <p:sp>
        <p:nvSpPr>
          <p:cNvPr id="149" name="Shape 135"/>
          <p:cNvSpPr/>
          <p:nvPr/>
        </p:nvSpPr>
        <p:spPr>
          <a:xfrm>
            <a:off x="8028432" y="220827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8028432" y="215798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8028432" y="243230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52" name="Text 138"/>
          <p:cNvSpPr/>
          <p:nvPr/>
        </p:nvSpPr>
        <p:spPr>
          <a:xfrm>
            <a:off x="8686800" y="22448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</a:t>
            </a:r>
            <a:endParaRPr lang="en-US" sz="1020" dirty="0"/>
          </a:p>
        </p:txBody>
      </p:sp>
      <p:pic>
        <p:nvPicPr>
          <p:cNvPr id="1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9640" y="2276856"/>
            <a:ext cx="146304" cy="146304"/>
          </a:xfrm>
          <a:prstGeom prst="rect">
            <a:avLst/>
          </a:prstGeom>
        </p:spPr>
      </p:pic>
      <p:sp>
        <p:nvSpPr>
          <p:cNvPr id="154" name="Shape 139"/>
          <p:cNvSpPr/>
          <p:nvPr/>
        </p:nvSpPr>
        <p:spPr>
          <a:xfrm>
            <a:off x="9656064" y="235915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10460736" y="233629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56" name="Text 141"/>
          <p:cNvSpPr/>
          <p:nvPr/>
        </p:nvSpPr>
        <p:spPr>
          <a:xfrm>
            <a:off x="10561320" y="228600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定义流程与步骤</a:t>
            </a:r>
            <a:endParaRPr lang="en-US" sz="780" dirty="0"/>
          </a:p>
        </p:txBody>
      </p:sp>
      <p:sp>
        <p:nvSpPr>
          <p:cNvPr id="157" name="Text 142"/>
          <p:cNvSpPr/>
          <p:nvPr/>
        </p:nvSpPr>
        <p:spPr>
          <a:xfrm>
            <a:off x="10561320" y="24414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需求解析 → 功能点识别 → 场景生成 → 结构化输出</a:t>
            </a:r>
            <a:endParaRPr lang="en-US" sz="580" dirty="0"/>
          </a:p>
        </p:txBody>
      </p:sp>
      <p:sp>
        <p:nvSpPr>
          <p:cNvPr id="158" name="Shape 143"/>
          <p:cNvSpPr/>
          <p:nvPr/>
        </p:nvSpPr>
        <p:spPr>
          <a:xfrm>
            <a:off x="8028432" y="257403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59" name="Shape 144"/>
          <p:cNvSpPr/>
          <p:nvPr/>
        </p:nvSpPr>
        <p:spPr>
          <a:xfrm>
            <a:off x="8028432" y="252374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8028432" y="279806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61" name="Text 146"/>
          <p:cNvSpPr/>
          <p:nvPr/>
        </p:nvSpPr>
        <p:spPr>
          <a:xfrm>
            <a:off x="8686800" y="26106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20" dirty="0"/>
          </a:p>
        </p:txBody>
      </p:sp>
      <p:pic>
        <p:nvPicPr>
          <p:cNvPr id="1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9640" y="2642616"/>
            <a:ext cx="146304" cy="146304"/>
          </a:xfrm>
          <a:prstGeom prst="rect">
            <a:avLst/>
          </a:prstGeom>
        </p:spPr>
      </p:pic>
      <p:sp>
        <p:nvSpPr>
          <p:cNvPr id="163" name="Shape 147"/>
          <p:cNvSpPr/>
          <p:nvPr/>
        </p:nvSpPr>
        <p:spPr>
          <a:xfrm>
            <a:off x="9656064" y="272491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164" name="Shape 148"/>
          <p:cNvSpPr/>
          <p:nvPr/>
        </p:nvSpPr>
        <p:spPr>
          <a:xfrm>
            <a:off x="10460736" y="270205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65" name="Text 149"/>
          <p:cNvSpPr/>
          <p:nvPr/>
        </p:nvSpPr>
        <p:spPr>
          <a:xfrm>
            <a:off x="10561320" y="265176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固化方法与工序</a:t>
            </a:r>
            <a:endParaRPr lang="en-US" sz="780" dirty="0"/>
          </a:p>
        </p:txBody>
      </p:sp>
      <p:sp>
        <p:nvSpPr>
          <p:cNvPr id="166" name="Text 150"/>
          <p:cNvSpPr/>
          <p:nvPr/>
        </p:nvSpPr>
        <p:spPr>
          <a:xfrm>
            <a:off x="10561320" y="280720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需求理解、场景设计、数据构造、脚本生成</a:t>
            </a:r>
            <a:endParaRPr lang="en-US" sz="580" dirty="0"/>
          </a:p>
        </p:txBody>
      </p:sp>
      <p:sp>
        <p:nvSpPr>
          <p:cNvPr id="167" name="Shape 151"/>
          <p:cNvSpPr/>
          <p:nvPr/>
        </p:nvSpPr>
        <p:spPr>
          <a:xfrm>
            <a:off x="8028432" y="293979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68" name="Shape 152"/>
          <p:cNvSpPr/>
          <p:nvPr/>
        </p:nvSpPr>
        <p:spPr>
          <a:xfrm>
            <a:off x="8028432" y="288950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169" name="Shape 153"/>
          <p:cNvSpPr/>
          <p:nvPr/>
        </p:nvSpPr>
        <p:spPr>
          <a:xfrm>
            <a:off x="8028432" y="316382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70" name="Text 154"/>
          <p:cNvSpPr/>
          <p:nvPr/>
        </p:nvSpPr>
        <p:spPr>
          <a:xfrm>
            <a:off x="8686800" y="29763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020" dirty="0"/>
          </a:p>
        </p:txBody>
      </p:sp>
      <p:pic>
        <p:nvPicPr>
          <p:cNvPr id="17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9640" y="3008376"/>
            <a:ext cx="146304" cy="146304"/>
          </a:xfrm>
          <a:prstGeom prst="rect">
            <a:avLst/>
          </a:prstGeom>
        </p:spPr>
      </p:pic>
      <p:sp>
        <p:nvSpPr>
          <p:cNvPr id="172" name="Shape 155"/>
          <p:cNvSpPr/>
          <p:nvPr/>
        </p:nvSpPr>
        <p:spPr>
          <a:xfrm>
            <a:off x="9656064" y="309067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173" name="Shape 156"/>
          <p:cNvSpPr/>
          <p:nvPr/>
        </p:nvSpPr>
        <p:spPr>
          <a:xfrm>
            <a:off x="10460736" y="306781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74" name="Text 157"/>
          <p:cNvSpPr/>
          <p:nvPr/>
        </p:nvSpPr>
        <p:spPr>
          <a:xfrm>
            <a:off x="10561320" y="301752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约束规则与标准</a:t>
            </a:r>
            <a:endParaRPr lang="en-US" sz="780" dirty="0"/>
          </a:p>
        </p:txBody>
      </p:sp>
      <p:sp>
        <p:nvSpPr>
          <p:cNvPr id="175" name="Text 158"/>
          <p:cNvSpPr/>
          <p:nvPr/>
        </p:nvSpPr>
        <p:spPr>
          <a:xfrm>
            <a:off x="10561320" y="317296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交互、异常、边界值与历史缺陷约束</a:t>
            </a:r>
            <a:endParaRPr lang="en-US" sz="580" dirty="0"/>
          </a:p>
        </p:txBody>
      </p:sp>
      <p:sp>
        <p:nvSpPr>
          <p:cNvPr id="176" name="Shape 159"/>
          <p:cNvSpPr/>
          <p:nvPr/>
        </p:nvSpPr>
        <p:spPr>
          <a:xfrm>
            <a:off x="8028432" y="330555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77" name="Shape 160"/>
          <p:cNvSpPr/>
          <p:nvPr/>
        </p:nvSpPr>
        <p:spPr>
          <a:xfrm>
            <a:off x="8028432" y="325526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178" name="Shape 161"/>
          <p:cNvSpPr/>
          <p:nvPr/>
        </p:nvSpPr>
        <p:spPr>
          <a:xfrm>
            <a:off x="8028432" y="352958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79" name="Text 162"/>
          <p:cNvSpPr/>
          <p:nvPr/>
        </p:nvSpPr>
        <p:spPr>
          <a:xfrm>
            <a:off x="8686800" y="33421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020" dirty="0"/>
          </a:p>
        </p:txBody>
      </p:sp>
      <p:pic>
        <p:nvPicPr>
          <p:cNvPr id="18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49640" y="3374136"/>
            <a:ext cx="146304" cy="146304"/>
          </a:xfrm>
          <a:prstGeom prst="rect">
            <a:avLst/>
          </a:prstGeom>
        </p:spPr>
      </p:pic>
      <p:sp>
        <p:nvSpPr>
          <p:cNvPr id="181" name="Shape 163"/>
          <p:cNvSpPr/>
          <p:nvPr/>
        </p:nvSpPr>
        <p:spPr>
          <a:xfrm>
            <a:off x="9656064" y="345643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182" name="Shape 164"/>
          <p:cNvSpPr/>
          <p:nvPr/>
        </p:nvSpPr>
        <p:spPr>
          <a:xfrm>
            <a:off x="10460736" y="343357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83" name="Text 165"/>
          <p:cNvSpPr/>
          <p:nvPr/>
        </p:nvSpPr>
        <p:spPr>
          <a:xfrm>
            <a:off x="10561320" y="338328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承载任务与规格</a:t>
            </a:r>
            <a:endParaRPr lang="en-US" sz="780" dirty="0"/>
          </a:p>
        </p:txBody>
      </p:sp>
      <p:sp>
        <p:nvSpPr>
          <p:cNvPr id="184" name="Text 166"/>
          <p:cNvSpPr/>
          <p:nvPr/>
        </p:nvSpPr>
        <p:spPr>
          <a:xfrm>
            <a:off x="10561320" y="3538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需求文档、详细设计与接口文档</a:t>
            </a:r>
            <a:endParaRPr lang="en-US" sz="580" dirty="0"/>
          </a:p>
        </p:txBody>
      </p:sp>
      <p:sp>
        <p:nvSpPr>
          <p:cNvPr id="185" name="Shape 167"/>
          <p:cNvSpPr/>
          <p:nvPr/>
        </p:nvSpPr>
        <p:spPr>
          <a:xfrm>
            <a:off x="8028432" y="367131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86" name="Shape 168"/>
          <p:cNvSpPr/>
          <p:nvPr/>
        </p:nvSpPr>
        <p:spPr>
          <a:xfrm>
            <a:off x="8028432" y="362102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187" name="Shape 169"/>
          <p:cNvSpPr/>
          <p:nvPr/>
        </p:nvSpPr>
        <p:spPr>
          <a:xfrm>
            <a:off x="8028432" y="389534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88" name="Text 170"/>
          <p:cNvSpPr/>
          <p:nvPr/>
        </p:nvSpPr>
        <p:spPr>
          <a:xfrm>
            <a:off x="8686800" y="37078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020" dirty="0"/>
          </a:p>
        </p:txBody>
      </p:sp>
      <p:pic>
        <p:nvPicPr>
          <p:cNvPr id="18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49640" y="3739896"/>
            <a:ext cx="146304" cy="146304"/>
          </a:xfrm>
          <a:prstGeom prst="rect">
            <a:avLst/>
          </a:prstGeom>
        </p:spPr>
      </p:pic>
      <p:sp>
        <p:nvSpPr>
          <p:cNvPr id="190" name="Shape 171"/>
          <p:cNvSpPr/>
          <p:nvPr/>
        </p:nvSpPr>
        <p:spPr>
          <a:xfrm>
            <a:off x="9656064" y="382219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191" name="Shape 172"/>
          <p:cNvSpPr/>
          <p:nvPr/>
        </p:nvSpPr>
        <p:spPr>
          <a:xfrm>
            <a:off x="10460736" y="379933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192" name="Text 173"/>
          <p:cNvSpPr/>
          <p:nvPr/>
        </p:nvSpPr>
        <p:spPr>
          <a:xfrm>
            <a:off x="10561320" y="374904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统一格式与模板</a:t>
            </a:r>
            <a:endParaRPr lang="en-US" sz="780" dirty="0"/>
          </a:p>
        </p:txBody>
      </p:sp>
      <p:sp>
        <p:nvSpPr>
          <p:cNvPr id="193" name="Text 174"/>
          <p:cNvSpPr/>
          <p:nvPr/>
        </p:nvSpPr>
        <p:spPr>
          <a:xfrm>
            <a:off x="10561320" y="390448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case_id、scenario、steps、test_data、expected</a:t>
            </a:r>
            <a:endParaRPr lang="en-US" sz="580" dirty="0"/>
          </a:p>
        </p:txBody>
      </p:sp>
      <p:sp>
        <p:nvSpPr>
          <p:cNvPr id="194" name="Shape 175"/>
          <p:cNvSpPr/>
          <p:nvPr/>
        </p:nvSpPr>
        <p:spPr>
          <a:xfrm>
            <a:off x="8028432" y="403707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95" name="Shape 176"/>
          <p:cNvSpPr/>
          <p:nvPr/>
        </p:nvSpPr>
        <p:spPr>
          <a:xfrm>
            <a:off x="8028432" y="398678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196" name="Shape 177"/>
          <p:cNvSpPr/>
          <p:nvPr/>
        </p:nvSpPr>
        <p:spPr>
          <a:xfrm>
            <a:off x="8028432" y="426110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197" name="Text 178"/>
          <p:cNvSpPr/>
          <p:nvPr/>
        </p:nvSpPr>
        <p:spPr>
          <a:xfrm>
            <a:off x="8686800" y="40736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20" dirty="0"/>
          </a:p>
        </p:txBody>
      </p:sp>
      <p:pic>
        <p:nvPicPr>
          <p:cNvPr id="19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49640" y="4105656"/>
            <a:ext cx="146304" cy="146304"/>
          </a:xfrm>
          <a:prstGeom prst="rect">
            <a:avLst/>
          </a:prstGeom>
        </p:spPr>
      </p:pic>
      <p:sp>
        <p:nvSpPr>
          <p:cNvPr id="199" name="Shape 179"/>
          <p:cNvSpPr/>
          <p:nvPr/>
        </p:nvSpPr>
        <p:spPr>
          <a:xfrm>
            <a:off x="9656064" y="418795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200" name="Shape 180"/>
          <p:cNvSpPr/>
          <p:nvPr/>
        </p:nvSpPr>
        <p:spPr>
          <a:xfrm>
            <a:off x="10460736" y="416509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201" name="Text 181"/>
          <p:cNvSpPr/>
          <p:nvPr/>
        </p:nvSpPr>
        <p:spPr>
          <a:xfrm>
            <a:off x="10561320" y="411480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接入外部能力</a:t>
            </a:r>
            <a:endParaRPr lang="en-US" sz="780" dirty="0"/>
          </a:p>
        </p:txBody>
      </p:sp>
      <p:sp>
        <p:nvSpPr>
          <p:cNvPr id="202" name="Text 182"/>
          <p:cNvSpPr/>
          <p:nvPr/>
        </p:nvSpPr>
        <p:spPr>
          <a:xfrm>
            <a:off x="10561320" y="42702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标准协议连接代码库、数据库与平台服务</a:t>
            </a:r>
            <a:endParaRPr lang="en-US" sz="580" dirty="0"/>
          </a:p>
        </p:txBody>
      </p:sp>
      <p:sp>
        <p:nvSpPr>
          <p:cNvPr id="203" name="Shape 183"/>
          <p:cNvSpPr/>
          <p:nvPr/>
        </p:nvSpPr>
        <p:spPr>
          <a:xfrm>
            <a:off x="8028432" y="440283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204" name="Shape 184"/>
          <p:cNvSpPr/>
          <p:nvPr/>
        </p:nvSpPr>
        <p:spPr>
          <a:xfrm>
            <a:off x="8028432" y="435254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205" name="Shape 185"/>
          <p:cNvSpPr/>
          <p:nvPr/>
        </p:nvSpPr>
        <p:spPr>
          <a:xfrm>
            <a:off x="8028432" y="462686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206" name="Text 186"/>
          <p:cNvSpPr/>
          <p:nvPr/>
        </p:nvSpPr>
        <p:spPr>
          <a:xfrm>
            <a:off x="8686800" y="44394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20" dirty="0"/>
          </a:p>
        </p:txBody>
      </p:sp>
      <p:pic>
        <p:nvPicPr>
          <p:cNvPr id="20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49640" y="4471416"/>
            <a:ext cx="146304" cy="146304"/>
          </a:xfrm>
          <a:prstGeom prst="rect">
            <a:avLst/>
          </a:prstGeom>
        </p:spPr>
      </p:pic>
      <p:sp>
        <p:nvSpPr>
          <p:cNvPr id="208" name="Shape 187"/>
          <p:cNvSpPr/>
          <p:nvPr/>
        </p:nvSpPr>
        <p:spPr>
          <a:xfrm>
            <a:off x="9656064" y="455371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209" name="Shape 188"/>
          <p:cNvSpPr/>
          <p:nvPr/>
        </p:nvSpPr>
        <p:spPr>
          <a:xfrm>
            <a:off x="10460736" y="453085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210" name="Text 189"/>
          <p:cNvSpPr/>
          <p:nvPr/>
        </p:nvSpPr>
        <p:spPr>
          <a:xfrm>
            <a:off x="10561320" y="448056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封装可复用操作</a:t>
            </a:r>
            <a:endParaRPr lang="en-US" sz="780" dirty="0"/>
          </a:p>
        </p:txBody>
      </p:sp>
      <p:sp>
        <p:nvSpPr>
          <p:cNvPr id="211" name="Text 190"/>
          <p:cNvSpPr/>
          <p:nvPr/>
        </p:nvSpPr>
        <p:spPr>
          <a:xfrm>
            <a:off x="10561320" y="463600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HTTP、RPC、数据库、UI 执行等原子工具</a:t>
            </a:r>
            <a:endParaRPr lang="en-US" sz="580" dirty="0"/>
          </a:p>
        </p:txBody>
      </p:sp>
      <p:sp>
        <p:nvSpPr>
          <p:cNvPr id="212" name="Shape 191"/>
          <p:cNvSpPr/>
          <p:nvPr/>
        </p:nvSpPr>
        <p:spPr>
          <a:xfrm>
            <a:off x="8028432" y="4768596"/>
            <a:ext cx="1536192" cy="292608"/>
          </a:xfrm>
          <a:prstGeom prst="rect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213" name="Shape 192"/>
          <p:cNvSpPr/>
          <p:nvPr/>
        </p:nvSpPr>
        <p:spPr>
          <a:xfrm>
            <a:off x="8028432" y="4718304"/>
            <a:ext cx="1536192" cy="118872"/>
          </a:xfrm>
          <a:prstGeom prst="ellipse">
            <a:avLst/>
          </a:prstGeom>
          <a:solidFill>
            <a:srgbClr val="FFDADA"/>
          </a:solidFill>
          <a:ln w="12700">
            <a:solidFill>
              <a:srgbClr val="FFDADA">
                <a:alpha val="0"/>
              </a:srgbClr>
            </a:solidFill>
            <a:prstDash val="solid"/>
          </a:ln>
        </p:spPr>
      </p:sp>
      <p:sp>
        <p:nvSpPr>
          <p:cNvPr id="214" name="Shape 193"/>
          <p:cNvSpPr/>
          <p:nvPr/>
        </p:nvSpPr>
        <p:spPr>
          <a:xfrm>
            <a:off x="8028432" y="4992624"/>
            <a:ext cx="1536192" cy="118872"/>
          </a:xfrm>
          <a:prstGeom prst="ellipse">
            <a:avLst/>
          </a:prstGeom>
          <a:solidFill>
            <a:srgbClr val="FFC1C1"/>
          </a:solidFill>
          <a:ln w="12700">
            <a:solidFill>
              <a:srgbClr val="FFC1C1">
                <a:alpha val="0"/>
              </a:srgbClr>
            </a:solidFill>
            <a:prstDash val="solid"/>
          </a:ln>
        </p:spPr>
      </p:sp>
      <p:sp>
        <p:nvSpPr>
          <p:cNvPr id="215" name="Text 194"/>
          <p:cNvSpPr/>
          <p:nvPr/>
        </p:nvSpPr>
        <p:spPr>
          <a:xfrm>
            <a:off x="8686800" y="48051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020" dirty="0"/>
          </a:p>
        </p:txBody>
      </p:sp>
      <p:pic>
        <p:nvPicPr>
          <p:cNvPr id="21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49640" y="4837176"/>
            <a:ext cx="146304" cy="146304"/>
          </a:xfrm>
          <a:prstGeom prst="rect">
            <a:avLst/>
          </a:prstGeom>
        </p:spPr>
      </p:pic>
      <p:sp>
        <p:nvSpPr>
          <p:cNvPr id="217" name="Shape 195"/>
          <p:cNvSpPr/>
          <p:nvPr/>
        </p:nvSpPr>
        <p:spPr>
          <a:xfrm>
            <a:off x="9656064" y="4919472"/>
            <a:ext cx="822960" cy="914"/>
          </a:xfrm>
          <a:prstGeom prst="line">
            <a:avLst/>
          </a:prstGeom>
          <a:noFill/>
          <a:ln w="12700">
            <a:solidFill>
              <a:srgbClr val="ED0000"/>
            </a:solidFill>
            <a:prstDash val="solid"/>
          </a:ln>
        </p:spPr>
      </p:sp>
      <p:sp>
        <p:nvSpPr>
          <p:cNvPr id="218" name="Shape 196"/>
          <p:cNvSpPr/>
          <p:nvPr/>
        </p:nvSpPr>
        <p:spPr>
          <a:xfrm>
            <a:off x="10460736" y="4896612"/>
            <a:ext cx="50292" cy="50292"/>
          </a:xfrm>
          <a:prstGeom prst="ellips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0561320" y="484632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过程资料与证据</a:t>
            </a:r>
            <a:endParaRPr lang="en-US" sz="780" dirty="0"/>
          </a:p>
        </p:txBody>
      </p:sp>
      <p:sp>
        <p:nvSpPr>
          <p:cNvPr id="220" name="Text 198"/>
          <p:cNvSpPr/>
          <p:nvPr/>
        </p:nvSpPr>
        <p:spPr>
          <a:xfrm>
            <a:off x="10561320" y="500176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历史问题、存量案例、公共案例与执行证据</a:t>
            </a:r>
            <a:endParaRPr lang="en-US" sz="580" dirty="0"/>
          </a:p>
        </p:txBody>
      </p:sp>
      <p:sp>
        <p:nvSpPr>
          <p:cNvPr id="221" name="Shape 199"/>
          <p:cNvSpPr/>
          <p:nvPr/>
        </p:nvSpPr>
        <p:spPr>
          <a:xfrm>
            <a:off x="475488" y="5486400"/>
            <a:ext cx="112379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FDFDF"/>
            </a:solidFill>
            <a:prstDash val="solid"/>
          </a:ln>
        </p:spPr>
      </p:sp>
      <p:sp>
        <p:nvSpPr>
          <p:cNvPr id="222" name="Shape 200"/>
          <p:cNvSpPr/>
          <p:nvPr/>
        </p:nvSpPr>
        <p:spPr>
          <a:xfrm>
            <a:off x="566928" y="5596128"/>
            <a:ext cx="1225296" cy="420624"/>
          </a:xfrm>
          <a:prstGeom prst="roundRect">
            <a:avLst>
              <a:gd name="adj" fmla="val 17391"/>
            </a:avLst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223" name="Text 201"/>
          <p:cNvSpPr/>
          <p:nvPr/>
        </p:nvSpPr>
        <p:spPr>
          <a:xfrm>
            <a:off x="621792" y="5632704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目录结构优势</a:t>
            </a:r>
            <a:endParaRPr lang="en-US" sz="1150" dirty="0"/>
          </a:p>
        </p:txBody>
      </p:sp>
      <p:sp>
        <p:nvSpPr>
          <p:cNvPr id="224" name="Shape 202"/>
          <p:cNvSpPr/>
          <p:nvPr/>
        </p:nvSpPr>
        <p:spPr>
          <a:xfrm>
            <a:off x="1856232" y="5486400"/>
            <a:ext cx="914" cy="658368"/>
          </a:xfrm>
          <a:prstGeom prst="line">
            <a:avLst/>
          </a:prstGeom>
          <a:noFill/>
          <a:ln w="10160">
            <a:solidFill>
              <a:srgbClr val="E7E7E7"/>
            </a:solidFill>
            <a:prstDash val="solid"/>
          </a:ln>
        </p:spPr>
      </p:sp>
      <p:sp>
        <p:nvSpPr>
          <p:cNvPr id="225" name="Shape 203"/>
          <p:cNvSpPr/>
          <p:nvPr/>
        </p:nvSpPr>
        <p:spPr>
          <a:xfrm>
            <a:off x="3826764" y="5486400"/>
            <a:ext cx="914" cy="658368"/>
          </a:xfrm>
          <a:prstGeom prst="line">
            <a:avLst/>
          </a:prstGeom>
          <a:noFill/>
          <a:ln w="10160">
            <a:solidFill>
              <a:srgbClr val="E7E7E7"/>
            </a:solidFill>
            <a:prstDash val="solid"/>
          </a:ln>
        </p:spPr>
      </p:sp>
      <p:sp>
        <p:nvSpPr>
          <p:cNvPr id="226" name="Shape 204"/>
          <p:cNvSpPr/>
          <p:nvPr/>
        </p:nvSpPr>
        <p:spPr>
          <a:xfrm>
            <a:off x="5797296" y="5486400"/>
            <a:ext cx="914" cy="658368"/>
          </a:xfrm>
          <a:prstGeom prst="line">
            <a:avLst/>
          </a:prstGeom>
          <a:noFill/>
          <a:ln w="10160">
            <a:solidFill>
              <a:srgbClr val="E7E7E7"/>
            </a:solidFill>
            <a:prstDash val="solid"/>
          </a:ln>
        </p:spPr>
      </p:sp>
      <p:sp>
        <p:nvSpPr>
          <p:cNvPr id="227" name="Shape 205"/>
          <p:cNvSpPr/>
          <p:nvPr/>
        </p:nvSpPr>
        <p:spPr>
          <a:xfrm>
            <a:off x="7767828" y="5486400"/>
            <a:ext cx="914" cy="658368"/>
          </a:xfrm>
          <a:prstGeom prst="line">
            <a:avLst/>
          </a:prstGeom>
          <a:noFill/>
          <a:ln w="10160">
            <a:solidFill>
              <a:srgbClr val="E7E7E7"/>
            </a:solidFill>
            <a:prstDash val="solid"/>
          </a:ln>
        </p:spPr>
      </p:sp>
      <p:sp>
        <p:nvSpPr>
          <p:cNvPr id="228" name="Shape 206"/>
          <p:cNvSpPr/>
          <p:nvPr/>
        </p:nvSpPr>
        <p:spPr>
          <a:xfrm>
            <a:off x="9738360" y="5486400"/>
            <a:ext cx="914" cy="658368"/>
          </a:xfrm>
          <a:prstGeom prst="line">
            <a:avLst/>
          </a:prstGeom>
          <a:noFill/>
          <a:ln w="10160">
            <a:solidFill>
              <a:srgbClr val="E7E7E7"/>
            </a:solidFill>
            <a:prstDash val="solid"/>
          </a:ln>
        </p:spPr>
      </p:sp>
      <p:pic>
        <p:nvPicPr>
          <p:cNvPr id="2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65960" y="5632704"/>
            <a:ext cx="210312" cy="210312"/>
          </a:xfrm>
          <a:prstGeom prst="rect">
            <a:avLst/>
          </a:prstGeom>
        </p:spPr>
      </p:pic>
      <p:sp>
        <p:nvSpPr>
          <p:cNvPr id="230" name="Text 207"/>
          <p:cNvSpPr/>
          <p:nvPr/>
        </p:nvSpPr>
        <p:spPr>
          <a:xfrm>
            <a:off x="2286000" y="556869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平台先交付公共能力</a:t>
            </a:r>
            <a:endParaRPr lang="en-US" sz="1020" dirty="0"/>
          </a:p>
        </p:txBody>
      </p:sp>
      <p:sp>
        <p:nvSpPr>
          <p:cNvPr id="231" name="Text 208"/>
          <p:cNvSpPr/>
          <p:nvPr/>
        </p:nvSpPr>
        <p:spPr>
          <a:xfrm>
            <a:off x="2286000" y="5815584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开箱可用</a:t>
            </a:r>
            <a:endParaRPr lang="en-US" sz="800" dirty="0"/>
          </a:p>
        </p:txBody>
      </p:sp>
      <p:pic>
        <p:nvPicPr>
          <p:cNvPr id="2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36492" y="5632704"/>
            <a:ext cx="210312" cy="210312"/>
          </a:xfrm>
          <a:prstGeom prst="rect">
            <a:avLst/>
          </a:prstGeom>
        </p:spPr>
      </p:pic>
      <p:sp>
        <p:nvSpPr>
          <p:cNvPr id="233" name="Text 209"/>
          <p:cNvSpPr/>
          <p:nvPr/>
        </p:nvSpPr>
        <p:spPr>
          <a:xfrm>
            <a:off x="4256532" y="556869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扩展但边界可控</a:t>
            </a:r>
            <a:endParaRPr lang="en-US" sz="1020" dirty="0"/>
          </a:p>
        </p:txBody>
      </p:sp>
      <p:sp>
        <p:nvSpPr>
          <p:cNvPr id="234" name="Text 210"/>
          <p:cNvSpPr/>
          <p:nvPr/>
        </p:nvSpPr>
        <p:spPr>
          <a:xfrm>
            <a:off x="4256532" y="5815584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不破坏主干</a:t>
            </a:r>
            <a:endParaRPr lang="en-US" sz="800" dirty="0"/>
          </a:p>
        </p:txBody>
      </p:sp>
      <p:pic>
        <p:nvPicPr>
          <p:cNvPr id="2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07024" y="5632704"/>
            <a:ext cx="210312" cy="210312"/>
          </a:xfrm>
          <a:prstGeom prst="rect">
            <a:avLst/>
          </a:prstGeom>
        </p:spPr>
      </p:pic>
      <p:sp>
        <p:nvSpPr>
          <p:cNvPr id="236" name="Text 211"/>
          <p:cNvSpPr/>
          <p:nvPr/>
        </p:nvSpPr>
        <p:spPr>
          <a:xfrm>
            <a:off x="6227064" y="556869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为未来演进预留空间</a:t>
            </a:r>
            <a:endParaRPr lang="en-US" sz="1020" dirty="0"/>
          </a:p>
        </p:txBody>
      </p:sp>
      <p:sp>
        <p:nvSpPr>
          <p:cNvPr id="237" name="Text 212"/>
          <p:cNvSpPr/>
          <p:nvPr/>
        </p:nvSpPr>
        <p:spPr>
          <a:xfrm>
            <a:off x="6227064" y="5815584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支持定制</a:t>
            </a:r>
            <a:endParaRPr lang="en-US" sz="800" dirty="0"/>
          </a:p>
        </p:txBody>
      </p:sp>
      <p:pic>
        <p:nvPicPr>
          <p:cNvPr id="23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77556" y="5632704"/>
            <a:ext cx="210312" cy="210312"/>
          </a:xfrm>
          <a:prstGeom prst="rect">
            <a:avLst/>
          </a:prstGeom>
        </p:spPr>
      </p:pic>
      <p:sp>
        <p:nvSpPr>
          <p:cNvPr id="239" name="Text 213"/>
          <p:cNvSpPr/>
          <p:nvPr/>
        </p:nvSpPr>
        <p:spPr>
          <a:xfrm>
            <a:off x="8197596" y="556869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输入与知识资产统一管理</a:t>
            </a:r>
            <a:endParaRPr lang="en-US" sz="1020" dirty="0"/>
          </a:p>
        </p:txBody>
      </p:sp>
      <p:sp>
        <p:nvSpPr>
          <p:cNvPr id="240" name="Text 214"/>
          <p:cNvSpPr/>
          <p:nvPr/>
        </p:nvSpPr>
        <p:spPr>
          <a:xfrm>
            <a:off x="8197596" y="5815584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统一沉淀</a:t>
            </a:r>
            <a:endParaRPr lang="en-US" sz="800" dirty="0"/>
          </a:p>
        </p:txBody>
      </p:sp>
      <p:pic>
        <p:nvPicPr>
          <p:cNvPr id="24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48088" y="5632704"/>
            <a:ext cx="210312" cy="210312"/>
          </a:xfrm>
          <a:prstGeom prst="rect">
            <a:avLst/>
          </a:prstGeom>
        </p:spPr>
      </p:pic>
      <p:sp>
        <p:nvSpPr>
          <p:cNvPr id="242" name="Text 215"/>
          <p:cNvSpPr/>
          <p:nvPr/>
        </p:nvSpPr>
        <p:spPr>
          <a:xfrm>
            <a:off x="10168128" y="556869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0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支持平滑迁移到 IDE</a:t>
            </a:r>
            <a:endParaRPr lang="en-US" sz="1020" dirty="0"/>
          </a:p>
        </p:txBody>
      </p:sp>
      <p:sp>
        <p:nvSpPr>
          <p:cNvPr id="243" name="Text 216"/>
          <p:cNvSpPr/>
          <p:nvPr/>
        </p:nvSpPr>
        <p:spPr>
          <a:xfrm>
            <a:off x="10168128" y="5815584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复用既有资产</a:t>
            </a:r>
            <a:endParaRPr lang="en-US" sz="800" dirty="0"/>
          </a:p>
        </p:txBody>
      </p:sp>
      <p:sp>
        <p:nvSpPr>
          <p:cNvPr id="244" name="Text 217"/>
          <p:cNvSpPr/>
          <p:nvPr/>
        </p:nvSpPr>
        <p:spPr>
          <a:xfrm>
            <a:off x="32004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6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中国工商银行版权所有</a:t>
            </a:r>
            <a:endParaRPr lang="en-US" sz="1150" dirty="0"/>
          </a:p>
        </p:txBody>
      </p:sp>
      <p:sp>
        <p:nvSpPr>
          <p:cNvPr id="245" name="Shape 218"/>
          <p:cNvSpPr/>
          <p:nvPr/>
        </p:nvSpPr>
        <p:spPr>
          <a:xfrm rot="16200000">
            <a:off x="11539728" y="6236208"/>
            <a:ext cx="649224" cy="621792"/>
          </a:xfrm>
          <a:prstGeom prst="rtTriangle">
            <a:avLst/>
          </a:prstGeom>
          <a:solidFill>
            <a:srgbClr val="ED0000"/>
          </a:solidFill>
          <a:ln w="12700">
            <a:solidFill>
              <a:srgbClr val="ED0000">
                <a:alpha val="0"/>
              </a:srgbClr>
            </a:solidFill>
            <a:prstDash val="solid"/>
          </a:ln>
        </p:spPr>
      </p:sp>
      <p:sp>
        <p:nvSpPr>
          <p:cNvPr id="246" name="Text 219"/>
          <p:cNvSpPr/>
          <p:nvPr/>
        </p:nvSpPr>
        <p:spPr>
          <a:xfrm>
            <a:off x="11868912" y="6519672"/>
            <a:ext cx="173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智能测试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2.2 智能研发 “规范驱动” 范式在测试智能体的落地</dc:title>
  <dc:subject>智能研发规范驱动范式在测试智能体的落地</dc:subject>
  <dc:creator>RKK222</dc:creator>
  <cp:lastModifiedBy>RKK222</cp:lastModifiedBy>
  <cp:revision>1</cp:revision>
  <dcterms:created xsi:type="dcterms:W3CDTF">2026-08-03T01:11:55Z</dcterms:created>
  <dcterms:modified xsi:type="dcterms:W3CDTF">2026-08-03T01:11:55Z</dcterms:modified>
</cp:coreProperties>
</file>