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开发测试协同的知识沉淀方法论：左侧为应用级整合目录，右侧预留测试实际案例。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1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282321"/>
            <a:ext cx="146304" cy="841248"/>
          </a:xfrm>
          <a:prstGeom prst="rect">
            <a:avLst/>
          </a:prstGeom>
          <a:solidFill>
            <a:srgbClr val="C60024"/>
          </a:solidFill>
          <a:ln w="12700">
            <a:solidFill>
              <a:srgbClr val="C6002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82448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60024"/>
                </a:solidFill>
                <a:latin typeface="微软雅黑" charset="0"/>
                <a:ea typeface="微软雅黑" charset="0"/>
                <a:cs typeface="Arial" panose="020B0604020202090204" pitchFamily="34" charset="-120"/>
              </a:rPr>
              <a:t>开发测试协同的知识沉淀方法论</a:t>
            </a:r>
            <a:endParaRPr lang="en-US" sz="3000" b="1" dirty="0">
              <a:solidFill>
                <a:srgbClr val="C60024"/>
              </a:solidFill>
              <a:latin typeface="微软雅黑" charset="0"/>
              <a:ea typeface="微软雅黑" charset="0"/>
              <a:cs typeface="Arial" panose="020B060402020209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775335"/>
            <a:ext cx="11109960" cy="487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1E1E"/>
                </a:solidFill>
                <a:latin typeface="微软雅黑" charset="0"/>
                <a:ea typeface="微软雅黑" charset="0"/>
                <a:cs typeface="Arial" panose="020B0604020202090204" pitchFamily="34" charset="-120"/>
              </a:rPr>
              <a:t>以应用级共享知识目录为底座，开发沉淀系统事实，测试深度参与</a:t>
            </a:r>
            <a:r>
              <a:rPr lang="zh-CN" altLang="en-US" sz="1600" dirty="0">
                <a:solidFill>
                  <a:srgbClr val="1E1E1E"/>
                </a:solidFill>
                <a:latin typeface="微软雅黑" charset="0"/>
                <a:ea typeface="微软雅黑" charset="0"/>
                <a:cs typeface="Arial" panose="020B0604020202090204" pitchFamily="34" charset="-120"/>
              </a:rPr>
              <a:t>流程、</a:t>
            </a:r>
            <a:r>
              <a:rPr lang="en-US" sz="1600" dirty="0">
                <a:solidFill>
                  <a:srgbClr val="1E1E1E"/>
                </a:solidFill>
                <a:latin typeface="微软雅黑" charset="0"/>
                <a:ea typeface="微软雅黑" charset="0"/>
                <a:cs typeface="Arial" panose="020B0604020202090204" pitchFamily="34" charset="-120"/>
              </a:rPr>
              <a:t>功能与数据知识结构化，持续转化为可复用、可追溯的测试资产。</a:t>
            </a:r>
            <a:endParaRPr lang="en-US" sz="1600" dirty="0">
              <a:latin typeface="微软雅黑" charset="0"/>
              <a:ea typeface="微软雅黑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82880" y="1468755"/>
            <a:ext cx="5413375" cy="5026660"/>
          </a:xfrm>
          <a:prstGeom prst="roundRect">
            <a:avLst>
              <a:gd name="adj" fmla="val 1323"/>
            </a:avLst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15355" y="1468755"/>
            <a:ext cx="6027420" cy="4991735"/>
          </a:xfrm>
          <a:prstGeom prst="roundRect">
            <a:avLst>
              <a:gd name="adj" fmla="val 1323"/>
            </a:avLst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759" y="1578610"/>
            <a:ext cx="4828032" cy="384048"/>
          </a:xfrm>
          <a:prstGeom prst="roundRect">
            <a:avLst>
              <a:gd name="adj" fmla="val 14286"/>
            </a:avLst>
          </a:prstGeom>
          <a:solidFill>
            <a:srgbClr val="C60024"/>
          </a:solidFill>
          <a:ln w="12700">
            <a:solidFill>
              <a:srgbClr val="C6002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35700" y="1578610"/>
            <a:ext cx="5551170" cy="384175"/>
          </a:xfrm>
          <a:prstGeom prst="roundRect">
            <a:avLst>
              <a:gd name="adj" fmla="val 14286"/>
            </a:avLst>
          </a:prstGeom>
          <a:solidFill>
            <a:srgbClr val="C60024"/>
          </a:solidFill>
          <a:ln w="12700">
            <a:solidFill>
              <a:srgbClr val="C6002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90015" y="1683766"/>
            <a:ext cx="29718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charset="0"/>
                <a:ea typeface="微软雅黑" charset="0"/>
                <a:cs typeface="微软雅黑" charset="0"/>
              </a:rPr>
              <a:t>应用级整合目录  docs/</a:t>
            </a:r>
            <a:endParaRPr lang="en-US" sz="1800" b="1" dirty="0">
              <a:solidFill>
                <a:srgbClr val="FFFFFF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65135" y="1683766"/>
            <a:ext cx="23591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charset="0"/>
                <a:ea typeface="微软雅黑" charset="0"/>
                <a:cs typeface="Arial" panose="020B0604020202090204" pitchFamily="34" charset="-120"/>
              </a:rPr>
              <a:t>实际案例</a:t>
            </a:r>
            <a:endParaRPr lang="en-US" sz="1800" b="1" dirty="0">
              <a:solidFill>
                <a:srgbClr val="FFFFFF"/>
              </a:solidFill>
              <a:latin typeface="微软雅黑" charset="0"/>
              <a:ea typeface="微软雅黑" charset="0"/>
              <a:cs typeface="Arial" panose="020B0604020202090204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06678" y="2144903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E1E"/>
                </a:solidFill>
                <a:latin typeface="微软雅黑" charset="0"/>
                <a:ea typeface="微软雅黑" charset="0"/>
                <a:cs typeface="微软雅黑" charset="0"/>
              </a:rPr>
              <a:t>应用架构/</a:t>
            </a:r>
            <a:endParaRPr lang="en-US" sz="1450" b="1" dirty="0">
              <a:solidFill>
                <a:srgbClr val="1E1E1E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107313" y="2383282"/>
            <a:ext cx="914" cy="310896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7313" y="2483866"/>
            <a:ext cx="164592" cy="91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7313" y="2694178"/>
            <a:ext cx="164592" cy="91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71778" y="2429002"/>
            <a:ext cx="371246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4E79"/>
                </a:solidFill>
                <a:latin typeface="微软雅黑" charset="0"/>
                <a:ea typeface="微软雅黑" charset="0"/>
                <a:cs typeface="微软雅黑" charset="0"/>
              </a:rPr>
              <a:t>应用架构.md</a:t>
            </a:r>
            <a:endParaRPr lang="en-US" sz="1150" dirty="0">
              <a:solidFill>
                <a:srgbClr val="1F4E79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271143" y="2639314"/>
            <a:ext cx="371246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1E1E"/>
                </a:solidFill>
                <a:latin typeface="微软雅黑" charset="0"/>
                <a:ea typeface="微软雅黑" charset="0"/>
                <a:cs typeface="微软雅黑" charset="0"/>
              </a:rPr>
              <a:t>应用场景说明书_XXX.md</a:t>
            </a:r>
            <a:endParaRPr lang="en-US" sz="1150" dirty="0">
              <a:solidFill>
                <a:srgbClr val="1E1E1E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06551" y="2968498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E79"/>
                </a:solidFill>
                <a:latin typeface="微软雅黑" charset="0"/>
                <a:ea typeface="微软雅黑" charset="0"/>
                <a:cs typeface="微软雅黑" charset="0"/>
              </a:rPr>
              <a:t>技术架构/</a:t>
            </a:r>
            <a:endParaRPr lang="en-US" sz="1450" b="1" dirty="0">
              <a:solidFill>
                <a:srgbClr val="1F4E79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271143" y="3206242"/>
            <a:ext cx="914" cy="109728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71143" y="3315970"/>
            <a:ext cx="164592" cy="91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26718" y="3240786"/>
            <a:ext cx="371246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4E79"/>
                </a:solidFill>
                <a:latin typeface="微软雅黑" charset="0"/>
                <a:ea typeface="微软雅黑" charset="0"/>
                <a:cs typeface="微软雅黑" charset="0"/>
              </a:rPr>
              <a:t>工程概览_A/B.md</a:t>
            </a:r>
            <a:endParaRPr lang="en-US" sz="1150" dirty="0">
              <a:solidFill>
                <a:srgbClr val="1F4E79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52398" y="3544951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E1E"/>
                </a:solidFill>
                <a:latin typeface="微软雅黑" charset="0"/>
                <a:ea typeface="微软雅黑" charset="0"/>
                <a:cs typeface="微软雅黑" charset="0"/>
              </a:rPr>
              <a:t>功能模块/</a:t>
            </a:r>
            <a:endParaRPr lang="en-US" sz="1450" b="1" dirty="0">
              <a:solidFill>
                <a:srgbClr val="1E1E1E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2322830" y="3535807"/>
            <a:ext cx="20116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69C3C"/>
                </a:solidFill>
                <a:latin typeface="微软雅黑" charset="0"/>
                <a:ea typeface="微软雅黑" charset="0"/>
                <a:cs typeface="Arial" panose="020B0604020202090204" pitchFamily="34" charset="-120"/>
              </a:rPr>
              <a:t>★</a:t>
            </a:r>
            <a:endParaRPr lang="en-US" sz="1600" dirty="0">
              <a:solidFill>
                <a:srgbClr val="C69C3C"/>
              </a:solidFill>
              <a:latin typeface="微软雅黑" charset="0"/>
              <a:ea typeface="微软雅黑" charset="0"/>
              <a:cs typeface="Arial" panose="020B0604020202090204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106678" y="3782695"/>
            <a:ext cx="914" cy="539496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06678" y="3883279"/>
            <a:ext cx="164592" cy="91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06678" y="4102735"/>
            <a:ext cx="164592" cy="91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06678" y="4322191"/>
            <a:ext cx="164592" cy="91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71778" y="3828415"/>
            <a:ext cx="371246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4E79"/>
                </a:solidFill>
                <a:latin typeface="微软雅黑" charset="0"/>
                <a:ea typeface="微软雅黑" charset="0"/>
                <a:cs typeface="微软雅黑" charset="0"/>
              </a:rPr>
              <a:t>功能模块_XXX.md</a:t>
            </a:r>
            <a:endParaRPr lang="en-US" sz="1150" dirty="0">
              <a:solidFill>
                <a:srgbClr val="1F4E79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262253" y="4047871"/>
            <a:ext cx="371246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1E1E"/>
                </a:solidFill>
                <a:latin typeface="微软雅黑" charset="0"/>
                <a:ea typeface="微软雅黑" charset="0"/>
                <a:cs typeface="微软雅黑" charset="0"/>
              </a:rPr>
              <a:t>测试设计文档_X1.md</a:t>
            </a:r>
            <a:endParaRPr lang="en-US" sz="1150" dirty="0">
              <a:solidFill>
                <a:srgbClr val="1E1E1E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271143" y="4258437"/>
            <a:ext cx="371246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1E1E"/>
                </a:solidFill>
                <a:latin typeface="微软雅黑" charset="0"/>
                <a:ea typeface="微软雅黑" charset="0"/>
                <a:cs typeface="微软雅黑" charset="0"/>
              </a:rPr>
              <a:t>测试案例_X1.md</a:t>
            </a:r>
            <a:endParaRPr lang="en-US" sz="1150" dirty="0">
              <a:solidFill>
                <a:srgbClr val="1E1E1E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106551" y="4541266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E79"/>
                </a:solidFill>
                <a:latin typeface="微软雅黑" charset="0"/>
                <a:ea typeface="微软雅黑" charset="0"/>
                <a:cs typeface="微软雅黑" charset="0"/>
              </a:rPr>
              <a:t>功能文档/</a:t>
            </a:r>
            <a:endParaRPr lang="en-US" sz="1450" b="1" dirty="0">
              <a:solidFill>
                <a:srgbClr val="1F4E79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1271143" y="4779010"/>
            <a:ext cx="914" cy="109728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71143" y="4888738"/>
            <a:ext cx="164592" cy="91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26718" y="4833874"/>
            <a:ext cx="371246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4E79"/>
                </a:solidFill>
                <a:latin typeface="微软雅黑" charset="0"/>
                <a:ea typeface="微软雅黑" charset="0"/>
                <a:cs typeface="微软雅黑" charset="0"/>
              </a:rPr>
              <a:t>功能文档_X1.md</a:t>
            </a:r>
            <a:endParaRPr lang="en-US" sz="1150" dirty="0">
              <a:solidFill>
                <a:srgbClr val="1F4E79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52398" y="5135626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E1E"/>
                </a:solidFill>
                <a:latin typeface="微软雅黑" charset="0"/>
                <a:ea typeface="微软雅黑" charset="0"/>
                <a:cs typeface="微软雅黑" charset="0"/>
              </a:rPr>
              <a:t>数据架构/</a:t>
            </a:r>
            <a:endParaRPr lang="en-US" sz="1450" b="1" dirty="0">
              <a:solidFill>
                <a:srgbClr val="1E1E1E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2322830" y="5126482"/>
            <a:ext cx="20116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69C3C"/>
                </a:solidFill>
                <a:latin typeface="微软雅黑" charset="0"/>
                <a:ea typeface="微软雅黑" charset="0"/>
                <a:cs typeface="Arial" panose="020B0604020202090204" pitchFamily="34" charset="-120"/>
              </a:rPr>
              <a:t>★</a:t>
            </a:r>
            <a:endParaRPr lang="en-US" sz="1600" dirty="0">
              <a:solidFill>
                <a:srgbClr val="C69C3C"/>
              </a:solidFill>
              <a:latin typeface="微软雅黑" charset="0"/>
              <a:ea typeface="微软雅黑" charset="0"/>
              <a:cs typeface="Arial" panose="020B0604020202090204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1106678" y="5373370"/>
            <a:ext cx="914" cy="32918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106678" y="5483098"/>
            <a:ext cx="164592" cy="91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06678" y="5702554"/>
            <a:ext cx="164592" cy="91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62253" y="5428234"/>
            <a:ext cx="371246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F4E79"/>
                </a:solidFill>
                <a:latin typeface="微软雅黑" charset="0"/>
                <a:ea typeface="微软雅黑" charset="0"/>
                <a:cs typeface="Arial" panose="020B0604020202090204" pitchFamily="34" charset="-120"/>
              </a:rPr>
              <a:t>F-ABC_Gauss_1.yaml / F-ABC_MySQL_1.yaml</a:t>
            </a:r>
            <a:endParaRPr lang="en-US" sz="1080" dirty="0">
              <a:solidFill>
                <a:srgbClr val="1F4E79"/>
              </a:solidFill>
              <a:latin typeface="微软雅黑" charset="0"/>
              <a:ea typeface="微软雅黑" charset="0"/>
              <a:cs typeface="Arial" panose="020B0604020202090204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262253" y="5647690"/>
            <a:ext cx="371246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1E1E"/>
                </a:solidFill>
                <a:latin typeface="微软雅黑" charset="0"/>
                <a:ea typeface="微软雅黑" charset="0"/>
                <a:cs typeface="微软雅黑" charset="0"/>
              </a:rPr>
              <a:t>数据实体_X1.md</a:t>
            </a:r>
            <a:endParaRPr lang="en-US" sz="1150" dirty="0">
              <a:solidFill>
                <a:srgbClr val="1E1E1E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152398" y="5858002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E79"/>
                </a:solidFill>
                <a:latin typeface="微软雅黑" charset="0"/>
                <a:ea typeface="微软雅黑" charset="0"/>
                <a:cs typeface="微软雅黑" charset="0"/>
              </a:rPr>
              <a:t>业务知识/</a:t>
            </a:r>
            <a:endParaRPr lang="en-US" sz="1450" b="1" dirty="0">
              <a:solidFill>
                <a:srgbClr val="1F4E79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1106678" y="6095746"/>
            <a:ext cx="914" cy="10058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6678" y="6196330"/>
            <a:ext cx="164592" cy="914"/>
          </a:xfrm>
          <a:prstGeom prst="line">
            <a:avLst/>
          </a:prstGeom>
          <a:noFill/>
          <a:ln w="10160">
            <a:solidFill>
              <a:srgbClr val="8F969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262253" y="6141466"/>
            <a:ext cx="371246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4E79"/>
                </a:solidFill>
                <a:latin typeface="微软雅黑" charset="0"/>
                <a:ea typeface="微软雅黑" charset="0"/>
                <a:cs typeface="微软雅黑" charset="0"/>
              </a:rPr>
              <a:t>领域术语 · 业务规则</a:t>
            </a:r>
            <a:endParaRPr lang="en-US" sz="1150" dirty="0">
              <a:solidFill>
                <a:srgbClr val="1F4E79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3597148" y="6196711"/>
            <a:ext cx="1828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69C3C"/>
                </a:solidFill>
                <a:latin typeface="微软雅黑" charset="0"/>
                <a:ea typeface="微软雅黑" charset="0"/>
                <a:cs typeface="Arial" panose="020B0604020202090204" pitchFamily="34" charset="-120"/>
              </a:rPr>
              <a:t>★</a:t>
            </a:r>
            <a:endParaRPr lang="en-US" sz="1600" dirty="0">
              <a:solidFill>
                <a:srgbClr val="C69C3C"/>
              </a:solidFill>
              <a:latin typeface="微软雅黑" charset="0"/>
              <a:ea typeface="微软雅黑" charset="0"/>
              <a:cs typeface="Arial" panose="020B0604020202090204" pitchFamily="34" charset="-12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3880612" y="6224143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dirty="0">
                <a:solidFill>
                  <a:srgbClr val="1E1E1E"/>
                </a:solidFill>
                <a:latin typeface="微软雅黑" charset="0"/>
                <a:ea typeface="微软雅黑" charset="0"/>
                <a:cs typeface="Arial" panose="020B0604020202090204" pitchFamily="34" charset="-120"/>
              </a:rPr>
              <a:t>测试深度参与整理</a:t>
            </a:r>
            <a:endParaRPr lang="en-US" sz="1140" dirty="0">
              <a:solidFill>
                <a:srgbClr val="1E1E1E"/>
              </a:solidFill>
              <a:latin typeface="微软雅黑" charset="0"/>
              <a:ea typeface="微软雅黑" charset="0"/>
              <a:cs typeface="Arial" panose="020B0604020202090204" pitchFamily="34" charset="-120"/>
            </a:endParaRPr>
          </a:p>
        </p:txBody>
      </p:sp>
      <p:pic>
        <p:nvPicPr>
          <p:cNvPr id="206" name="Image 20" descr="/Users/kaka/Documents/Codex/2026-05-12/pptx-users-kaka-codex-skills-pptx/generated_assets/icon_folder_D40000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00405" y="2026920"/>
            <a:ext cx="356235" cy="356235"/>
          </a:xfrm>
          <a:prstGeom prst="rect">
            <a:avLst/>
          </a:prstGeom>
        </p:spPr>
      </p:pic>
      <p:pic>
        <p:nvPicPr>
          <p:cNvPr id="71" name="Image 20" descr="/Users/kaka/Documents/Codex/2026-05-12/pptx-users-kaka-codex-skills-pptx/generated_assets/icon_folder_D40000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00405" y="2884805"/>
            <a:ext cx="356235" cy="356235"/>
          </a:xfrm>
          <a:prstGeom prst="rect">
            <a:avLst/>
          </a:prstGeom>
        </p:spPr>
      </p:pic>
      <p:pic>
        <p:nvPicPr>
          <p:cNvPr id="72" name="Image 20" descr="/Users/kaka/Documents/Codex/2026-05-12/pptx-users-kaka-codex-skills-pptx/generated_assets/icon_folder_D40000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00405" y="3425825"/>
            <a:ext cx="356235" cy="356235"/>
          </a:xfrm>
          <a:prstGeom prst="rect">
            <a:avLst/>
          </a:prstGeom>
        </p:spPr>
      </p:pic>
      <p:pic>
        <p:nvPicPr>
          <p:cNvPr id="73" name="Image 20" descr="/Users/kaka/Documents/Codex/2026-05-12/pptx-users-kaka-codex-skills-pptx/generated_assets/icon_folder_D40000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00405" y="4422775"/>
            <a:ext cx="356235" cy="356235"/>
          </a:xfrm>
          <a:prstGeom prst="rect">
            <a:avLst/>
          </a:prstGeom>
        </p:spPr>
      </p:pic>
      <p:pic>
        <p:nvPicPr>
          <p:cNvPr id="74" name="Image 20" descr="/Users/kaka/Documents/Codex/2026-05-12/pptx-users-kaka-codex-skills-pptx/generated_assets/icon_folder_D40000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00405" y="4998720"/>
            <a:ext cx="356235" cy="356235"/>
          </a:xfrm>
          <a:prstGeom prst="rect">
            <a:avLst/>
          </a:prstGeom>
        </p:spPr>
      </p:pic>
      <p:pic>
        <p:nvPicPr>
          <p:cNvPr id="75" name="Image 20" descr="/Users/kaka/Documents/Codex/2026-05-12/pptx-users-kaka-codex-skills-pptx/generated_assets/icon_folder_D40000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00405" y="5702300"/>
            <a:ext cx="356235" cy="35623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269</Words>
  <Application>WPS 演示</Application>
  <PresentationFormat>On-screen Show (16:9)</PresentationFormat>
  <Paragraphs>48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宋体</vt:lpstr>
      <vt:lpstr>Wingdings</vt:lpstr>
      <vt:lpstr>Arial</vt:lpstr>
      <vt:lpstr>Arial</vt:lpstr>
      <vt:lpstr>宋体</vt:lpstr>
      <vt:lpstr>汉仪书宋二KW</vt:lpstr>
      <vt:lpstr>Calibri</vt:lpstr>
      <vt:lpstr>Helvetica Neue</vt:lpstr>
      <vt:lpstr>微软雅黑</vt:lpstr>
      <vt:lpstr>汉仪旗黑</vt:lpstr>
      <vt:lpstr>Arial Unicode MS</vt:lpstr>
      <vt:lpstr>微软雅黑</vt:lpstr>
      <vt:lpstr>Office Theme</vt:lpstr>
      <vt:lpstr>PowerPoint 演示文稿</vt:lpstr>
    </vt:vector>
  </TitlesOfParts>
  <Company>智能测试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开发测试协同的知识沉淀方法论</dc:title>
  <dc:creator>RKK222</dc:creator>
  <dc:subject>开发测试协同的知识沉淀方法论</dc:subject>
  <cp:lastModifiedBy>王睿</cp:lastModifiedBy>
  <cp:revision>4</cp:revision>
  <dcterms:created xsi:type="dcterms:W3CDTF">2026-08-02T10:52:22Z</dcterms:created>
  <dcterms:modified xsi:type="dcterms:W3CDTF">2026-08-02T10:52:22Z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246D9D785932B2A768206F6ABF23B33D_42</vt:lpwstr>
  </property>
  <property fmtid="{D5CDD505-2E9C-101B-9397-08002B2CF9AE}" pid="3" name="KSOProductBuildVer">
    <vt:lpwstr>2052-6.4.0.8550</vt:lpwstr>
  </property>
</Properties>
</file>