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开场先讲清楚：这个课题不是再做一个案例生成器，而是给现有生成能力补上质量反馈闭环。整场汇报围绕“已有底座、关键缺口、目标效果、实施与验收”四部分展开。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建议让新员工记住这句话。课题的业务价值不是“收集评价”本身，而是把评价转成能驱动技能、规约、知识和提示词改进的证据。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这一页用于建立信心：底座能力已经覆盖了工作区、上下文、运行、产物、版本和资产运营。新员工不用重做聊天、编辑器或 Git，只需把精力集中在案例质量域。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必须明确告诉新员工：本周交付的主体是嵌入现有 agent-web 的两个网页能力，后面配一组平台 API 和数据表。现有案例生成/审核 Agent 直接复用，不新建 Agent，也不做自动评分 Agent。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这一页只讨论案例与开发版本库的分析关系。开发源码快照和测试工作区保持分离；评价记录通过 sourceGeneration/targetCommit、代码路径/API/符号等证据关联案例。源码快照无 .git，本周不开发版本间 Diff 引擎，只关联当前冻结版本。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这是最终效果的核心示意。建议以抽屉或侧栏嵌入现有工作台，不让用户跳出生成现场。必须同时支持单案例和批量评价，并自动关联生成版本、Run 和后续修改差异。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看板数据全部标成演示数据，避免被误认为已有生产结论。真正验收重点是任意指标都能钻到案例明细和评价证据，且筛选后的汇总与明细数量一致。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这一页只呈现六个必须完成的工作包。六个工作包可以并行，但任何一块缺失都不能形成完整交付。30 条样例用于一周内校准与演示，不代表生产统计门槛。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一周实战不能采用长周期阶段制。每天 17 点集成一次，周二必须有前后端骨架，周三评价链路要通，周四看板要通并冻结功能，周五用于真实试评、修复和答辩。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这一页必须回答“最终到底交付什么”。主体是现有平台中的评价页和质量看板，不是一个新 Agent；同时交付支撑它们的评价/统计 API、数据模型、测试和可运行演示链路。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822960"/>
            <a:ext cx="3840480" cy="3840480"/>
          </a:xfrm>
          <a:prstGeom prst="ellipse">
            <a:avLst/>
          </a:prstGeom>
          <a:solidFill>
            <a:srgbClr val="00A896">
              <a:alpha val="22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228600"/>
            <a:ext cx="2651760" cy="2651760"/>
          </a:xfrm>
          <a:prstGeom prst="ellipse">
            <a:avLst/>
          </a:prstGeom>
          <a:solidFill>
            <a:srgbClr val="B8F36B">
              <a:alpha val="14000"/>
            </a:srgbClr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5166360"/>
            <a:ext cx="2926080" cy="2926080"/>
          </a:xfrm>
          <a:prstGeom prst="ellipse">
            <a:avLst/>
          </a:prstGeom>
          <a:solidFill>
            <a:srgbClr val="8A6FE8">
              <a:alpha val="12000"/>
            </a:srgbClr>
          </a:solidFill>
          <a:ln w="12700">
            <a:solidFill>
              <a:srgbClr val="8A6F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48640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新员工实战课题 · 开题汇报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8368" y="1078992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案例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可用性评估看板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94944" y="28346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9D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从“会生成”走向“可衡量、可定位、可改进”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94944" y="34015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DF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基于现有 MIMO 测试智能体底座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26680" y="932688"/>
            <a:ext cx="3584448" cy="3584448"/>
          </a:xfrm>
          <a:prstGeom prst="ellipse">
            <a:avLst/>
          </a:prstGeom>
          <a:solidFill>
            <a:srgbClr val="132342"/>
          </a:solidFill>
          <a:ln w="12700">
            <a:solidFill>
              <a:srgbClr val="2A3E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47304" y="1353312"/>
            <a:ext cx="2743200" cy="2743200"/>
          </a:xfrm>
          <a:prstGeom prst="ellipse">
            <a:avLst/>
          </a:prstGeom>
          <a:solidFill>
            <a:srgbClr val="0B183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67928" y="1773936"/>
            <a:ext cx="1901952" cy="19019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51392" y="1993392"/>
            <a:ext cx="1335024" cy="1417320"/>
          </a:xfrm>
          <a:prstGeom prst="roundRect">
            <a:avLst>
              <a:gd name="adj" fmla="val 8219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25128" y="21762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34856" y="2194560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CASE-017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9015984" y="25786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登录失败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锁定校验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53728" y="2944368"/>
            <a:ext cx="420624" cy="420624"/>
          </a:xfrm>
          <a:prstGeom prst="ellipse">
            <a:avLst/>
          </a:prstGeom>
          <a:solidFill>
            <a:srgbClr val="E1F6EB"/>
          </a:solidFill>
          <a:ln w="12700">
            <a:solidFill>
              <a:srgbClr val="E1F6EB">
                <a:alpha val="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0472" y="3041112"/>
            <a:ext cx="227137" cy="22713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0515600" y="4325112"/>
            <a:ext cx="960120" cy="1024128"/>
          </a:xfrm>
          <a:prstGeom prst="line">
            <a:avLst/>
          </a:prstGeom>
          <a:noFill/>
          <a:ln w="101600">
            <a:solidFill>
              <a:srgbClr val="00A89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09960" y="4983480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4944" y="521208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" y="5230368"/>
            <a:ext cx="841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生成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764792" y="5367528"/>
            <a:ext cx="137160" cy="0"/>
          </a:xfrm>
          <a:prstGeom prst="line">
            <a:avLst/>
          </a:prstGeom>
          <a:noFill/>
          <a:ln w="21590">
            <a:solidFill>
              <a:srgbClr val="7C8DAA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1956816" y="521208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066544" y="5230368"/>
            <a:ext cx="841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评价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026664" y="5367528"/>
            <a:ext cx="137160" cy="0"/>
          </a:xfrm>
          <a:prstGeom prst="line">
            <a:avLst/>
          </a:prstGeom>
          <a:noFill/>
          <a:ln w="21590">
            <a:solidFill>
              <a:srgbClr val="7C8DA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3218688" y="521208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28416" y="5230368"/>
            <a:ext cx="841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洞察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88536" y="5367528"/>
            <a:ext cx="137160" cy="0"/>
          </a:xfrm>
          <a:prstGeom prst="line">
            <a:avLst/>
          </a:prstGeom>
          <a:noFill/>
          <a:ln w="21590">
            <a:solidFill>
              <a:srgbClr val="7C8DAA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480560" y="521208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90288" y="5230368"/>
            <a:ext cx="841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优化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0652760" y="6263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6984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850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课题定义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先把课题讲成一句话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把每一批 AI 案例的人类反馈，沉淀成可追溯、可统计、可行动的质量证据。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AI 案例可用性评估看板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901952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956816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481328" y="2221992"/>
            <a:ext cx="8961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会生成，只代表有产物；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能被稳定评价，才代表质量可管理。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58368" y="406908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9536" y="4279392"/>
            <a:ext cx="457200" cy="457200"/>
          </a:xfrm>
          <a:prstGeom prst="ellipse">
            <a:avLst/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384548"/>
            <a:ext cx="246888" cy="2468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44752" y="426110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能否直接用？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59536" y="4773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A/B/C/D 可用性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419856" y="406908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21024" y="4279392"/>
            <a:ext cx="457200" cy="457200"/>
          </a:xfrm>
          <a:prstGeom prst="ellipse">
            <a:avLst/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4384548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06240" y="426110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改了多少？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621024" y="4773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修改量与耗时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181344" y="406908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382512" y="4279392"/>
            <a:ext cx="457200" cy="457200"/>
          </a:xfrm>
          <a:prstGeom prst="ellipse">
            <a:avLst/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668" y="4384548"/>
            <a:ext cx="246888" cy="2468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67728" y="426110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影响哪里？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382512" y="4773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 / 功能标签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942832" y="406908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144000" y="4279392"/>
            <a:ext cx="457200" cy="457200"/>
          </a:xfrm>
          <a:prstGeom prst="ellipse">
            <a:avLst/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9156" y="4384548"/>
            <a:ext cx="246888" cy="2468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729216" y="426110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问题在哪？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144000" y="4773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问题类型与证据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4261104" y="5833872"/>
            <a:ext cx="3675888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370832" y="5852160"/>
            <a:ext cx="3456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北极星：直接可用率持续提升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已有底座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我们不是从零开始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当前平台已具备案例生成所需的上下文、运行、资产和工程化能力。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AI 案例可用性评估看板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77840" y="6510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依据：module-map / user-manual / http-api（2026-07-30）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901952"/>
            <a:ext cx="34015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121408"/>
            <a:ext cx="512064" cy="512064"/>
          </a:xfrm>
          <a:prstGeom prst="ellipse">
            <a:avLst/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455" y="2239183"/>
            <a:ext cx="276515" cy="27651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27048" y="21031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应用与工作区</a:t>
            </a:r>
            <a:endParaRPr lang="en-US" sz="1620" dirty="0"/>
          </a:p>
        </p:txBody>
      </p:sp>
      <p:sp>
        <p:nvSpPr>
          <p:cNvPr id="13" name="Text 10"/>
          <p:cNvSpPr/>
          <p:nvPr/>
        </p:nvSpPr>
        <p:spPr>
          <a:xfrm>
            <a:off x="1527048" y="249631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应用、版本、个人 workspace、需求子条目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61688" y="1901952"/>
            <a:ext cx="34015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2121408"/>
            <a:ext cx="512064" cy="512064"/>
          </a:xfrm>
          <a:prstGeom prst="ellipse">
            <a:avLst/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775" y="2239183"/>
            <a:ext cx="276515" cy="27651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30368" y="21031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上下文装配</a:t>
            </a:r>
            <a:endParaRPr lang="en-US" sz="1620" dirty="0"/>
          </a:p>
        </p:txBody>
      </p:sp>
      <p:sp>
        <p:nvSpPr>
          <p:cNvPr id="18" name="Text 14"/>
          <p:cNvSpPr/>
          <p:nvPr/>
        </p:nvSpPr>
        <p:spPr>
          <a:xfrm>
            <a:off x="5230368" y="249631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引入需求；@ 选择 Agent / 文件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65008" y="1901952"/>
            <a:ext cx="34015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75320" y="2121408"/>
            <a:ext cx="512064" cy="512064"/>
          </a:xfrm>
          <a:prstGeom prst="ellipse">
            <a:avLst/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095" y="2239183"/>
            <a:ext cx="276515" cy="27651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33688" y="21031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测试设计资产</a:t>
            </a:r>
            <a:endParaRPr lang="en-US" sz="1620" dirty="0"/>
          </a:p>
        </p:txBody>
      </p:sp>
      <p:sp>
        <p:nvSpPr>
          <p:cNvPr id="23" name="Text 18"/>
          <p:cNvSpPr/>
          <p:nvPr/>
        </p:nvSpPr>
        <p:spPr>
          <a:xfrm>
            <a:off x="8933688" y="249631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测试分析、案例生成、案例审核已沉淀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58368" y="3474720"/>
            <a:ext cx="34015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68680" y="3694176"/>
            <a:ext cx="512064" cy="512064"/>
          </a:xfrm>
          <a:prstGeom prst="ellipse">
            <a:avLst/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455" y="3811951"/>
            <a:ext cx="276515" cy="27651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27048" y="36758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会话与运行</a:t>
            </a:r>
            <a:endParaRPr lang="en-US" sz="1620" dirty="0"/>
          </a:p>
        </p:txBody>
      </p:sp>
      <p:sp>
        <p:nvSpPr>
          <p:cNvPr id="28" name="Text 22"/>
          <p:cNvSpPr/>
          <p:nvPr/>
        </p:nvSpPr>
        <p:spPr>
          <a:xfrm>
            <a:off x="1527048" y="406908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/ Run / RunEvent SSE 实时呈现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361688" y="3474720"/>
            <a:ext cx="34015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72000" y="3694176"/>
            <a:ext cx="512064" cy="512064"/>
          </a:xfrm>
          <a:prstGeom prst="ellipse">
            <a:avLst/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775" y="3811951"/>
            <a:ext cx="276515" cy="27651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30368" y="36758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文件与版本</a:t>
            </a:r>
            <a:endParaRPr lang="en-US" sz="1620" dirty="0"/>
          </a:p>
        </p:txBody>
      </p:sp>
      <p:sp>
        <p:nvSpPr>
          <p:cNvPr id="33" name="Text 26"/>
          <p:cNvSpPr/>
          <p:nvPr/>
        </p:nvSpPr>
        <p:spPr>
          <a:xfrm>
            <a:off x="5230368" y="406908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编辑、Markdown 预览、Diff、Git 留痕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065008" y="3474720"/>
            <a:ext cx="34015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75320" y="3694176"/>
            <a:ext cx="512064" cy="512064"/>
          </a:xfrm>
          <a:prstGeom prst="ellipse">
            <a:avLst/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3095" y="3811951"/>
            <a:ext cx="276515" cy="27651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933688" y="36758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&amp; Skill Hub</a:t>
            </a:r>
            <a:endParaRPr lang="en-US" sz="1620" dirty="0"/>
          </a:p>
        </p:txBody>
      </p:sp>
      <p:sp>
        <p:nvSpPr>
          <p:cNvPr id="38" name="Text 30"/>
          <p:cNvSpPr/>
          <p:nvPr/>
        </p:nvSpPr>
        <p:spPr>
          <a:xfrm>
            <a:off x="8933688" y="406908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浏览、发布、引用、更新与修订管理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658368" y="5230368"/>
            <a:ext cx="10853928" cy="667512"/>
          </a:xfrm>
          <a:prstGeom prst="roundRect">
            <a:avLst>
              <a:gd name="adj" fmla="val 21918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896112" y="5340096"/>
            <a:ext cx="429768" cy="429768"/>
          </a:xfrm>
          <a:prstGeom prst="ellipse">
            <a:avLst/>
          </a:prstGeom>
          <a:solidFill>
            <a:srgbClr val="21304D"/>
          </a:solidFill>
          <a:ln w="12700">
            <a:solidFill>
              <a:srgbClr val="21304D">
                <a:alpha val="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959" y="5438943"/>
            <a:ext cx="232075" cy="232075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435608" y="532180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公共地基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2359152" y="53126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 API / traceId / 权限 · 只读源码快照身份 · 个人测试工作区 · 文件与版本治理</a:t>
            </a:r>
            <a:endParaRPr lang="en-US" sz="1240" dirty="0"/>
          </a:p>
        </p:txBody>
      </p:sp>
      <p:sp>
        <p:nvSpPr>
          <p:cNvPr id="44" name="Shape 35"/>
          <p:cNvSpPr/>
          <p:nvPr/>
        </p:nvSpPr>
        <p:spPr>
          <a:xfrm>
            <a:off x="9418320" y="5404104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9528048" y="5422392"/>
            <a:ext cx="1591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课题只补“质量域”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交付形态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最终交付：不是新 Agent，而是平台内的质量评估模块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复用现有案例生成/审核 Agent；新增评价网页、质量看板以及配套 API 与数据存储。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AI 案例可用性评估看板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810512"/>
            <a:ext cx="10744200" cy="612648"/>
          </a:xfrm>
          <a:prstGeom prst="roundRect">
            <a:avLst>
              <a:gd name="adj" fmla="val 1940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95681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75104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8A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直接复用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075688" y="19293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测试案例生成 / 审核 Agent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4736592" y="192938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继续负责生成案例，不在本周新建 Agent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13232" y="2615184"/>
            <a:ext cx="10744200" cy="612648"/>
          </a:xfrm>
          <a:prstGeom prst="roundRect">
            <a:avLst>
              <a:gd name="adj" fmla="val 1940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76148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779776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网页一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2075688" y="27340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案例评价页 / 评价抽屉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4736592" y="27340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A–D、问题标签、影响功能、补充说明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713232" y="3419856"/>
            <a:ext cx="10744200" cy="612648"/>
          </a:xfrm>
          <a:prstGeom prst="roundRect">
            <a:avLst>
              <a:gd name="adj" fmla="val 19403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356616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584448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网页二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075688" y="3538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案例质量看板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4736592" y="35387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BD5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指标总览、问题分布、版本筛选、明细钻取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713232" y="4224528"/>
            <a:ext cx="10744200" cy="612648"/>
          </a:xfrm>
          <a:prstGeom prst="roundRect">
            <a:avLst>
              <a:gd name="adj" fmla="val 1940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437083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389120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服务能力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2075688" y="43434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评价与统计 API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4736592" y="434340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保存评价、查询明细、聚合统计、统一权限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713232" y="5029200"/>
            <a:ext cx="10744200" cy="612648"/>
          </a:xfrm>
          <a:prstGeom prst="roundRect">
            <a:avLst>
              <a:gd name="adj" fmla="val 1940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" y="51755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193792"/>
            <a:ext cx="740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8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数据关联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2075688" y="51480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 + 源码快照 + 评价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4736592" y="514807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绑定 caseVersionId、generation、targetCommit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8668512" y="2011680"/>
            <a:ext cx="2487168" cy="2761488"/>
          </a:xfrm>
          <a:prstGeom prst="roundRect">
            <a:avLst>
              <a:gd name="adj" fmla="val 6618"/>
            </a:avLst>
          </a:prstGeom>
          <a:solidFill>
            <a:srgbClr val="17213D"/>
          </a:solidFill>
          <a:ln w="12700">
            <a:solidFill>
              <a:srgbClr val="17213D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62288" y="2496312"/>
            <a:ext cx="1499616" cy="1499616"/>
          </a:xfrm>
          <a:prstGeom prst="ellipse">
            <a:avLst/>
          </a:prstGeom>
          <a:solidFill>
            <a:srgbClr val="1D315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0616" y="2834640"/>
            <a:ext cx="822960" cy="8229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46920" y="2980944"/>
            <a:ext cx="530352" cy="530352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8901" y="3102925"/>
            <a:ext cx="286390" cy="28639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887968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Quality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9125712" y="41148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网页产品模块</a:t>
            </a:r>
            <a:endParaRPr lang="en-US" sz="1080" dirty="0"/>
          </a:p>
        </p:txBody>
      </p:sp>
      <p:sp>
        <p:nvSpPr>
          <p:cNvPr id="40" name="Shape 37"/>
          <p:cNvSpPr/>
          <p:nvPr/>
        </p:nvSpPr>
        <p:spPr>
          <a:xfrm>
            <a:off x="4096512" y="5870448"/>
            <a:ext cx="4224528" cy="310896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206240" y="5888736"/>
            <a:ext cx="4005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最终演示 = 评价页 → 看板 → 案例明细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837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版本库关联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案例与开发版本库：双资产、只读关联、证据可追溯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开发源码是被测事实，测试案例是测试资产；评价层用版本身份与代码证据把两者连接起来。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AI 案例可用性评估看板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77840" y="6510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 Codex 任务 019fae77… 的源码快照与人员工作区分析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" y="1847088"/>
            <a:ext cx="3035808" cy="3584448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0756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93976"/>
            <a:ext cx="1197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开发侧 · 被测对象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52928" y="2029968"/>
            <a:ext cx="493776" cy="493776"/>
          </a:xfrm>
          <a:prstGeom prst="ellipse">
            <a:avLst/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6496" y="2143536"/>
            <a:ext cx="266639" cy="26663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41248" y="2615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应用源码快照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41248" y="3054096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targetCommit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selectedPaths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indexSha256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2258568" y="3127248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68296" y="3145536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8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运行目录无 .git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841248" y="4315968"/>
            <a:ext cx="2395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读取当前冻结版本的代码、接口、模块和数据结构事实；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本周只做版本与证据关联，不开发版本间 Diff 引擎。</a:t>
            </a:r>
            <a:endParaRPr lang="en-US" sz="1070" dirty="0"/>
          </a:p>
        </p:txBody>
      </p:sp>
      <p:sp>
        <p:nvSpPr>
          <p:cNvPr id="19" name="Shape 16"/>
          <p:cNvSpPr/>
          <p:nvPr/>
        </p:nvSpPr>
        <p:spPr>
          <a:xfrm>
            <a:off x="841248" y="5010912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502920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已存在：快照身份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2267712" y="501091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377440" y="5029200"/>
            <a:ext cx="923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本周：证据关联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3995928" y="2542032"/>
            <a:ext cx="2267712" cy="2267712"/>
          </a:xfrm>
          <a:prstGeom prst="ellipse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07408" y="2953512"/>
            <a:ext cx="1444752" cy="1444752"/>
          </a:xfrm>
          <a:prstGeom prst="ellipse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37176" y="3383280"/>
            <a:ext cx="585216" cy="585216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776" y="3517880"/>
            <a:ext cx="316017" cy="31601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325112" y="4151376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案例—源码</a:t>
            </a:r>
            <a:endParaRPr lang="en-US" sz="1640" dirty="0"/>
          </a:p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证据关联</a:t>
            </a:r>
            <a:endParaRPr lang="en-US" sz="1640" dirty="0"/>
          </a:p>
        </p:txBody>
      </p:sp>
      <p:sp>
        <p:nvSpPr>
          <p:cNvPr id="28" name="Shape 24"/>
          <p:cNvSpPr/>
          <p:nvPr/>
        </p:nvSpPr>
        <p:spPr>
          <a:xfrm>
            <a:off x="3639312" y="3639312"/>
            <a:ext cx="457200" cy="0"/>
          </a:xfrm>
          <a:prstGeom prst="line">
            <a:avLst/>
          </a:prstGeom>
          <a:noFill/>
          <a:ln w="21590">
            <a:solidFill>
              <a:srgbClr val="4D7CFE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6263640" y="3639312"/>
            <a:ext cx="448056" cy="0"/>
          </a:xfrm>
          <a:prstGeom prst="line">
            <a:avLst/>
          </a:prstGeom>
          <a:noFill/>
          <a:ln w="2159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6729984" y="1847088"/>
            <a:ext cx="4846320" cy="3584448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967728" y="20756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077456" y="2093976"/>
            <a:ext cx="1197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测试侧 · 质量资产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10808208" y="2029968"/>
            <a:ext cx="493776" cy="493776"/>
          </a:xfrm>
          <a:prstGeom prst="ellipse">
            <a:avLst/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1776" y="2143536"/>
            <a:ext cx="266639" cy="266639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967728" y="2615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测试案例版本</a:t>
            </a:r>
            <a:endParaRPr lang="en-US" sz="1700" dirty="0"/>
          </a:p>
        </p:txBody>
      </p:sp>
      <p:sp>
        <p:nvSpPr>
          <p:cNvPr id="36" name="Text 31"/>
          <p:cNvSpPr/>
          <p:nvPr/>
        </p:nvSpPr>
        <p:spPr>
          <a:xfrm>
            <a:off x="6967728" y="3035808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caseVersionId / contentHash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测试工作库版本 / personalWorkspaceId</a:t>
            </a:r>
            <a:endParaRPr lang="en-US" sz="1120" dirty="0"/>
          </a:p>
        </p:txBody>
      </p:sp>
      <p:sp>
        <p:nvSpPr>
          <p:cNvPr id="37" name="Shape 32"/>
          <p:cNvSpPr/>
          <p:nvPr/>
        </p:nvSpPr>
        <p:spPr>
          <a:xfrm>
            <a:off x="6976872" y="3776472"/>
            <a:ext cx="1938528" cy="521208"/>
          </a:xfrm>
          <a:prstGeom prst="roundRect">
            <a:avLst>
              <a:gd name="adj" fmla="val 15789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114032" y="3858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代码证据</a:t>
            </a:r>
            <a:endParaRPr lang="en-US" sz="970" dirty="0"/>
          </a:p>
        </p:txBody>
      </p:sp>
      <p:sp>
        <p:nvSpPr>
          <p:cNvPr id="39" name="Text 34"/>
          <p:cNvSpPr/>
          <p:nvPr/>
        </p:nvSpPr>
        <p:spPr>
          <a:xfrm>
            <a:off x="7114032" y="4059936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 / APIs / symbols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9144000" y="3776472"/>
            <a:ext cx="1938528" cy="521208"/>
          </a:xfrm>
          <a:prstGeom prst="roundRect">
            <a:avLst>
              <a:gd name="adj" fmla="val 15789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9281160" y="3858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影响功能</a:t>
            </a:r>
            <a:endParaRPr lang="en-US" sz="970" dirty="0"/>
          </a:p>
        </p:txBody>
      </p:sp>
      <p:sp>
        <p:nvSpPr>
          <p:cNvPr id="42" name="Text 37"/>
          <p:cNvSpPr/>
          <p:nvPr/>
        </p:nvSpPr>
        <p:spPr>
          <a:xfrm>
            <a:off x="9281160" y="4059936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 → 模块 → 功能点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6976872" y="4434840"/>
            <a:ext cx="1938528" cy="521208"/>
          </a:xfrm>
          <a:prstGeom prst="roundRect">
            <a:avLst>
              <a:gd name="adj" fmla="val 15789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7114032" y="451713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一致性判断</a:t>
            </a:r>
            <a:endParaRPr lang="en-US" sz="970" dirty="0"/>
          </a:p>
        </p:txBody>
      </p:sp>
      <p:sp>
        <p:nvSpPr>
          <p:cNvPr id="45" name="Text 40"/>
          <p:cNvSpPr/>
          <p:nvPr/>
        </p:nvSpPr>
        <p:spPr>
          <a:xfrm>
            <a:off x="7114032" y="4718304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/ 冲突 / 未覆盖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9144000" y="4434840"/>
            <a:ext cx="1938528" cy="521208"/>
          </a:xfrm>
          <a:prstGeom prst="roundRect">
            <a:avLst>
              <a:gd name="adj" fmla="val 15789"/>
            </a:avLst>
          </a:prstGeom>
          <a:solidFill>
            <a:srgbClr val="EAF9D6"/>
          </a:solidFill>
          <a:ln w="12700">
            <a:solidFill>
              <a:srgbClr val="EAF9D6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9281160" y="451713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评价结论</a:t>
            </a:r>
            <a:endParaRPr lang="en-US" sz="970" dirty="0"/>
          </a:p>
        </p:txBody>
      </p:sp>
      <p:sp>
        <p:nvSpPr>
          <p:cNvPr id="48" name="Text 43"/>
          <p:cNvSpPr/>
          <p:nvPr/>
        </p:nvSpPr>
        <p:spPr>
          <a:xfrm>
            <a:off x="9281160" y="4718304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A–D / 标签 / 说明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685800" y="5715000"/>
            <a:ext cx="10808208" cy="493776"/>
          </a:xfrm>
          <a:prstGeom prst="roundRect">
            <a:avLst>
              <a:gd name="adj" fmla="val 25926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914400" y="5843016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分析价值</a:t>
            </a:r>
            <a:endParaRPr lang="en-US" sz="1050" dirty="0"/>
          </a:p>
        </p:txBody>
      </p:sp>
      <p:sp>
        <p:nvSpPr>
          <p:cNvPr id="51" name="Text 46"/>
          <p:cNvSpPr/>
          <p:nvPr/>
        </p:nvSpPr>
        <p:spPr>
          <a:xfrm>
            <a:off x="1700784" y="5815584"/>
            <a:ext cx="9372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验证案例可执行性与预期结果 · 识别代码已变但案例未覆盖 · 区分案例生成问题与代码 / 需求事实不清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页面效果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评价页：生成后 30 秒完成反馈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案例列表、案例正文和评价抽屉同屏；评价结果与当前生成版本绑定。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AI 案例可用性评估看板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11183112" cy="4480560"/>
          </a:xfrm>
          <a:prstGeom prst="roundRect">
            <a:avLst>
              <a:gd name="adj" fmla="val 2449"/>
            </a:avLst>
          </a:prstGeom>
          <a:solidFill>
            <a:srgbClr val="F8FAFD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700784"/>
            <a:ext cx="11183112" cy="438912"/>
          </a:xfrm>
          <a:prstGeom prst="roundRect">
            <a:avLst>
              <a:gd name="adj" fmla="val 25000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1856232"/>
            <a:ext cx="100584" cy="100584"/>
          </a:xfrm>
          <a:prstGeom prst="ellipse">
            <a:avLst/>
          </a:prstGeom>
          <a:solidFill>
            <a:srgbClr val="FF715B"/>
          </a:solidFill>
          <a:ln w="12700">
            <a:solidFill>
              <a:srgbClr val="FF715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1856232"/>
            <a:ext cx="100584" cy="10058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1856232"/>
            <a:ext cx="100584" cy="1005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181051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DE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案例质量工作台 · 支付应用 / S20260730-001 / Run #2841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40112" y="1773936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203552"/>
          </a:solidFill>
          <a:ln w="12700">
            <a:solidFill>
              <a:srgbClr val="20355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0" y="1792224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已评价 2 / 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4944" y="2313432"/>
            <a:ext cx="2331720" cy="358444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4871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案例列表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1947672" y="2450592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2468880"/>
            <a:ext cx="612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批量评价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22960" y="2898648"/>
            <a:ext cx="2066544" cy="621792"/>
          </a:xfrm>
          <a:prstGeom prst="roundRect">
            <a:avLst>
              <a:gd name="adj" fmla="val 13235"/>
            </a:avLst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2980944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TC-001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950976" y="31821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登录成功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2432304" y="30540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1F6EB"/>
          </a:solidFill>
          <a:ln w="12700">
            <a:solidFill>
              <a:srgbClr val="E1F6E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3072384"/>
            <a:ext cx="91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22960" y="3685032"/>
            <a:ext cx="2066544" cy="621792"/>
          </a:xfrm>
          <a:prstGeom prst="roundRect">
            <a:avLst>
              <a:gd name="adj" fmla="val 13235"/>
            </a:avLst>
          </a:prstGeom>
          <a:solidFill>
            <a:srgbClr val="DDF7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767328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TC-002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950976" y="39684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失败次数与锁定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2432304" y="38404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2032" y="3858768"/>
            <a:ext cx="91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22960" y="4471416"/>
            <a:ext cx="2066544" cy="621792"/>
          </a:xfrm>
          <a:prstGeom prst="roundRect">
            <a:avLst>
              <a:gd name="adj" fmla="val 13235"/>
            </a:avLst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4553712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TC-003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950976" y="47548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解锁后再次登录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2432304" y="462686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42032" y="4645152"/>
            <a:ext cx="91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896112" y="5394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筛选：未评价 · C/D · 有问题标签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3172968" y="2313432"/>
            <a:ext cx="4754880" cy="3584448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92424" y="2487168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02152" y="2505456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· v3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3392424" y="2816352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TC-002  连续失败后锁定账户</a:t>
            </a:r>
            <a:endParaRPr lang="en-US" sz="1620" dirty="0"/>
          </a:p>
        </p:txBody>
      </p:sp>
      <p:sp>
        <p:nvSpPr>
          <p:cNvPr id="40" name="Text 38"/>
          <p:cNvSpPr/>
          <p:nvPr/>
        </p:nvSpPr>
        <p:spPr>
          <a:xfrm>
            <a:off x="3401568" y="3273552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前置条件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142232" y="3255264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用户已注册，账户状态正常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3401568" y="3776472"/>
            <a:ext cx="4160520" cy="0"/>
          </a:xfrm>
          <a:prstGeom prst="line">
            <a:avLst/>
          </a:prstGeom>
          <a:noFill/>
          <a:ln w="12700">
            <a:solidFill>
              <a:srgbClr val="E9EE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1568" y="3959352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测试步骤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142232" y="3941064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连续输入错误密码 5 次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第 6 次输入正确密码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3401568" y="4462272"/>
            <a:ext cx="4160520" cy="0"/>
          </a:xfrm>
          <a:prstGeom prst="line">
            <a:avLst/>
          </a:prstGeom>
          <a:noFill/>
          <a:ln w="12700">
            <a:solidFill>
              <a:srgbClr val="E9EE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01568" y="4645152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预期结果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142232" y="4626864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账户被锁定；正确密码仍禁止登录，并提示解锁方式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3401568" y="546811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11296" y="5486400"/>
            <a:ext cx="9509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46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修改差异 3 处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4709160" y="5468112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补充锁定阈值  + 明确断言  + 增加解锁提示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8083296" y="2313432"/>
            <a:ext cx="3401568" cy="3584448"/>
          </a:xfrm>
          <a:prstGeom prst="roundRect">
            <a:avLst>
              <a:gd name="adj" fmla="val 2688"/>
            </a:avLst>
          </a:prstGeom>
          <a:solidFill>
            <a:srgbClr val="F2F7FB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02752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评价本案例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10579608" y="2478024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689336" y="2496312"/>
            <a:ext cx="338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必填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311896" y="29169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可用性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311896" y="3191256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21624" y="3209544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直接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720072" y="3191256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29800" y="3209544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小改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311896" y="3611880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21624" y="3630168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6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大改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720072" y="3611880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29800" y="3630168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不可用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311896" y="40873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问题类型（多选）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311896" y="4352544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21624" y="4370832"/>
            <a:ext cx="6035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8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预期结果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9217152" y="4352544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26880" y="4370832"/>
            <a:ext cx="6035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A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业务规则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10122408" y="4352544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232136" y="4370832"/>
            <a:ext cx="6035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46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测试数据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8311896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影响功能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006840" y="4773168"/>
            <a:ext cx="1618488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16568" y="4791456"/>
            <a:ext cx="1399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 / 登录 / 锁定</a:t>
            </a:r>
            <a:endParaRPr lang="en-US" sz="890" dirty="0"/>
          </a:p>
        </p:txBody>
      </p:sp>
      <p:sp>
        <p:nvSpPr>
          <p:cNvPr id="74" name="Text 72"/>
          <p:cNvSpPr/>
          <p:nvPr/>
        </p:nvSpPr>
        <p:spPr>
          <a:xfrm>
            <a:off x="8311896" y="5212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说明：阈值来自详细设计 5.2，生成时遗漏。</a:t>
            </a:r>
            <a:endParaRPr lang="en-US" sz="940" dirty="0"/>
          </a:p>
        </p:txBody>
      </p:sp>
      <p:sp>
        <p:nvSpPr>
          <p:cNvPr id="75" name="Shape 73"/>
          <p:cNvSpPr/>
          <p:nvPr/>
        </p:nvSpPr>
        <p:spPr>
          <a:xfrm>
            <a:off x="9674352" y="549554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784080" y="5513832"/>
            <a:ext cx="1197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保存评价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页面效果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质量看板：从总览一路钻到案例证据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下图为演示数据；核心是“指标 → 问题 → 功能 → 明细”的可钻取链路。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AI 案例可用性评估看板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11183112" cy="4553712"/>
          </a:xfrm>
          <a:prstGeom prst="roundRect">
            <a:avLst>
              <a:gd name="adj" fmla="val 2410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" y="1847088"/>
            <a:ext cx="10771632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1920240"/>
            <a:ext cx="274320" cy="274320"/>
          </a:xfrm>
          <a:prstGeom prst="ellipse">
            <a:avLst/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6" y="1983334"/>
            <a:ext cx="148133" cy="14813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61872" y="192024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应用：全部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2240280" y="19202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被测版本：gen-42 / abc123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160520" y="192024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测试资产：2026.07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5623560" y="19202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测试人员：全部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6931152" y="1920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修订：v3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10332720" y="1901952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442448" y="1920240"/>
            <a:ext cx="621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46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演示数据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704088" y="2441448"/>
            <a:ext cx="241401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25511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819656" y="25603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评价覆盖率</a:t>
            </a:r>
            <a:endParaRPr lang="en-US" sz="1030" dirty="0"/>
          </a:p>
        </p:txBody>
      </p:sp>
      <p:sp>
        <p:nvSpPr>
          <p:cNvPr id="22" name="Shape 19"/>
          <p:cNvSpPr/>
          <p:nvPr/>
        </p:nvSpPr>
        <p:spPr>
          <a:xfrm>
            <a:off x="3364992" y="2441448"/>
            <a:ext cx="241401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29584" y="25511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480560" y="25603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直接可用率 A</a:t>
            </a:r>
            <a:endParaRPr lang="en-US" sz="1030" dirty="0"/>
          </a:p>
        </p:txBody>
      </p:sp>
      <p:sp>
        <p:nvSpPr>
          <p:cNvPr id="25" name="Shape 22"/>
          <p:cNvSpPr/>
          <p:nvPr/>
        </p:nvSpPr>
        <p:spPr>
          <a:xfrm>
            <a:off x="6025896" y="2441448"/>
            <a:ext cx="241401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90488" y="25511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141464" y="25603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可用率 A+B</a:t>
            </a:r>
            <a:endParaRPr lang="en-US" sz="1030" dirty="0"/>
          </a:p>
        </p:txBody>
      </p:sp>
      <p:sp>
        <p:nvSpPr>
          <p:cNvPr id="28" name="Shape 25"/>
          <p:cNvSpPr/>
          <p:nvPr/>
        </p:nvSpPr>
        <p:spPr>
          <a:xfrm>
            <a:off x="8686800" y="2441448"/>
            <a:ext cx="241401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851392" y="25511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A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6.4m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9802368" y="25603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平均修改耗时</a:t>
            </a:r>
            <a:endParaRPr lang="en-US" sz="1030" dirty="0"/>
          </a:p>
        </p:txBody>
      </p:sp>
      <p:sp>
        <p:nvSpPr>
          <p:cNvPr id="31" name="Shape 28"/>
          <p:cNvSpPr/>
          <p:nvPr/>
        </p:nvSpPr>
        <p:spPr>
          <a:xfrm>
            <a:off x="704088" y="3401568"/>
            <a:ext cx="4434840" cy="2487168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6112" y="357530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直接可用率趋势</a:t>
            </a:r>
            <a:endParaRPr lang="en-US" sz="1230" dirty="0"/>
          </a:p>
        </p:txBody>
      </p:sp>
      <p:sp>
        <p:nvSpPr>
          <p:cNvPr id="33" name="Text 30"/>
          <p:cNvSpPr/>
          <p:nvPr/>
        </p:nvSpPr>
        <p:spPr>
          <a:xfrm>
            <a:off x="3950208" y="358444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 Skill 修订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1024128" y="4096512"/>
            <a:ext cx="3767328" cy="0"/>
          </a:xfrm>
          <a:prstGeom prst="line">
            <a:avLst/>
          </a:prstGeom>
          <a:noFill/>
          <a:ln w="12700">
            <a:solidFill>
              <a:srgbClr val="E9EEF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24128" y="4663440"/>
            <a:ext cx="3767328" cy="0"/>
          </a:xfrm>
          <a:prstGeom prst="line">
            <a:avLst/>
          </a:prstGeom>
          <a:noFill/>
          <a:ln w="12700">
            <a:solidFill>
              <a:srgbClr val="E9EEF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24128" y="5230368"/>
            <a:ext cx="3767328" cy="0"/>
          </a:xfrm>
          <a:prstGeom prst="line">
            <a:avLst/>
          </a:prstGeom>
          <a:noFill/>
          <a:ln w="12700">
            <a:solidFill>
              <a:srgbClr val="E9EEF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15568" y="5148072"/>
            <a:ext cx="713232" cy="-256032"/>
          </a:xfrm>
          <a:prstGeom prst="line">
            <a:avLst/>
          </a:prstGeom>
          <a:noFill/>
          <a:ln w="33020">
            <a:solidFill>
              <a:srgbClr val="00A89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828800" y="4892040"/>
            <a:ext cx="713232" cy="73152"/>
          </a:xfrm>
          <a:prstGeom prst="line">
            <a:avLst/>
          </a:prstGeom>
          <a:noFill/>
          <a:ln w="33020">
            <a:solidFill>
              <a:srgbClr val="00A89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42032" y="4965192"/>
            <a:ext cx="713232" cy="-475488"/>
          </a:xfrm>
          <a:prstGeom prst="line">
            <a:avLst/>
          </a:prstGeom>
          <a:noFill/>
          <a:ln w="33020">
            <a:solidFill>
              <a:srgbClr val="00A89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255264" y="4489704"/>
            <a:ext cx="713232" cy="-173736"/>
          </a:xfrm>
          <a:prstGeom prst="line">
            <a:avLst/>
          </a:prstGeom>
          <a:noFill/>
          <a:ln w="33020">
            <a:solidFill>
              <a:srgbClr val="00A89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968496" y="4315968"/>
            <a:ext cx="640080" cy="-228600"/>
          </a:xfrm>
          <a:prstGeom prst="line">
            <a:avLst/>
          </a:prstGeom>
          <a:noFill/>
          <a:ln w="33020">
            <a:solidFill>
              <a:srgbClr val="00A89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51560" y="5084064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32688" y="54498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1764792" y="4828032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645920" y="54498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2478024" y="4901184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359152" y="54498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3191256" y="4425696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072384" y="54498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</a:t>
            </a:r>
            <a:endParaRPr lang="en-US" sz="820" dirty="0"/>
          </a:p>
        </p:txBody>
      </p:sp>
      <p:sp>
        <p:nvSpPr>
          <p:cNvPr id="50" name="Shape 47"/>
          <p:cNvSpPr/>
          <p:nvPr/>
        </p:nvSpPr>
        <p:spPr>
          <a:xfrm>
            <a:off x="3904488" y="4251960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785616" y="54498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</a:t>
            </a:r>
            <a:endParaRPr lang="en-US" sz="820" dirty="0"/>
          </a:p>
        </p:txBody>
      </p:sp>
      <p:sp>
        <p:nvSpPr>
          <p:cNvPr id="52" name="Shape 49"/>
          <p:cNvSpPr/>
          <p:nvPr/>
        </p:nvSpPr>
        <p:spPr>
          <a:xfrm>
            <a:off x="4544568" y="4023360"/>
            <a:ext cx="128016" cy="128016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425696" y="54498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</a:t>
            </a:r>
            <a:endParaRPr lang="en-US" sz="820" dirty="0"/>
          </a:p>
        </p:txBody>
      </p:sp>
      <p:sp>
        <p:nvSpPr>
          <p:cNvPr id="54" name="Shape 51"/>
          <p:cNvSpPr/>
          <p:nvPr/>
        </p:nvSpPr>
        <p:spPr>
          <a:xfrm>
            <a:off x="4315968" y="3803904"/>
            <a:ext cx="493776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425696" y="382219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870" dirty="0"/>
          </a:p>
        </p:txBody>
      </p:sp>
      <p:sp>
        <p:nvSpPr>
          <p:cNvPr id="56" name="Shape 53"/>
          <p:cNvSpPr/>
          <p:nvPr/>
        </p:nvSpPr>
        <p:spPr>
          <a:xfrm>
            <a:off x="5312664" y="3401568"/>
            <a:ext cx="2916936" cy="2487168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504688" y="3575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问题类型 Top 4</a:t>
            </a:r>
            <a:endParaRPr lang="en-US" sz="1230" dirty="0"/>
          </a:p>
        </p:txBody>
      </p:sp>
      <p:sp>
        <p:nvSpPr>
          <p:cNvPr id="58" name="Text 55"/>
          <p:cNvSpPr/>
          <p:nvPr/>
        </p:nvSpPr>
        <p:spPr>
          <a:xfrm>
            <a:off x="5504688" y="4041648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需求理解</a:t>
            </a:r>
            <a:endParaRPr lang="en-US" sz="940" dirty="0"/>
          </a:p>
        </p:txBody>
      </p:sp>
      <p:sp>
        <p:nvSpPr>
          <p:cNvPr id="59" name="Shape 56"/>
          <p:cNvSpPr/>
          <p:nvPr/>
        </p:nvSpPr>
        <p:spPr>
          <a:xfrm>
            <a:off x="6236208" y="4069080"/>
            <a:ext cx="1353312" cy="118872"/>
          </a:xfrm>
          <a:prstGeom prst="roundRect">
            <a:avLst>
              <a:gd name="adj" fmla="val 46154"/>
            </a:avLst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236208" y="4069080"/>
            <a:ext cx="1109716" cy="118872"/>
          </a:xfrm>
          <a:prstGeom prst="roundRect">
            <a:avLst>
              <a:gd name="adj" fmla="val 46154"/>
            </a:avLst>
          </a:prstGeom>
          <a:solidFill>
            <a:srgbClr val="8A6FE8"/>
          </a:solidFill>
          <a:ln w="12700">
            <a:solidFill>
              <a:srgbClr val="8A6FE8">
                <a:alpha val="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644384" y="40233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920" dirty="0"/>
          </a:p>
        </p:txBody>
      </p:sp>
      <p:sp>
        <p:nvSpPr>
          <p:cNvPr id="62" name="Text 59"/>
          <p:cNvSpPr/>
          <p:nvPr/>
        </p:nvSpPr>
        <p:spPr>
          <a:xfrm>
            <a:off x="5504688" y="4480560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预期断言</a:t>
            </a:r>
            <a:endParaRPr lang="en-US" sz="940" dirty="0"/>
          </a:p>
        </p:txBody>
      </p:sp>
      <p:sp>
        <p:nvSpPr>
          <p:cNvPr id="63" name="Shape 60"/>
          <p:cNvSpPr/>
          <p:nvPr/>
        </p:nvSpPr>
        <p:spPr>
          <a:xfrm>
            <a:off x="6236208" y="4507992"/>
            <a:ext cx="1353312" cy="118872"/>
          </a:xfrm>
          <a:prstGeom prst="roundRect">
            <a:avLst>
              <a:gd name="adj" fmla="val 46154"/>
            </a:avLst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236208" y="4507992"/>
            <a:ext cx="906719" cy="118872"/>
          </a:xfrm>
          <a:prstGeom prst="roundRect">
            <a:avLst>
              <a:gd name="adj" fmla="val 46154"/>
            </a:avLst>
          </a:prstGeom>
          <a:solidFill>
            <a:srgbClr val="FF715B"/>
          </a:solidFill>
          <a:ln w="12700">
            <a:solidFill>
              <a:srgbClr val="FF715B">
                <a:alpha val="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644384" y="44622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920" dirty="0"/>
          </a:p>
        </p:txBody>
      </p:sp>
      <p:sp>
        <p:nvSpPr>
          <p:cNvPr id="66" name="Text 63"/>
          <p:cNvSpPr/>
          <p:nvPr/>
        </p:nvSpPr>
        <p:spPr>
          <a:xfrm>
            <a:off x="5504688" y="491947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前置数据</a:t>
            </a:r>
            <a:endParaRPr lang="en-US" sz="940" dirty="0"/>
          </a:p>
        </p:txBody>
      </p:sp>
      <p:sp>
        <p:nvSpPr>
          <p:cNvPr id="67" name="Shape 64"/>
          <p:cNvSpPr/>
          <p:nvPr/>
        </p:nvSpPr>
        <p:spPr>
          <a:xfrm>
            <a:off x="6236208" y="4946904"/>
            <a:ext cx="1353312" cy="118872"/>
          </a:xfrm>
          <a:prstGeom prst="roundRect">
            <a:avLst>
              <a:gd name="adj" fmla="val 46154"/>
            </a:avLst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236208" y="4946904"/>
            <a:ext cx="744322" cy="118872"/>
          </a:xfrm>
          <a:prstGeom prst="roundRect">
            <a:avLst>
              <a:gd name="adj" fmla="val 46154"/>
            </a:avLst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644384" y="49011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20" dirty="0"/>
          </a:p>
        </p:txBody>
      </p:sp>
      <p:sp>
        <p:nvSpPr>
          <p:cNvPr id="70" name="Text 67"/>
          <p:cNvSpPr/>
          <p:nvPr/>
        </p:nvSpPr>
        <p:spPr>
          <a:xfrm>
            <a:off x="5504688" y="5358384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范围覆盖</a:t>
            </a:r>
            <a:endParaRPr lang="en-US" sz="940" dirty="0"/>
          </a:p>
        </p:txBody>
      </p:sp>
      <p:sp>
        <p:nvSpPr>
          <p:cNvPr id="71" name="Shape 68"/>
          <p:cNvSpPr/>
          <p:nvPr/>
        </p:nvSpPr>
        <p:spPr>
          <a:xfrm>
            <a:off x="6236208" y="5385816"/>
            <a:ext cx="1353312" cy="118872"/>
          </a:xfrm>
          <a:prstGeom prst="roundRect">
            <a:avLst>
              <a:gd name="adj" fmla="val 46154"/>
            </a:avLst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236208" y="5385816"/>
            <a:ext cx="622524" cy="118872"/>
          </a:xfrm>
          <a:prstGeom prst="roundRect">
            <a:avLst>
              <a:gd name="adj" fmla="val 46154"/>
            </a:avLst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644384" y="53400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20" dirty="0"/>
          </a:p>
        </p:txBody>
      </p:sp>
      <p:sp>
        <p:nvSpPr>
          <p:cNvPr id="74" name="Shape 71"/>
          <p:cNvSpPr/>
          <p:nvPr/>
        </p:nvSpPr>
        <p:spPr>
          <a:xfrm>
            <a:off x="8394192" y="3401568"/>
            <a:ext cx="3081528" cy="2487168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595360" y="35753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功能问题热区</a:t>
            </a:r>
            <a:endParaRPr lang="en-US" sz="1230" dirty="0"/>
          </a:p>
        </p:txBody>
      </p:sp>
      <p:sp>
        <p:nvSpPr>
          <p:cNvPr id="76" name="Text 73"/>
          <p:cNvSpPr/>
          <p:nvPr/>
        </p:nvSpPr>
        <p:spPr>
          <a:xfrm>
            <a:off x="8595360" y="405079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8595360" y="44348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支付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8595360" y="48188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对账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8595360" y="5202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9217152" y="38587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</a:t>
            </a:r>
            <a:endParaRPr lang="en-US" sz="840" dirty="0"/>
          </a:p>
        </p:txBody>
      </p:sp>
      <p:sp>
        <p:nvSpPr>
          <p:cNvPr id="81" name="Text 78"/>
          <p:cNvSpPr/>
          <p:nvPr/>
        </p:nvSpPr>
        <p:spPr>
          <a:xfrm>
            <a:off x="9838944" y="38587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</a:t>
            </a:r>
            <a:endParaRPr lang="en-US" sz="840" dirty="0"/>
          </a:p>
        </p:txBody>
      </p:sp>
      <p:sp>
        <p:nvSpPr>
          <p:cNvPr id="82" name="Text 79"/>
          <p:cNvSpPr/>
          <p:nvPr/>
        </p:nvSpPr>
        <p:spPr>
          <a:xfrm>
            <a:off x="10460736" y="38587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断言</a:t>
            </a:r>
            <a:endParaRPr lang="en-US" sz="840" dirty="0"/>
          </a:p>
        </p:txBody>
      </p:sp>
      <p:sp>
        <p:nvSpPr>
          <p:cNvPr id="83" name="Shape 80"/>
          <p:cNvSpPr/>
          <p:nvPr/>
        </p:nvSpPr>
        <p:spPr>
          <a:xfrm>
            <a:off x="9217152" y="4041648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FF715B"/>
          </a:solidFill>
          <a:ln w="12700">
            <a:solidFill>
              <a:srgbClr val="FF715B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9838944" y="4041648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0460736" y="4041648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9217152" y="4425696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9838944" y="4425696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FF715B"/>
          </a:solidFill>
          <a:ln w="12700">
            <a:solidFill>
              <a:srgbClr val="FF715B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10460736" y="4425696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9217152" y="4809744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9838944" y="4809744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0460736" y="4809744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9217152" y="5193792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9838944" y="5193792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0460736" y="5193792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8622792" y="5541264"/>
            <a:ext cx="2048256" cy="310896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8732520" y="5559552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点击下钻 12 条案例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一周任务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必须完成：拆成 6 个可并行、可验收的工作包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每个工作包都有明确产物；周五必须能串成一条真实演示链路。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AI 案例可用性评估看板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10512"/>
            <a:ext cx="34015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025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02082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55848" y="1984248"/>
            <a:ext cx="475488" cy="475488"/>
          </a:xfrm>
          <a:prstGeom prst="ellipse">
            <a:avLst/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5210" y="2093610"/>
            <a:ext cx="256764" cy="2567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44752" y="1984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评价口径与样本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41248" y="24688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 A–D、8 类问题标签、功能标签；准备 30 条样例。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841248" y="29809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0976" y="299923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 + 测试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4352544" y="1810512"/>
            <a:ext cx="34015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35424" y="20025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45152" y="202082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050024" y="1984248"/>
            <a:ext cx="475488" cy="475488"/>
          </a:xfrm>
          <a:prstGeom prst="ellipse">
            <a:avLst/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386" y="2093610"/>
            <a:ext cx="256764" cy="25676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38928" y="1984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数据模型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4535424" y="24688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固化案例版本、源码 generation / commit、评价人与审计字段。</a:t>
            </a:r>
            <a:endParaRPr lang="en-US" sz="1060" dirty="0"/>
          </a:p>
        </p:txBody>
      </p:sp>
      <p:sp>
        <p:nvSpPr>
          <p:cNvPr id="24" name="Shape 20"/>
          <p:cNvSpPr/>
          <p:nvPr/>
        </p:nvSpPr>
        <p:spPr>
          <a:xfrm>
            <a:off x="4535424" y="29809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45152" y="299923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 + 产品</a:t>
            </a:r>
            <a:endParaRPr lang="en-US" sz="860" dirty="0"/>
          </a:p>
        </p:txBody>
      </p:sp>
      <p:sp>
        <p:nvSpPr>
          <p:cNvPr id="26" name="Shape 22"/>
          <p:cNvSpPr/>
          <p:nvPr/>
        </p:nvSpPr>
        <p:spPr>
          <a:xfrm>
            <a:off x="8046720" y="1810512"/>
            <a:ext cx="34015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229600" y="20025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339328" y="202082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10744200" y="1984248"/>
            <a:ext cx="475488" cy="475488"/>
          </a:xfrm>
          <a:prstGeom prst="ellipse">
            <a:avLst/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3562" y="2093610"/>
            <a:ext cx="256764" cy="25676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833104" y="1984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 API</a:t>
            </a:r>
            <a:endParaRPr lang="en-US" sz="1550" dirty="0"/>
          </a:p>
        </p:txBody>
      </p:sp>
      <p:sp>
        <p:nvSpPr>
          <p:cNvPr id="32" name="Text 27"/>
          <p:cNvSpPr/>
          <p:nvPr/>
        </p:nvSpPr>
        <p:spPr>
          <a:xfrm>
            <a:off x="8229600" y="24688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完成保存、修改、详情和列表查询，统一权限与错误格式。</a:t>
            </a:r>
            <a:endParaRPr lang="en-US" sz="1060" dirty="0"/>
          </a:p>
        </p:txBody>
      </p:sp>
      <p:sp>
        <p:nvSpPr>
          <p:cNvPr id="33" name="Shape 28"/>
          <p:cNvSpPr/>
          <p:nvPr/>
        </p:nvSpPr>
        <p:spPr>
          <a:xfrm>
            <a:off x="8229600" y="29809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339328" y="299923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860" dirty="0"/>
          </a:p>
        </p:txBody>
      </p:sp>
      <p:sp>
        <p:nvSpPr>
          <p:cNvPr id="35" name="Shape 30"/>
          <p:cNvSpPr/>
          <p:nvPr/>
        </p:nvSpPr>
        <p:spPr>
          <a:xfrm>
            <a:off x="658368" y="3639312"/>
            <a:ext cx="34015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841248" y="3831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950976" y="384962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3355848" y="3813048"/>
            <a:ext cx="475488" cy="475488"/>
          </a:xfrm>
          <a:prstGeom prst="ellipse">
            <a:avLst/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210" y="3922410"/>
            <a:ext cx="256764" cy="256764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444752" y="3813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案例评价页</a:t>
            </a:r>
            <a:endParaRPr lang="en-US" sz="1550" dirty="0"/>
          </a:p>
        </p:txBody>
      </p:sp>
      <p:sp>
        <p:nvSpPr>
          <p:cNvPr id="41" name="Text 35"/>
          <p:cNvSpPr/>
          <p:nvPr/>
        </p:nvSpPr>
        <p:spPr>
          <a:xfrm>
            <a:off x="841248" y="42976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在现有工作台加入评价入口，完成等级、标签、功能和说明录入。</a:t>
            </a:r>
            <a:endParaRPr lang="en-US" sz="1060" dirty="0"/>
          </a:p>
        </p:txBody>
      </p:sp>
      <p:sp>
        <p:nvSpPr>
          <p:cNvPr id="42" name="Shape 36"/>
          <p:cNvSpPr/>
          <p:nvPr/>
        </p:nvSpPr>
        <p:spPr>
          <a:xfrm>
            <a:off x="841248" y="48097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50976" y="482803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860" dirty="0"/>
          </a:p>
        </p:txBody>
      </p:sp>
      <p:sp>
        <p:nvSpPr>
          <p:cNvPr id="44" name="Shape 38"/>
          <p:cNvSpPr/>
          <p:nvPr/>
        </p:nvSpPr>
        <p:spPr>
          <a:xfrm>
            <a:off x="4352544" y="3639312"/>
            <a:ext cx="34015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4535424" y="3831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645152" y="384962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7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7050024" y="3813048"/>
            <a:ext cx="475488" cy="475488"/>
          </a:xfrm>
          <a:prstGeom prst="ellipse">
            <a:avLst/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386" y="3922410"/>
            <a:ext cx="256764" cy="256764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5138928" y="3813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质量看板</a:t>
            </a:r>
            <a:endParaRPr lang="en-US" sz="1550" dirty="0"/>
          </a:p>
        </p:txBody>
      </p:sp>
      <p:sp>
        <p:nvSpPr>
          <p:cNvPr id="50" name="Text 43"/>
          <p:cNvSpPr/>
          <p:nvPr/>
        </p:nvSpPr>
        <p:spPr>
          <a:xfrm>
            <a:off x="4535424" y="42976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4 个核心指标、问题分布、版本筛选和明细钻取。</a:t>
            </a:r>
            <a:endParaRPr lang="en-US" sz="1060" dirty="0"/>
          </a:p>
        </p:txBody>
      </p:sp>
      <p:sp>
        <p:nvSpPr>
          <p:cNvPr id="51" name="Shape 44"/>
          <p:cNvSpPr/>
          <p:nvPr/>
        </p:nvSpPr>
        <p:spPr>
          <a:xfrm>
            <a:off x="4535424" y="48097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4645152" y="482803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+ 后端</a:t>
            </a:r>
            <a:endParaRPr lang="en-US" sz="860" dirty="0"/>
          </a:p>
        </p:txBody>
      </p:sp>
      <p:sp>
        <p:nvSpPr>
          <p:cNvPr id="53" name="Shape 46"/>
          <p:cNvSpPr/>
          <p:nvPr/>
        </p:nvSpPr>
        <p:spPr>
          <a:xfrm>
            <a:off x="8046720" y="3639312"/>
            <a:ext cx="340156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8229600" y="3831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339328" y="3849624"/>
            <a:ext cx="256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7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10744200" y="3813048"/>
            <a:ext cx="475488" cy="475488"/>
          </a:xfrm>
          <a:prstGeom prst="ellipse">
            <a:avLst/>
          </a:prstGeom>
          <a:solidFill>
            <a:srgbClr val="FFF1CE"/>
          </a:solidFill>
          <a:ln w="12700">
            <a:solidFill>
              <a:srgbClr val="FFF1CE">
                <a:alpha val="0"/>
              </a:srgbClr>
            </a:solidFill>
            <a:prstDash val="solid"/>
          </a:ln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3562" y="3922410"/>
            <a:ext cx="256764" cy="256764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8833104" y="38130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联调与验收</a:t>
            </a:r>
            <a:endParaRPr lang="en-US" sz="1550" dirty="0"/>
          </a:p>
        </p:txBody>
      </p:sp>
      <p:sp>
        <p:nvSpPr>
          <p:cNvPr id="59" name="Text 51"/>
          <p:cNvSpPr/>
          <p:nvPr/>
        </p:nvSpPr>
        <p:spPr>
          <a:xfrm>
            <a:off x="8229600" y="42976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接口测试、页面测试、统计对账；准备一条 5 分钟演示脚本。</a:t>
            </a:r>
            <a:endParaRPr lang="en-US" sz="1060" dirty="0"/>
          </a:p>
        </p:txBody>
      </p:sp>
      <p:sp>
        <p:nvSpPr>
          <p:cNvPr id="60" name="Shape 52"/>
          <p:cNvSpPr/>
          <p:nvPr/>
        </p:nvSpPr>
        <p:spPr>
          <a:xfrm>
            <a:off x="8229600" y="48097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8339328" y="482803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 + 全员</a:t>
            </a:r>
            <a:endParaRPr lang="en-US" sz="860" dirty="0"/>
          </a:p>
        </p:txBody>
      </p:sp>
      <p:sp>
        <p:nvSpPr>
          <p:cNvPr id="62" name="Shape 54"/>
          <p:cNvSpPr/>
          <p:nvPr/>
        </p:nvSpPr>
        <p:spPr>
          <a:xfrm>
            <a:off x="3090672" y="5733288"/>
            <a:ext cx="5989320" cy="310896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3200400" y="5751576"/>
            <a:ext cx="5769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全部完成才算交付：2 个网页 + 评价/统计 API + 数据模型 + 演示链路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一周任务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一周推进：每天都要交出可运行成果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 5–7 人分成产品/质量、前端、后端数据、联调测试四条小线并行推进。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AI 案例可用性评估看板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615184"/>
            <a:ext cx="10104120" cy="0"/>
          </a:xfrm>
          <a:prstGeom prst="line">
            <a:avLst/>
          </a:prstGeom>
          <a:noFill/>
          <a:ln w="63500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258568"/>
            <a:ext cx="713232" cy="7132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46888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周一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94360" y="3054096"/>
            <a:ext cx="1965960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310128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328416"/>
            <a:ext cx="3840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定口径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95528" y="3685032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数据字典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条样例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93008" y="2258568"/>
            <a:ext cx="713232" cy="713232"/>
          </a:xfrm>
          <a:prstGeom prst="ellipse">
            <a:avLst/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246888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周二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862072" y="3054096"/>
            <a:ext cx="1965960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63240" y="3310128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3328416"/>
            <a:ext cx="3840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搭骨架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3063240" y="3685032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 /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前端路由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联调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2258568"/>
            <a:ext cx="713232" cy="713232"/>
          </a:xfrm>
          <a:prstGeom prst="ellipse">
            <a:avLst/>
          </a:prstGeom>
          <a:solidFill>
            <a:srgbClr val="27A269"/>
          </a:solidFill>
          <a:ln w="12700">
            <a:solidFill>
              <a:srgbClr val="27A26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46888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周三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129784" y="3054096"/>
            <a:ext cx="1965960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30952" y="3310128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3328416"/>
            <a:ext cx="3840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通评价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330952" y="3685032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保存评价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案例版本关联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页面可操作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28432" y="2258568"/>
            <a:ext cx="713232" cy="713232"/>
          </a:xfrm>
          <a:prstGeom prst="ellipse">
            <a:avLst/>
          </a:prstGeom>
          <a:solidFill>
            <a:srgbClr val="8A6FE8"/>
          </a:solidFill>
          <a:ln w="12700">
            <a:solidFill>
              <a:srgbClr val="8A6FE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8432" y="246888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周四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397496" y="3054096"/>
            <a:ext cx="1965960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98664" y="3310128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08392" y="3328416"/>
            <a:ext cx="3840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8A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通看板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7598664" y="3685032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聚合统计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筛选钻取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数据对账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296144" y="2258568"/>
            <a:ext cx="713232" cy="713232"/>
          </a:xfrm>
          <a:prstGeom prst="ellipse">
            <a:avLst/>
          </a:prstGeom>
          <a:solidFill>
            <a:srgbClr val="FF715B"/>
          </a:solidFill>
          <a:ln w="12700">
            <a:solidFill>
              <a:srgbClr val="FF715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246888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周五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665208" y="3054096"/>
            <a:ext cx="1965960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866376" y="3310128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FFE7E2"/>
          </a:solidFill>
          <a:ln w="12700">
            <a:solidFill>
              <a:srgbClr val="FFE7E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76104" y="3328416"/>
            <a:ext cx="3840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7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9866376" y="3685032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真实试评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回归测试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演示答辩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77240" y="5056632"/>
            <a:ext cx="2331720" cy="640080"/>
          </a:xfrm>
          <a:prstGeom prst="roundRect">
            <a:avLst>
              <a:gd name="adj" fmla="val 18571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1832" y="51755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 / 口径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1746504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需求、原型、判例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3520440" y="5056632"/>
            <a:ext cx="2331720" cy="640080"/>
          </a:xfrm>
          <a:prstGeom prst="roundRect">
            <a:avLst>
              <a:gd name="adj" fmla="val 18571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85032" y="51755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070" dirty="0"/>
          </a:p>
        </p:txBody>
      </p:sp>
      <p:sp>
        <p:nvSpPr>
          <p:cNvPr id="44" name="Text 42"/>
          <p:cNvSpPr/>
          <p:nvPr/>
        </p:nvSpPr>
        <p:spPr>
          <a:xfrm>
            <a:off x="4489704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评价与看板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6263640" y="5056632"/>
            <a:ext cx="2331720" cy="640080"/>
          </a:xfrm>
          <a:prstGeom prst="roundRect">
            <a:avLst>
              <a:gd name="adj" fmla="val 18571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8232" y="51755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 / 数据</a:t>
            </a:r>
            <a:endParaRPr lang="en-US" sz="1070" dirty="0"/>
          </a:p>
        </p:txBody>
      </p:sp>
      <p:sp>
        <p:nvSpPr>
          <p:cNvPr id="47" name="Text 45"/>
          <p:cNvSpPr/>
          <p:nvPr/>
        </p:nvSpPr>
        <p:spPr>
          <a:xfrm>
            <a:off x="7232904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API、模型、统计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9006840" y="5056632"/>
            <a:ext cx="2331720" cy="640080"/>
          </a:xfrm>
          <a:prstGeom prst="roundRect">
            <a:avLst>
              <a:gd name="adj" fmla="val 18571"/>
            </a:avLst>
          </a:prstGeom>
          <a:solidFill>
            <a:srgbClr val="F5F8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71432" y="51755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 / 测试</a:t>
            </a:r>
            <a:endParaRPr lang="en-US" sz="1070" dirty="0"/>
          </a:p>
        </p:txBody>
      </p:sp>
      <p:sp>
        <p:nvSpPr>
          <p:cNvPr id="50" name="Text 48"/>
          <p:cNvSpPr/>
          <p:nvPr/>
        </p:nvSpPr>
        <p:spPr>
          <a:xfrm>
            <a:off x="9976104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样本、自动化、验收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4069080" y="5925312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78808" y="5943600"/>
            <a:ext cx="1563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17:00 集成演示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6126480" y="5925312"/>
            <a:ext cx="2615184" cy="310896"/>
          </a:xfrm>
          <a:prstGeom prst="roundRect">
            <a:avLst>
              <a:gd name="adj" fmla="val 50000"/>
            </a:avLst>
          </a:prstGeom>
          <a:solidFill>
            <a:srgbClr val="E7EDFF"/>
          </a:solidFill>
          <a:ln w="12700">
            <a:solidFill>
              <a:srgbClr val="E7ED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6208" y="5943600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4D7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周四晚冻结功能，周五只修问题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DDF7F1"/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73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最终验收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答辩现场：用 5 分钟演示一个完整网页产品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从现有 Agent 生成案例开始，完成评价、源码关联、统计和明细钻取。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 测试智能体 · AI 案例可用性评估看板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3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9224" y="2029968"/>
            <a:ext cx="530352" cy="530352"/>
          </a:xfrm>
          <a:prstGeom prst="ellipse">
            <a:avLst/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362456" y="2048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62456" y="2404872"/>
            <a:ext cx="125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复用现有 Agent 生成案例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51176" y="2295144"/>
            <a:ext cx="246888" cy="0"/>
          </a:xfrm>
          <a:prstGeom prst="line">
            <a:avLst/>
          </a:prstGeom>
          <a:noFill/>
          <a:ln w="21590">
            <a:solidFill>
              <a:srgbClr val="4350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16936" y="2029968"/>
            <a:ext cx="530352" cy="5303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6936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3630168" y="2048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630168" y="2404872"/>
            <a:ext cx="125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在评价页提交 A–D 与标签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18888" y="2295144"/>
            <a:ext cx="246888" cy="0"/>
          </a:xfrm>
          <a:prstGeom prst="line">
            <a:avLst/>
          </a:prstGeom>
          <a:noFill/>
          <a:ln w="21590">
            <a:solidFill>
              <a:srgbClr val="4350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84648" y="2029968"/>
            <a:ext cx="530352" cy="530352"/>
          </a:xfrm>
          <a:prstGeom prst="ellipse">
            <a:avLst/>
          </a:prstGeom>
          <a:solidFill>
            <a:srgbClr val="27A269"/>
          </a:solidFill>
          <a:ln w="12700">
            <a:solidFill>
              <a:srgbClr val="27A26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4648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897880" y="2048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关联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897880" y="2404872"/>
            <a:ext cx="125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绑定源码快照和代码证据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6600" y="2295144"/>
            <a:ext cx="246888" cy="0"/>
          </a:xfrm>
          <a:prstGeom prst="line">
            <a:avLst/>
          </a:prstGeom>
          <a:noFill/>
          <a:ln w="21590">
            <a:solidFill>
              <a:srgbClr val="4350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52360" y="2029968"/>
            <a:ext cx="530352" cy="530352"/>
          </a:xfrm>
          <a:prstGeom prst="ellipse">
            <a:avLst/>
          </a:prstGeom>
          <a:solidFill>
            <a:srgbClr val="8A6FE8"/>
          </a:solidFill>
          <a:ln w="12700">
            <a:solidFill>
              <a:srgbClr val="8A6FE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165592" y="2048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165592" y="2404872"/>
            <a:ext cx="125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查看指标、问题和功能热区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54312" y="2295144"/>
            <a:ext cx="246888" cy="0"/>
          </a:xfrm>
          <a:prstGeom prst="line">
            <a:avLst/>
          </a:prstGeom>
          <a:noFill/>
          <a:ln w="21590">
            <a:solidFill>
              <a:srgbClr val="4350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20072" y="2029968"/>
            <a:ext cx="530352" cy="530352"/>
          </a:xfrm>
          <a:prstGeom prst="ellipse">
            <a:avLst/>
          </a:prstGeom>
          <a:solidFill>
            <a:srgbClr val="FF715B"/>
          </a:solidFill>
          <a:ln w="12700">
            <a:solidFill>
              <a:srgbClr val="FF715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20072" y="2176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10433304" y="2048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钻取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0433304" y="2404872"/>
            <a:ext cx="125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从图表返回案例评价明细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8368" y="3547872"/>
            <a:ext cx="10844784" cy="2011680"/>
          </a:xfrm>
          <a:prstGeom prst="roundRect">
            <a:avLst>
              <a:gd name="adj" fmla="val 5455"/>
            </a:avLst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B2A4A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96112" y="3794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B8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最小验收条件</a:t>
            </a:r>
            <a:endParaRPr lang="en-US" sz="1520" dirty="0"/>
          </a:p>
        </p:txBody>
      </p:sp>
      <p:sp>
        <p:nvSpPr>
          <p:cNvPr id="34" name="Shape 32"/>
          <p:cNvSpPr/>
          <p:nvPr/>
        </p:nvSpPr>
        <p:spPr>
          <a:xfrm>
            <a:off x="914400" y="4306824"/>
            <a:ext cx="201168" cy="201168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34340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1243584" y="4279392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评价页和质量看板均嵌入现有 agent-web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6172200" y="4306824"/>
            <a:ext cx="201168" cy="201168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434340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6501384" y="4279392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不新建 Agent，能接收现有生成案例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914400" y="4690872"/>
            <a:ext cx="201168" cy="201168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472744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1243584" y="4663440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评价记录可以保存、修改和查询</a:t>
            </a:r>
            <a:endParaRPr lang="en-US" sz="1130" dirty="0"/>
          </a:p>
        </p:txBody>
      </p:sp>
      <p:sp>
        <p:nvSpPr>
          <p:cNvPr id="43" name="Shape 41"/>
          <p:cNvSpPr/>
          <p:nvPr/>
        </p:nvSpPr>
        <p:spPr>
          <a:xfrm>
            <a:off x="6172200" y="4690872"/>
            <a:ext cx="201168" cy="201168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472744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6501384" y="4663440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看板统计与评价明细抽查一致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914400" y="5074920"/>
            <a:ext cx="201168" cy="201168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51114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1243584" y="5047488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案例可追溯到源码 generation / commit</a:t>
            </a:r>
            <a:endParaRPr lang="en-US" sz="1130" dirty="0"/>
          </a:p>
        </p:txBody>
      </p:sp>
      <p:sp>
        <p:nvSpPr>
          <p:cNvPr id="49" name="Shape 47"/>
          <p:cNvSpPr/>
          <p:nvPr/>
        </p:nvSpPr>
        <p:spPr>
          <a:xfrm>
            <a:off x="6172200" y="5074920"/>
            <a:ext cx="201168" cy="201168"/>
          </a:xfrm>
          <a:prstGeom prst="ellipse">
            <a:avLst/>
          </a:prstGeom>
          <a:solidFill>
            <a:srgbClr val="B8F36B"/>
          </a:solidFill>
          <a:ln w="12700">
            <a:solidFill>
              <a:srgbClr val="B8F36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51114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6501384" y="5047488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30 条试评及关键接口、页面测试</a:t>
            </a:r>
            <a:endParaRPr lang="en-US" sz="1130" dirty="0"/>
          </a:p>
        </p:txBody>
      </p:sp>
      <p:sp>
        <p:nvSpPr>
          <p:cNvPr id="52" name="Shape 50"/>
          <p:cNvSpPr/>
          <p:nvPr/>
        </p:nvSpPr>
        <p:spPr>
          <a:xfrm>
            <a:off x="2944368" y="5879592"/>
            <a:ext cx="6309360" cy="310896"/>
          </a:xfrm>
          <a:prstGeom prst="roundRect">
            <a:avLst>
              <a:gd name="adj" fmla="val 50000"/>
            </a:avLst>
          </a:prstGeom>
          <a:solidFill>
            <a:srgbClr val="EAF9D6"/>
          </a:solidFill>
          <a:ln w="12700">
            <a:solidFill>
              <a:srgbClr val="EAF9D6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54096" y="5897880"/>
            <a:ext cx="6089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最终交付 = 2 个网页 + 评价/统计 API + 数据模型 + 1 条真实演示链路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测试效能团队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案例可用性评估看板｜开题汇报</dc:title>
  <dc:subject>AI 生成测试案例的可用性评价、问题标注、质量统计与智能体迭代闭环</dc:subject>
  <dc:creator>MIMO 测试智能体课题组</dc:creator>
  <cp:lastModifiedBy>MIMO 测试智能体课题组</cp:lastModifiedBy>
  <cp:revision>1</cp:revision>
  <dcterms:created xsi:type="dcterms:W3CDTF">2026-07-30T06:19:52Z</dcterms:created>
  <dcterms:modified xsi:type="dcterms:W3CDTF">2026-07-30T06:19:52Z</dcterms:modified>
</cp:coreProperties>
</file>