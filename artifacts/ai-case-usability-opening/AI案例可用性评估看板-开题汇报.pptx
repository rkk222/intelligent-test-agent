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开场先讲清楚：这个课题不是再做一个案例生成器，而是给现有生成能力补上质量反馈闭环。整场汇报围绕“已有底座、关键缺口、目标效果、实施与验收”四部分展开。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建议让新员工记住这句话。课题的业务价值不是“收集评价”本身，而是把评价转成能驱动技能、规约、知识和提示词改进的证据。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这一页用于建立信心：底座能力已经覆盖了工作区、上下文、运行、产物、版本和资产运营。新员工不用重做聊天、编辑器或 Git，只需把精力集中在案例质量域。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强调现有链路的终点仍是“文件存在”。课题要把终点向后延伸：评价结果也要成为正式数据资产，并能回到生成能力的迭代中。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这是给新员工看的边界提示。实现时优先复用现有前端 client、API 规范、领域模型和持久化规范；案例质量是独立业务概念，具体是否新增 Maven 模块，在详细设计阶段按 module-map 和 dependency-rules 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这一页是问题定义。评价闭环至少同时解决口径、版本和证据三个问题，否则只能得到不可比较的主观反馈，不能用于指导智能体迭代。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先强调开发与测试是两类人：开发人员交付被测版本；测试人员在个人测试工作区评价和执行。评价入口要贴近案例生成完成的时刻；若流程太重，覆盖率会下降，因此建议单次评价控制在 30 秒内。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这是最终效果的核心示意。建议以抽屉或侧栏嵌入现有工作台，不让用户跳出生成现场。必须同时支持单案例和批量评价，并自动关联生成版本、Run 和后续修改差异。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四级口径要先做校准。不能把“修改比例”直接当等级，因为少量关键逻辑修改可能影响很大；应以语义和可执行性为主，差异比例和耗时为辅。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问题标签必须能映射到改进行动。例如“预期与断言”通常需要改模板或审核规则，“需求理解”可能需要补输入文档或知识，“范围与覆盖”可能要调整分析 Skill。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结合指定 Codex 任务的结论，评价要同时固化三重身份：被测源码 generation/targetCommit、测试资产与案例版本、测试人员及个人工作区。用户评价的是某一版案例，不是抽象 caseId；Run、Agent、Skill 修订等作为可扩展上下文。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看板数据全部标成演示数据，避免被误认为已有生产结论。真正验收重点是任意指标都能钻到案例明细和评价证据，且筛选后的汇总与明细数量一致。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主指标建议先用“直接可用率”，它最能体现减少人工返工的价值；A+B 可用率可以作为辅助。任何百分比必须同时展示样本量和评价覆盖率。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这一页只讨论案例与开发版本库的分析关系，不把夜间回归纳入课题范围。开发源码快照和测试工作区保持分离；评价记录通过 sourceGeneration/targetCommit、代码路径/API/符号等证据关联案例。源码快照无 .git，若需要版本差异，应在快照物化阶段提前冻结 ChangeSet；该 ChangeSet 是扩展设计，不是当前已实现能力。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MVP 不要把范围扩成自动训练平台。先把高质量反馈数据收集起来，通过人工分析改 Skill、Rule、知识和模板，再用同一评价口径对比修订前后。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对新员工来说，范围控制尤其重要。只有评价入口、数据模型、统计与证据钻取全部打通，才算最小完整产品；自动评分、自动训练和全域标签都留到后续。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按新员工人数可以合并角色，但产品口径、前端、后端数据和测试验收四个责任不能缺失。建议两周一个可演示增量，不要等到最后一周才首次集成。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验收演示要跑一条真实链路，不要只展示静态看板。30 条案例是首轮校准建议样本，不代表生产统计门槛；后续可按应用与案例类型扩大样本。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收尾再次强调：看板只是闭环的可视化部分，真正的交付是统一评价口径、可追溯数据和可验证的智能体迭代机制。开题通过后，第一周立即开始样本与口径校准。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822960"/>
            <a:ext cx="3840480" cy="3840480"/>
          </a:xfrm>
          <a:prstGeom prst="ellipse">
            <a:avLst/>
          </a:prstGeom>
          <a:solidFill>
            <a:srgbClr val="00A896">
              <a:alpha val="2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-228600"/>
            <a:ext cx="2651760" cy="2651760"/>
          </a:xfrm>
          <a:prstGeom prst="ellipse">
            <a:avLst/>
          </a:prstGeom>
          <a:solidFill>
            <a:srgbClr val="B8F36B">
              <a:alpha val="14000"/>
            </a:srgbClr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188720" y="5166360"/>
            <a:ext cx="2926080" cy="2926080"/>
          </a:xfrm>
          <a:prstGeom prst="ellipse">
            <a:avLst/>
          </a:prstGeom>
          <a:solidFill>
            <a:srgbClr val="8A6FE8">
              <a:alpha val="12000"/>
            </a:srgbClr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30352"/>
            <a:ext cx="2212848" cy="310896"/>
          </a:xfrm>
          <a:prstGeom prst="roundRect">
            <a:avLst>
              <a:gd name="adj" fmla="val 50000"/>
            </a:avLst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48640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新员工实战课题 · 开题汇报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58368" y="1078992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案例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可用性评估看板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94944" y="28346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C9D3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从“会生成”走向“可衡量、可定位、可改进”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94944" y="34015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DF7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基于现有 MIMO 测试智能体底座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26680" y="932688"/>
            <a:ext cx="3584448" cy="3584448"/>
          </a:xfrm>
          <a:prstGeom prst="ellipse">
            <a:avLst/>
          </a:prstGeom>
          <a:solidFill>
            <a:srgbClr val="132342"/>
          </a:solidFill>
          <a:ln w="12700">
            <a:solidFill>
              <a:srgbClr val="2A3E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47304" y="1353312"/>
            <a:ext cx="2743200" cy="2743200"/>
          </a:xfrm>
          <a:prstGeom prst="ellipse">
            <a:avLst/>
          </a:prstGeom>
          <a:solidFill>
            <a:srgbClr val="0B1833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67928" y="1773936"/>
            <a:ext cx="1901952" cy="19019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51392" y="1993392"/>
            <a:ext cx="1335024" cy="1417320"/>
          </a:xfrm>
          <a:prstGeom prst="roundRect">
            <a:avLst>
              <a:gd name="adj" fmla="val 8219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25128" y="21762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34856" y="2194560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CASE-017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9015984" y="257860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登录失败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锁定校验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53728" y="2944368"/>
            <a:ext cx="420624" cy="420624"/>
          </a:xfrm>
          <a:prstGeom prst="ellipse">
            <a:avLst/>
          </a:prstGeom>
          <a:solidFill>
            <a:srgbClr val="E1F6EB"/>
          </a:solidFill>
          <a:ln w="12700">
            <a:solidFill>
              <a:srgbClr val="E1F6EB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0472" y="3041112"/>
            <a:ext cx="227137" cy="22713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10515600" y="4325112"/>
            <a:ext cx="960120" cy="1024128"/>
          </a:xfrm>
          <a:prstGeom prst="line">
            <a:avLst/>
          </a:prstGeom>
          <a:noFill/>
          <a:ln w="101600">
            <a:solidFill>
              <a:srgbClr val="00A89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109960" y="4983480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4944" y="521208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4672" y="5230368"/>
            <a:ext cx="841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生成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1764792" y="5367528"/>
            <a:ext cx="137160" cy="0"/>
          </a:xfrm>
          <a:prstGeom prst="line">
            <a:avLst/>
          </a:prstGeom>
          <a:noFill/>
          <a:ln w="21590">
            <a:solidFill>
              <a:srgbClr val="7C8DA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1956816" y="521208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066544" y="5230368"/>
            <a:ext cx="841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评价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026664" y="5367528"/>
            <a:ext cx="137160" cy="0"/>
          </a:xfrm>
          <a:prstGeom prst="line">
            <a:avLst/>
          </a:prstGeom>
          <a:noFill/>
          <a:ln w="21590">
            <a:solidFill>
              <a:srgbClr val="7C8DAA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218688" y="521208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328416" y="5230368"/>
            <a:ext cx="841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洞察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288536" y="5367528"/>
            <a:ext cx="137160" cy="0"/>
          </a:xfrm>
          <a:prstGeom prst="line">
            <a:avLst/>
          </a:prstGeom>
          <a:noFill/>
          <a:ln w="21590">
            <a:solidFill>
              <a:srgbClr val="7C8DAA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4480560" y="521208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90288" y="5230368"/>
            <a:ext cx="841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优化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0652760" y="6263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6984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850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课题定义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先把课题讲成一句话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把每一批 AI 案例的人类反馈，沉淀成可追溯、可统计、可行动的质量证据。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901952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1956816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481328" y="2221992"/>
            <a:ext cx="8961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会生成，只代表有产物；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能被稳定评价，才代表质量可管理。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58368" y="406908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59536" y="4279392"/>
            <a:ext cx="457200" cy="457200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4384548"/>
            <a:ext cx="246888" cy="24688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44752" y="426110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能否直接用？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" y="477316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A/B/C/D 可用性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419856" y="406908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621024" y="4279392"/>
            <a:ext cx="457200" cy="457200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4384548"/>
            <a:ext cx="246888" cy="24688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206240" y="426110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改了多少？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621024" y="477316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修改量与耗时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181344" y="406908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82512" y="4279392"/>
            <a:ext cx="457200" cy="457200"/>
          </a:xfrm>
          <a:prstGeom prst="ellipse">
            <a:avLst/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7668" y="4384548"/>
            <a:ext cx="246888" cy="2468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67728" y="426110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影响哪里？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6382512" y="477316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 / 功能标签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8942832" y="406908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144000" y="4279392"/>
            <a:ext cx="457200" cy="457200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9156" y="4384548"/>
            <a:ext cx="246888" cy="24688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729216" y="426110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问题在哪？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144000" y="477316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问题类型与证据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4261104" y="5833872"/>
            <a:ext cx="3675888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4370832" y="5852160"/>
            <a:ext cx="3456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北极星：直接可用率持续提升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已有底座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我们不是从零开始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当前平台已具备案例生成所需的上下文、运行、资产和工程化能力。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577840" y="651052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879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依据：module-map / user-manual / http-api（2026-07-30）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" y="1901952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121408"/>
            <a:ext cx="512064" cy="512064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455" y="2239183"/>
            <a:ext cx="276515" cy="27651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27048" y="21031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应用与工作区</a:t>
            </a:r>
            <a:endParaRPr lang="en-US" sz="1620" dirty="0"/>
          </a:p>
        </p:txBody>
      </p:sp>
      <p:sp>
        <p:nvSpPr>
          <p:cNvPr id="13" name="Text 10"/>
          <p:cNvSpPr/>
          <p:nvPr/>
        </p:nvSpPr>
        <p:spPr>
          <a:xfrm>
            <a:off x="1527048" y="249631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应用、版本、个人 workspace、需求子条目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1901952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2121408"/>
            <a:ext cx="512064" cy="512064"/>
          </a:xfrm>
          <a:prstGeom prst="ellipse">
            <a:avLst/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775" y="2239183"/>
            <a:ext cx="276515" cy="27651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30368" y="21031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上下文装配</a:t>
            </a:r>
            <a:endParaRPr lang="en-US" sz="1620" dirty="0"/>
          </a:p>
        </p:txBody>
      </p:sp>
      <p:sp>
        <p:nvSpPr>
          <p:cNvPr id="18" name="Text 14"/>
          <p:cNvSpPr/>
          <p:nvPr/>
        </p:nvSpPr>
        <p:spPr>
          <a:xfrm>
            <a:off x="5230368" y="249631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引入需求；@ 选择 Agent / 文件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065008" y="1901952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75320" y="2121408"/>
            <a:ext cx="512064" cy="512064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3095" y="2239183"/>
            <a:ext cx="276515" cy="27651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33688" y="21031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测试设计资产</a:t>
            </a:r>
            <a:endParaRPr lang="en-US" sz="1620" dirty="0"/>
          </a:p>
        </p:txBody>
      </p:sp>
      <p:sp>
        <p:nvSpPr>
          <p:cNvPr id="23" name="Text 18"/>
          <p:cNvSpPr/>
          <p:nvPr/>
        </p:nvSpPr>
        <p:spPr>
          <a:xfrm>
            <a:off x="8933688" y="249631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测试分析、案例生成、案例审核已沉淀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58368" y="3474720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68680" y="3694176"/>
            <a:ext cx="512064" cy="512064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455" y="3811951"/>
            <a:ext cx="276515" cy="27651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27048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会话与运行</a:t>
            </a:r>
            <a:endParaRPr lang="en-US" sz="1620" dirty="0"/>
          </a:p>
        </p:txBody>
      </p:sp>
      <p:sp>
        <p:nvSpPr>
          <p:cNvPr id="28" name="Text 22"/>
          <p:cNvSpPr/>
          <p:nvPr/>
        </p:nvSpPr>
        <p:spPr>
          <a:xfrm>
            <a:off x="1527048" y="406908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/ Run / RunEvent SSE 实时呈现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361688" y="3474720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4572000" y="3694176"/>
            <a:ext cx="512064" cy="512064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775" y="3811951"/>
            <a:ext cx="276515" cy="276515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30368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文件与版本</a:t>
            </a:r>
            <a:endParaRPr lang="en-US" sz="1620" dirty="0"/>
          </a:p>
        </p:txBody>
      </p:sp>
      <p:sp>
        <p:nvSpPr>
          <p:cNvPr id="33" name="Text 26"/>
          <p:cNvSpPr/>
          <p:nvPr/>
        </p:nvSpPr>
        <p:spPr>
          <a:xfrm>
            <a:off x="5230368" y="406908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编辑、Markdown 预览、Diff、Git 留痕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065008" y="3474720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75320" y="3694176"/>
            <a:ext cx="512064" cy="512064"/>
          </a:xfrm>
          <a:prstGeom prst="ellipse">
            <a:avLst/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3095" y="3811951"/>
            <a:ext cx="276515" cy="276515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33688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&amp; Skill Hub</a:t>
            </a:r>
            <a:endParaRPr lang="en-US" sz="1620" dirty="0"/>
          </a:p>
        </p:txBody>
      </p:sp>
      <p:sp>
        <p:nvSpPr>
          <p:cNvPr id="38" name="Text 30"/>
          <p:cNvSpPr/>
          <p:nvPr/>
        </p:nvSpPr>
        <p:spPr>
          <a:xfrm>
            <a:off x="8933688" y="406908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浏览、发布、引用、更新与修订管理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58368" y="5230368"/>
            <a:ext cx="10853928" cy="667512"/>
          </a:xfrm>
          <a:prstGeom prst="roundRect">
            <a:avLst>
              <a:gd name="adj" fmla="val 21918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896112" y="5340096"/>
            <a:ext cx="429768" cy="429768"/>
          </a:xfrm>
          <a:prstGeom prst="ellipse">
            <a:avLst/>
          </a:prstGeom>
          <a:solidFill>
            <a:srgbClr val="21304D"/>
          </a:solidFill>
          <a:ln w="12700">
            <a:solidFill>
              <a:srgbClr val="21304D">
                <a:alpha val="0"/>
              </a:srgbClr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4959" y="5438943"/>
            <a:ext cx="232075" cy="232075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1435608" y="532180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公共地基</a:t>
            </a:r>
            <a:endParaRPr lang="en-US" sz="1100" dirty="0"/>
          </a:p>
        </p:txBody>
      </p:sp>
      <p:sp>
        <p:nvSpPr>
          <p:cNvPr id="43" name="Text 34"/>
          <p:cNvSpPr/>
          <p:nvPr/>
        </p:nvSpPr>
        <p:spPr>
          <a:xfrm>
            <a:off x="2359152" y="53126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 API / traceId / 权限 · 只读源码快照身份 · 个人测试工作区 · 文件与版本治理</a:t>
            </a:r>
            <a:endParaRPr lang="en-US" sz="1240" dirty="0"/>
          </a:p>
        </p:txBody>
      </p:sp>
      <p:sp>
        <p:nvSpPr>
          <p:cNvPr id="44" name="Shape 35"/>
          <p:cNvSpPr/>
          <p:nvPr/>
        </p:nvSpPr>
        <p:spPr>
          <a:xfrm>
            <a:off x="9418320" y="5404104"/>
            <a:ext cx="1810512" cy="310896"/>
          </a:xfrm>
          <a:prstGeom prst="roundRect">
            <a:avLst>
              <a:gd name="adj" fmla="val 50000"/>
            </a:avLst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9528048" y="5422392"/>
            <a:ext cx="1591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课题只补“质量域”</a:t>
            </a:r>
            <a:endParaRPr lang="en-US" sz="1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已有底座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现有案例生成链路已经能跑通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从需求与设计输入，到测试分析、案例生成、审核和文件留痕，已有完整工作路径。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577840" y="651052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879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测试设计 workagent：分析 / 生成 / 审核均标记 implemented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6072" y="1965960"/>
            <a:ext cx="1938528" cy="25146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0664" y="2139696"/>
            <a:ext cx="512064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2157984"/>
            <a:ext cx="2926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792224" y="2093976"/>
            <a:ext cx="512064" cy="512064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9999" y="2211751"/>
            <a:ext cx="276515" cy="27651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0664" y="28163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输入资产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40664" y="3310128"/>
            <a:ext cx="1572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需求子条目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详细设计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规约 / 存量案例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被测版本元数据</a:t>
            </a:r>
            <a:endParaRPr lang="en-US" sz="1230" dirty="0"/>
          </a:p>
        </p:txBody>
      </p:sp>
      <p:sp>
        <p:nvSpPr>
          <p:cNvPr id="16" name="Shape 13"/>
          <p:cNvSpPr/>
          <p:nvPr/>
        </p:nvSpPr>
        <p:spPr>
          <a:xfrm>
            <a:off x="2542032" y="3218688"/>
            <a:ext cx="246888" cy="0"/>
          </a:xfrm>
          <a:prstGeom prst="line">
            <a:avLst/>
          </a:prstGeom>
          <a:noFill/>
          <a:ln w="2159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880360" y="1965960"/>
            <a:ext cx="1938528" cy="25146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044952" y="2139696"/>
            <a:ext cx="512064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54680" y="2157984"/>
            <a:ext cx="2926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096512" y="2093976"/>
            <a:ext cx="512064" cy="512064"/>
          </a:xfrm>
          <a:prstGeom prst="ellipse">
            <a:avLst/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287" y="2211751"/>
            <a:ext cx="276515" cy="276515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044952" y="28163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测试分析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3044952" y="3310128"/>
            <a:ext cx="1572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识别范围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业务流程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关键可测点</a:t>
            </a:r>
            <a:endParaRPr lang="en-US" sz="1230" dirty="0"/>
          </a:p>
        </p:txBody>
      </p:sp>
      <p:sp>
        <p:nvSpPr>
          <p:cNvPr id="24" name="Shape 20"/>
          <p:cNvSpPr/>
          <p:nvPr/>
        </p:nvSpPr>
        <p:spPr>
          <a:xfrm>
            <a:off x="4846320" y="3218688"/>
            <a:ext cx="246888" cy="0"/>
          </a:xfrm>
          <a:prstGeom prst="line">
            <a:avLst/>
          </a:prstGeom>
          <a:noFill/>
          <a:ln w="2159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5184648" y="1965960"/>
            <a:ext cx="1938528" cy="25146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5349240" y="2139696"/>
            <a:ext cx="512064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458968" y="2157984"/>
            <a:ext cx="2926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400800" y="2093976"/>
            <a:ext cx="512064" cy="512064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575" y="2211751"/>
            <a:ext cx="276515" cy="276515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5349240" y="28163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案例生成</a:t>
            </a:r>
            <a:endParaRPr lang="en-US" sz="1700" dirty="0"/>
          </a:p>
        </p:txBody>
      </p:sp>
      <p:sp>
        <p:nvSpPr>
          <p:cNvPr id="31" name="Text 26"/>
          <p:cNvSpPr/>
          <p:nvPr/>
        </p:nvSpPr>
        <p:spPr>
          <a:xfrm>
            <a:off x="5349240" y="3310128"/>
            <a:ext cx="1572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前置条件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步骤 / 数据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预期结果</a:t>
            </a:r>
            <a:endParaRPr lang="en-US" sz="1230" dirty="0"/>
          </a:p>
        </p:txBody>
      </p:sp>
      <p:sp>
        <p:nvSpPr>
          <p:cNvPr id="32" name="Shape 27"/>
          <p:cNvSpPr/>
          <p:nvPr/>
        </p:nvSpPr>
        <p:spPr>
          <a:xfrm>
            <a:off x="7150608" y="3218688"/>
            <a:ext cx="246888" cy="0"/>
          </a:xfrm>
          <a:prstGeom prst="line">
            <a:avLst/>
          </a:prstGeom>
          <a:noFill/>
          <a:ln w="2159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33" name="Shape 28"/>
          <p:cNvSpPr/>
          <p:nvPr/>
        </p:nvSpPr>
        <p:spPr>
          <a:xfrm>
            <a:off x="7488936" y="1965960"/>
            <a:ext cx="1938528" cy="25146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2139696"/>
            <a:ext cx="512064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7763256" y="2157984"/>
            <a:ext cx="2926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8705088" y="2093976"/>
            <a:ext cx="512064" cy="512064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2863" y="2211751"/>
            <a:ext cx="276515" cy="276515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7653528" y="28163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案例审核</a:t>
            </a:r>
            <a:endParaRPr lang="en-US" sz="1700" dirty="0"/>
          </a:p>
        </p:txBody>
      </p:sp>
      <p:sp>
        <p:nvSpPr>
          <p:cNvPr id="39" name="Text 33"/>
          <p:cNvSpPr/>
          <p:nvPr/>
        </p:nvSpPr>
        <p:spPr>
          <a:xfrm>
            <a:off x="7653528" y="3310128"/>
            <a:ext cx="1572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完整性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一致性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可执行性检查</a:t>
            </a:r>
            <a:endParaRPr lang="en-US" sz="1230" dirty="0"/>
          </a:p>
        </p:txBody>
      </p:sp>
      <p:sp>
        <p:nvSpPr>
          <p:cNvPr id="40" name="Shape 34"/>
          <p:cNvSpPr/>
          <p:nvPr/>
        </p:nvSpPr>
        <p:spPr>
          <a:xfrm>
            <a:off x="9454896" y="3218688"/>
            <a:ext cx="246888" cy="0"/>
          </a:xfrm>
          <a:prstGeom prst="line">
            <a:avLst/>
          </a:prstGeom>
          <a:noFill/>
          <a:ln w="2159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41" name="Shape 35"/>
          <p:cNvSpPr/>
          <p:nvPr/>
        </p:nvSpPr>
        <p:spPr>
          <a:xfrm>
            <a:off x="9793224" y="1965960"/>
            <a:ext cx="1938528" cy="25146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9957816" y="2139696"/>
            <a:ext cx="512064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10067544" y="2157984"/>
            <a:ext cx="2926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50" dirty="0"/>
          </a:p>
        </p:txBody>
      </p:sp>
      <p:sp>
        <p:nvSpPr>
          <p:cNvPr id="44" name="Shape 38"/>
          <p:cNvSpPr/>
          <p:nvPr/>
        </p:nvSpPr>
        <p:spPr>
          <a:xfrm>
            <a:off x="11009376" y="2093976"/>
            <a:ext cx="512064" cy="512064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7151" y="2211751"/>
            <a:ext cx="276515" cy="276515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9957816" y="28163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产物沉淀</a:t>
            </a:r>
            <a:endParaRPr lang="en-US" sz="1700" dirty="0"/>
          </a:p>
        </p:txBody>
      </p:sp>
      <p:sp>
        <p:nvSpPr>
          <p:cNvPr id="47" name="Text 40"/>
          <p:cNvSpPr/>
          <p:nvPr/>
        </p:nvSpPr>
        <p:spPr>
          <a:xfrm>
            <a:off x="9957816" y="3310128"/>
            <a:ext cx="1572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案例文件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预览 / 编辑</a:t>
            </a:r>
            <a:endParaRPr lang="en-US" sz="123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 / Git</a:t>
            </a:r>
            <a:endParaRPr lang="en-US" sz="1230" dirty="0"/>
          </a:p>
        </p:txBody>
      </p:sp>
      <p:sp>
        <p:nvSpPr>
          <p:cNvPr id="48" name="Shape 41"/>
          <p:cNvSpPr/>
          <p:nvPr/>
        </p:nvSpPr>
        <p:spPr>
          <a:xfrm>
            <a:off x="960120" y="4882896"/>
            <a:ext cx="10058400" cy="804672"/>
          </a:xfrm>
          <a:prstGeom prst="roundRect">
            <a:avLst>
              <a:gd name="adj" fmla="val 13636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49" name="Text 42"/>
          <p:cNvSpPr/>
          <p:nvPr/>
        </p:nvSpPr>
        <p:spPr>
          <a:xfrm>
            <a:off x="1197864" y="50840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当前终点</a:t>
            </a:r>
            <a:endParaRPr lang="en-US" sz="1100" dirty="0"/>
          </a:p>
        </p:txBody>
      </p:sp>
      <p:sp>
        <p:nvSpPr>
          <p:cNvPr id="50" name="Text 43"/>
          <p:cNvSpPr/>
          <p:nvPr/>
        </p:nvSpPr>
        <p:spPr>
          <a:xfrm>
            <a:off x="2020824" y="500176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“案例已经生成并保存”</a:t>
            </a:r>
            <a:endParaRPr lang="en-US" sz="1800" dirty="0"/>
          </a:p>
        </p:txBody>
      </p:sp>
      <p:sp>
        <p:nvSpPr>
          <p:cNvPr id="51" name="Shape 44"/>
          <p:cNvSpPr/>
          <p:nvPr/>
        </p:nvSpPr>
        <p:spPr>
          <a:xfrm>
            <a:off x="5138928" y="5294376"/>
            <a:ext cx="694944" cy="0"/>
          </a:xfrm>
          <a:prstGeom prst="line">
            <a:avLst/>
          </a:prstGeom>
          <a:noFill/>
          <a:ln w="21590">
            <a:solidFill>
              <a:srgbClr val="FF715B"/>
            </a:solidFill>
            <a:prstDash val="solid"/>
            <a:tailEnd type="triangle"/>
          </a:ln>
        </p:spPr>
      </p:sp>
      <p:sp>
        <p:nvSpPr>
          <p:cNvPr id="52" name="Text 45"/>
          <p:cNvSpPr/>
          <p:nvPr/>
        </p:nvSpPr>
        <p:spPr>
          <a:xfrm>
            <a:off x="6099048" y="500176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尚未回答：它到底好不好用？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已有底座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复用什么，新增什么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新功能嵌入现有分层：浏览器只访问平台 API，评估数据进入平台持久化与权限体系。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13232" y="1810512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195681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975104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体验层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2075688" y="192938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agent-web</a:t>
            </a:r>
            <a:endParaRPr lang="en-US" sz="1330" dirty="0"/>
          </a:p>
        </p:txBody>
      </p:sp>
      <p:sp>
        <p:nvSpPr>
          <p:cNvPr id="12" name="Text 10"/>
          <p:cNvSpPr/>
          <p:nvPr/>
        </p:nvSpPr>
        <p:spPr>
          <a:xfrm>
            <a:off x="4736592" y="1929384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评价入口 · 案例详情 · 统计看板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3232" y="2615184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276148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2779776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 API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2075688" y="273405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backend-api + test-agent-api</a:t>
            </a:r>
            <a:endParaRPr lang="en-US" sz="1330" dirty="0"/>
          </a:p>
        </p:txBody>
      </p:sp>
      <p:sp>
        <p:nvSpPr>
          <p:cNvPr id="17" name="Text 15"/>
          <p:cNvSpPr/>
          <p:nvPr/>
        </p:nvSpPr>
        <p:spPr>
          <a:xfrm>
            <a:off x="4736592" y="2734056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统一响应 · 鉴权 · traceId · 分页筛选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3419856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0B132B"/>
          </a:solidFill>
          <a:ln w="12700">
            <a:solidFill>
              <a:srgbClr val="0B13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112" y="356616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584448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质量业务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2075688" y="3538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新增案例质量域</a:t>
            </a:r>
            <a:endParaRPr lang="en-US" sz="1330" dirty="0"/>
          </a:p>
        </p:txBody>
      </p:sp>
      <p:sp>
        <p:nvSpPr>
          <p:cNvPr id="22" name="Text 20"/>
          <p:cNvSpPr/>
          <p:nvPr/>
        </p:nvSpPr>
        <p:spPr>
          <a:xfrm>
            <a:off x="4736592" y="3538728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CBD5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评价口径 · 标签体系 · 指标计算 · 钻取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224528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6112" y="437083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389120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运行与资产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2075688" y="43434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/ Workspace / Snapshot / Hub</a:t>
            </a:r>
            <a:endParaRPr lang="en-US" sz="1330" dirty="0"/>
          </a:p>
        </p:txBody>
      </p:sp>
      <p:sp>
        <p:nvSpPr>
          <p:cNvPr id="27" name="Text 25"/>
          <p:cNvSpPr/>
          <p:nvPr/>
        </p:nvSpPr>
        <p:spPr>
          <a:xfrm>
            <a:off x="4736592" y="434340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关联生成上下文、源码快照、个人空间与技能修订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13232" y="5029200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" y="51755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5193792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数据层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2075688" y="514807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+ persistence</a:t>
            </a:r>
            <a:endParaRPr lang="en-US" sz="1330" dirty="0"/>
          </a:p>
        </p:txBody>
      </p:sp>
      <p:sp>
        <p:nvSpPr>
          <p:cNvPr id="32" name="Text 30"/>
          <p:cNvSpPr/>
          <p:nvPr/>
        </p:nvSpPr>
        <p:spPr>
          <a:xfrm>
            <a:off x="4736592" y="5148072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MyBatis XML · Flyway · 审计字段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092440" y="2011680"/>
            <a:ext cx="2816352" cy="2761488"/>
          </a:xfrm>
          <a:prstGeom prst="roundRect">
            <a:avLst>
              <a:gd name="adj" fmla="val 5960"/>
            </a:avLst>
          </a:prstGeom>
          <a:solidFill>
            <a:srgbClr val="17213D"/>
          </a:solidFill>
          <a:ln w="12700">
            <a:solidFill>
              <a:srgbClr val="17213D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86800" y="2487168"/>
            <a:ext cx="1627632" cy="1627632"/>
          </a:xfrm>
          <a:prstGeom prst="ellipse">
            <a:avLst/>
          </a:prstGeom>
          <a:solidFill>
            <a:srgbClr val="1D315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43416" y="2843784"/>
            <a:ext cx="914400" cy="9144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35440" y="3035808"/>
            <a:ext cx="530352" cy="530352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421" y="3157789"/>
            <a:ext cx="286390" cy="28639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8449056" y="370332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Quality</a:t>
            </a:r>
            <a:endParaRPr lang="en-US" sz="1700" dirty="0"/>
          </a:p>
        </p:txBody>
      </p:sp>
      <p:sp>
        <p:nvSpPr>
          <p:cNvPr id="39" name="Text 36"/>
          <p:cNvSpPr/>
          <p:nvPr/>
        </p:nvSpPr>
        <p:spPr>
          <a:xfrm>
            <a:off x="8823960" y="41148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新增核心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58952" y="60167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边界建议在详细设计评审后定版，避免把业务逻辑塞进 API 或 app 启动模块。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822960"/>
            <a:ext cx="3840480" cy="3840480"/>
          </a:xfrm>
          <a:prstGeom prst="ellipse">
            <a:avLst/>
          </a:prstGeom>
          <a:solidFill>
            <a:srgbClr val="00A896">
              <a:alpha val="2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-228600"/>
            <a:ext cx="2651760" cy="2651760"/>
          </a:xfrm>
          <a:prstGeom prst="ellipse">
            <a:avLst/>
          </a:prstGeom>
          <a:solidFill>
            <a:srgbClr val="B8F36B">
              <a:alpha val="14000"/>
            </a:srgbClr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188720" y="5166360"/>
            <a:ext cx="2926080" cy="2926080"/>
          </a:xfrm>
          <a:prstGeom prst="ellipse">
            <a:avLst/>
          </a:prstGeom>
          <a:solidFill>
            <a:srgbClr val="8A6FE8">
              <a:alpha val="12000"/>
            </a:srgbClr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30352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48640"/>
            <a:ext cx="12618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核心缺口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58368" y="1207008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缺的不是另一个“生成”按钮，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而是一条可信的评价闭环。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85800" y="3310128"/>
            <a:ext cx="603504" cy="6035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45643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81328" y="3291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可用性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81328" y="368503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B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能否直接投入使用？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3493008" y="3310128"/>
            <a:ext cx="603504" cy="6035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3008" y="345643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88536" y="3291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修改量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288536" y="368503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B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需要人工改多少？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6300216" y="3310128"/>
            <a:ext cx="603504" cy="6035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0216" y="345643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95744" y="3291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影响面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095744" y="368503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B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哪些功能最容易出问题？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9107424" y="3310128"/>
            <a:ext cx="603504" cy="603504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424" y="345643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902952" y="3291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问题型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02952" y="368503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B7C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错误集中在哪些类型？</a:t>
            </a:r>
            <a:endParaRPr lang="en-US" sz="1180" dirty="0"/>
          </a:p>
        </p:txBody>
      </p:sp>
      <p:sp>
        <p:nvSpPr>
          <p:cNvPr id="24" name="Shape 22"/>
          <p:cNvSpPr/>
          <p:nvPr/>
        </p:nvSpPr>
        <p:spPr>
          <a:xfrm>
            <a:off x="667512" y="4892040"/>
            <a:ext cx="10817352" cy="850392"/>
          </a:xfrm>
          <a:prstGeom prst="roundRect">
            <a:avLst>
              <a:gd name="adj" fmla="val 18280"/>
            </a:avLst>
          </a:prstGeom>
          <a:solidFill>
            <a:srgbClr val="14213B"/>
          </a:solidFill>
          <a:ln w="12700">
            <a:solidFill>
              <a:srgbClr val="273C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13892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没有统一口径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487168" y="5138928"/>
            <a:ext cx="1499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反馈不可比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133088" y="513892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没有版本关联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96712" y="51389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改进无法验证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513892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没有证据钻取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06840" y="51389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看板只剩“漂亮数字”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FA1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目标产品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先分清两类人，再服务三类角色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开发人员交付被测版本；测试人员在个人测试工作区评价、设计和执行。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577840" y="651052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879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结合 Codex 任务 019fae77… 的角色与工作区边界结论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2505456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29968"/>
            <a:ext cx="530352" cy="530352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61" y="2151949"/>
            <a:ext cx="286390" cy="28639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27048" y="199339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开发人员</a:t>
            </a:r>
            <a:endParaRPr lang="en-US" sz="1430" dirty="0"/>
          </a:p>
        </p:txBody>
      </p:sp>
      <p:sp>
        <p:nvSpPr>
          <p:cNvPr id="13" name="Text 10"/>
          <p:cNvSpPr/>
          <p:nvPr/>
        </p:nvSpPr>
        <p:spPr>
          <a:xfrm>
            <a:off x="1527048" y="236829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交付固定提交的只读源码快照；不进入测试人员个人工作区。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3429000" y="1828800"/>
            <a:ext cx="2505456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39312" y="2029968"/>
            <a:ext cx="530352" cy="530352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293" y="2151949"/>
            <a:ext cx="286390" cy="28639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297680" y="199339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测试人员 / 审核人</a:t>
            </a:r>
            <a:endParaRPr lang="en-US" sz="1430" dirty="0"/>
          </a:p>
        </p:txBody>
      </p:sp>
      <p:sp>
        <p:nvSpPr>
          <p:cNvPr id="18" name="Text 14"/>
          <p:cNvSpPr/>
          <p:nvPr/>
        </p:nvSpPr>
        <p:spPr>
          <a:xfrm>
            <a:off x="4297680" y="236829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在个人测试工作区判断可用性，补充标签和说明。</a:t>
            </a:r>
            <a:endParaRPr lang="en-US" sz="1020" dirty="0"/>
          </a:p>
        </p:txBody>
      </p:sp>
      <p:sp>
        <p:nvSpPr>
          <p:cNvPr id="19" name="Shape 15"/>
          <p:cNvSpPr/>
          <p:nvPr/>
        </p:nvSpPr>
        <p:spPr>
          <a:xfrm>
            <a:off x="6199632" y="1828800"/>
            <a:ext cx="2505456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9944" y="2029968"/>
            <a:ext cx="530352" cy="530352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925" y="2151949"/>
            <a:ext cx="286390" cy="28639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068312" y="199339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测试负责人</a:t>
            </a:r>
            <a:endParaRPr lang="en-US" sz="1430" dirty="0"/>
          </a:p>
        </p:txBody>
      </p:sp>
      <p:sp>
        <p:nvSpPr>
          <p:cNvPr id="23" name="Text 18"/>
          <p:cNvSpPr/>
          <p:nvPr/>
        </p:nvSpPr>
        <p:spPr>
          <a:xfrm>
            <a:off x="7068312" y="236829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看团队质量趋势、功能风险和评价覆盖。</a:t>
            </a:r>
            <a:endParaRPr lang="en-US" sz="1020" dirty="0"/>
          </a:p>
        </p:txBody>
      </p:sp>
      <p:sp>
        <p:nvSpPr>
          <p:cNvPr id="24" name="Shape 19"/>
          <p:cNvSpPr/>
          <p:nvPr/>
        </p:nvSpPr>
        <p:spPr>
          <a:xfrm>
            <a:off x="8970264" y="1828800"/>
            <a:ext cx="2505456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180576" y="2029968"/>
            <a:ext cx="530352" cy="530352"/>
          </a:xfrm>
          <a:prstGeom prst="ellipse">
            <a:avLst/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557" y="2151949"/>
            <a:ext cx="286390" cy="28639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38944" y="199339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/ Skill 负责人</a:t>
            </a:r>
            <a:endParaRPr lang="en-US" sz="1430" dirty="0"/>
          </a:p>
        </p:txBody>
      </p:sp>
      <p:sp>
        <p:nvSpPr>
          <p:cNvPr id="28" name="Text 22"/>
          <p:cNvSpPr/>
          <p:nvPr/>
        </p:nvSpPr>
        <p:spPr>
          <a:xfrm>
            <a:off x="9838944" y="236829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定位高频问题，比较修订前后效果。</a:t>
            </a:r>
            <a:endParaRPr lang="en-US" sz="1020" dirty="0"/>
          </a:p>
        </p:txBody>
      </p:sp>
      <p:sp>
        <p:nvSpPr>
          <p:cNvPr id="29" name="Shape 23"/>
          <p:cNvSpPr/>
          <p:nvPr/>
        </p:nvSpPr>
        <p:spPr>
          <a:xfrm>
            <a:off x="1261872" y="4434840"/>
            <a:ext cx="9646920" cy="0"/>
          </a:xfrm>
          <a:prstGeom prst="line">
            <a:avLst/>
          </a:prstGeom>
          <a:noFill/>
          <a:ln w="25400">
            <a:solidFill>
              <a:srgbClr val="B8C6D9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24128" y="4114800"/>
            <a:ext cx="640080" cy="6400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279392"/>
            <a:ext cx="310896" cy="310896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12648" y="492861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生成完成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338328" y="5303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弹出轻量评价入口</a:t>
            </a:r>
            <a:endParaRPr lang="en-US" sz="1130" dirty="0"/>
          </a:p>
        </p:txBody>
      </p:sp>
      <p:sp>
        <p:nvSpPr>
          <p:cNvPr id="34" name="Shape 27"/>
          <p:cNvSpPr/>
          <p:nvPr/>
        </p:nvSpPr>
        <p:spPr>
          <a:xfrm>
            <a:off x="3904488" y="4114800"/>
            <a:ext cx="640080" cy="640080"/>
          </a:xfrm>
          <a:prstGeom prst="ellipse">
            <a:avLst/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0" y="4279392"/>
            <a:ext cx="310896" cy="31089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3493008" y="492861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人工修改</a:t>
            </a:r>
            <a:endParaRPr lang="en-US" sz="1450" dirty="0"/>
          </a:p>
        </p:txBody>
      </p:sp>
      <p:sp>
        <p:nvSpPr>
          <p:cNvPr id="37" name="Text 29"/>
          <p:cNvSpPr/>
          <p:nvPr/>
        </p:nvSpPr>
        <p:spPr>
          <a:xfrm>
            <a:off x="3218688" y="5303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自动记录前后差异</a:t>
            </a:r>
            <a:endParaRPr lang="en-US" sz="1130" dirty="0"/>
          </a:p>
        </p:txBody>
      </p:sp>
      <p:sp>
        <p:nvSpPr>
          <p:cNvPr id="38" name="Shape 30"/>
          <p:cNvSpPr/>
          <p:nvPr/>
        </p:nvSpPr>
        <p:spPr>
          <a:xfrm>
            <a:off x="6784848" y="4114800"/>
            <a:ext cx="640080" cy="640080"/>
          </a:xfrm>
          <a:prstGeom prst="ellipse">
            <a:avLst/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4279392"/>
            <a:ext cx="310896" cy="310896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373368" y="492861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每周复盘</a:t>
            </a:r>
            <a:endParaRPr lang="en-US" sz="1450" dirty="0"/>
          </a:p>
        </p:txBody>
      </p:sp>
      <p:sp>
        <p:nvSpPr>
          <p:cNvPr id="41" name="Text 32"/>
          <p:cNvSpPr/>
          <p:nvPr/>
        </p:nvSpPr>
        <p:spPr>
          <a:xfrm>
            <a:off x="6099048" y="5303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看趋势、问题与功能热区</a:t>
            </a:r>
            <a:endParaRPr lang="en-US" sz="1130" dirty="0"/>
          </a:p>
        </p:txBody>
      </p:sp>
      <p:sp>
        <p:nvSpPr>
          <p:cNvPr id="42" name="Shape 33"/>
          <p:cNvSpPr/>
          <p:nvPr/>
        </p:nvSpPr>
        <p:spPr>
          <a:xfrm>
            <a:off x="9665208" y="4114800"/>
            <a:ext cx="640080" cy="640080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9800" y="4279392"/>
            <a:ext cx="310896" cy="310896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253728" y="492861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技能发布前</a:t>
            </a:r>
            <a:endParaRPr lang="en-US" sz="1450" dirty="0"/>
          </a:p>
        </p:txBody>
      </p:sp>
      <p:sp>
        <p:nvSpPr>
          <p:cNvPr id="45" name="Text 35"/>
          <p:cNvSpPr/>
          <p:nvPr/>
        </p:nvSpPr>
        <p:spPr>
          <a:xfrm>
            <a:off x="8979408" y="5303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对比修订前后质量</a:t>
            </a:r>
            <a:endParaRPr lang="en-US" sz="1130" dirty="0"/>
          </a:p>
        </p:txBody>
      </p:sp>
      <p:sp>
        <p:nvSpPr>
          <p:cNvPr id="46" name="Shape 36"/>
          <p:cNvSpPr/>
          <p:nvPr/>
        </p:nvSpPr>
        <p:spPr>
          <a:xfrm>
            <a:off x="4242816" y="5943600"/>
            <a:ext cx="370332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352544" y="5961888"/>
            <a:ext cx="34838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核心体验要求：评价动作 ≤ 30 秒</a:t>
            </a:r>
            <a:endParaRPr lang="en-US" sz="11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目标产品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目标体验：生成后 30 秒完成评价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案例列表、案例正文和评价抽屉同屏；评价结果与当前生成版本绑定。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700784"/>
            <a:ext cx="11183112" cy="4480560"/>
          </a:xfrm>
          <a:prstGeom prst="roundRect">
            <a:avLst>
              <a:gd name="adj" fmla="val 2449"/>
            </a:avLst>
          </a:prstGeom>
          <a:solidFill>
            <a:srgbClr val="F8FAFD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00784"/>
            <a:ext cx="11183112" cy="438912"/>
          </a:xfrm>
          <a:prstGeom prst="roundRect">
            <a:avLst>
              <a:gd name="adj" fmla="val 25000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1856232"/>
            <a:ext cx="100584" cy="100584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56232"/>
            <a:ext cx="100584" cy="100584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1856232"/>
            <a:ext cx="100584" cy="10058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53312" y="1810512"/>
            <a:ext cx="576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DDE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案例质量工作台 · 支付应用 / S20260730-001 / Run #2841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040112" y="1773936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03552"/>
          </a:solidFill>
          <a:ln w="12700">
            <a:solidFill>
              <a:srgbClr val="20355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49840" y="1792224"/>
            <a:ext cx="1024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已评价 2 / 3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94944" y="2313432"/>
            <a:ext cx="2331720" cy="358444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24871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案例列表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1947672" y="2450592"/>
            <a:ext cx="832104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57400" y="24688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批量评价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22960" y="2898648"/>
            <a:ext cx="2066544" cy="621792"/>
          </a:xfrm>
          <a:prstGeom prst="roundRect">
            <a:avLst>
              <a:gd name="adj" fmla="val 13235"/>
            </a:avLst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2980944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TC-001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50976" y="318211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登录成功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2432304" y="30540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1F6EB"/>
          </a:solidFill>
          <a:ln w="12700">
            <a:solidFill>
              <a:srgbClr val="E1F6E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42032" y="3072384"/>
            <a:ext cx="91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822960" y="3685032"/>
            <a:ext cx="2066544" cy="621792"/>
          </a:xfrm>
          <a:prstGeom prst="roundRect">
            <a:avLst>
              <a:gd name="adj" fmla="val 13235"/>
            </a:avLst>
          </a:prstGeom>
          <a:solidFill>
            <a:srgbClr val="DDF7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3767328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TC-002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950976" y="39684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失败次数与锁定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2432304" y="384048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42032" y="3858768"/>
            <a:ext cx="91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822960" y="4471416"/>
            <a:ext cx="2066544" cy="621792"/>
          </a:xfrm>
          <a:prstGeom prst="roundRect">
            <a:avLst>
              <a:gd name="adj" fmla="val 13235"/>
            </a:avLst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" y="4553712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TC-003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950976" y="47548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解锁后再次登录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2432304" y="462686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42032" y="4645152"/>
            <a:ext cx="91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896112" y="5394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筛选：未评价 · C/D · 有问题标签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3172968" y="2313432"/>
            <a:ext cx="475488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92424" y="2487168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02152" y="2505456"/>
            <a:ext cx="10789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· v3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3392424" y="2816352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TC-002  连续失败后锁定账户</a:t>
            </a:r>
            <a:endParaRPr lang="en-US" sz="1620" dirty="0"/>
          </a:p>
        </p:txBody>
      </p:sp>
      <p:sp>
        <p:nvSpPr>
          <p:cNvPr id="40" name="Text 38"/>
          <p:cNvSpPr/>
          <p:nvPr/>
        </p:nvSpPr>
        <p:spPr>
          <a:xfrm>
            <a:off x="3401568" y="3273552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前置条件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142232" y="3255264"/>
            <a:ext cx="3410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用户已注册，账户状态正常</a:t>
            </a:r>
            <a:endParaRPr lang="en-US" sz="1080" dirty="0"/>
          </a:p>
        </p:txBody>
      </p:sp>
      <p:sp>
        <p:nvSpPr>
          <p:cNvPr id="42" name="Shape 40"/>
          <p:cNvSpPr/>
          <p:nvPr/>
        </p:nvSpPr>
        <p:spPr>
          <a:xfrm>
            <a:off x="3401568" y="3776472"/>
            <a:ext cx="4160520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01568" y="3959352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测试步骤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142232" y="3941064"/>
            <a:ext cx="3410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连续输入错误密码 5 次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第 6 次输入正确密码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3401568" y="4462272"/>
            <a:ext cx="4160520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1568" y="4645152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预期结果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142232" y="4626864"/>
            <a:ext cx="3410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账户被锁定；正确密码仍禁止登录，并提示解锁方式</a:t>
            </a:r>
            <a:endParaRPr lang="en-US" sz="1080" dirty="0"/>
          </a:p>
        </p:txBody>
      </p:sp>
      <p:sp>
        <p:nvSpPr>
          <p:cNvPr id="48" name="Shape 46"/>
          <p:cNvSpPr/>
          <p:nvPr/>
        </p:nvSpPr>
        <p:spPr>
          <a:xfrm>
            <a:off x="3401568" y="5468112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11296" y="5486400"/>
            <a:ext cx="9509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946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修改差异 3 处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4709160" y="5468112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补充锁定阈值  + 明确断言  + 增加解锁提示</a:t>
            </a:r>
            <a:endParaRPr lang="en-US" sz="940" dirty="0"/>
          </a:p>
        </p:txBody>
      </p:sp>
      <p:sp>
        <p:nvSpPr>
          <p:cNvPr id="51" name="Shape 49"/>
          <p:cNvSpPr/>
          <p:nvPr/>
        </p:nvSpPr>
        <p:spPr>
          <a:xfrm>
            <a:off x="8083296" y="2313432"/>
            <a:ext cx="3401568" cy="3584448"/>
          </a:xfrm>
          <a:prstGeom prst="roundRect">
            <a:avLst>
              <a:gd name="adj" fmla="val 2688"/>
            </a:avLst>
          </a:prstGeom>
          <a:solidFill>
            <a:srgbClr val="F2F7FB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02752" y="25054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评价本案例</a:t>
            </a:r>
            <a:endParaRPr lang="en-US" sz="1450" dirty="0"/>
          </a:p>
        </p:txBody>
      </p:sp>
      <p:sp>
        <p:nvSpPr>
          <p:cNvPr id="53" name="Shape 51"/>
          <p:cNvSpPr/>
          <p:nvPr/>
        </p:nvSpPr>
        <p:spPr>
          <a:xfrm>
            <a:off x="10579608" y="2478024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89336" y="2496312"/>
            <a:ext cx="338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311896" y="29169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可用性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8311896" y="3191256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21624" y="3209544"/>
            <a:ext cx="10424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直接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9720072" y="3191256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829800" y="3209544"/>
            <a:ext cx="10424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小改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11896" y="3611880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21624" y="3630168"/>
            <a:ext cx="10424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6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大改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9720072" y="3611880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829800" y="3630168"/>
            <a:ext cx="10424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不可用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311896" y="40873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问题类型（多选）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11896" y="435254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21624" y="4370832"/>
            <a:ext cx="60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预期结果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9217152" y="435254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26880" y="4370832"/>
            <a:ext cx="60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业务规则</a:t>
            </a:r>
            <a:endParaRPr lang="en-US" sz="880" dirty="0"/>
          </a:p>
        </p:txBody>
      </p:sp>
      <p:sp>
        <p:nvSpPr>
          <p:cNvPr id="69" name="Shape 67"/>
          <p:cNvSpPr/>
          <p:nvPr/>
        </p:nvSpPr>
        <p:spPr>
          <a:xfrm>
            <a:off x="10122408" y="435254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32136" y="4370832"/>
            <a:ext cx="603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46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测试数据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8311896" y="482803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影响功能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9006840" y="4773168"/>
            <a:ext cx="1618488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116568" y="4791456"/>
            <a:ext cx="1399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 / 登录 / 锁定</a:t>
            </a:r>
            <a:endParaRPr lang="en-US" sz="890" dirty="0"/>
          </a:p>
        </p:txBody>
      </p:sp>
      <p:sp>
        <p:nvSpPr>
          <p:cNvPr id="74" name="Text 72"/>
          <p:cNvSpPr/>
          <p:nvPr/>
        </p:nvSpPr>
        <p:spPr>
          <a:xfrm>
            <a:off x="8311896" y="52120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说明：阈值来自详细设计 5.2，生成时遗漏。</a:t>
            </a:r>
            <a:endParaRPr lang="en-US" sz="940" dirty="0"/>
          </a:p>
        </p:txBody>
      </p:sp>
      <p:sp>
        <p:nvSpPr>
          <p:cNvPr id="75" name="Shape 73"/>
          <p:cNvSpPr/>
          <p:nvPr/>
        </p:nvSpPr>
        <p:spPr>
          <a:xfrm>
            <a:off x="9674352" y="549554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784080" y="5513832"/>
            <a:ext cx="11978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保存评价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目标产品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评价口径：统一四级可用性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等级按“是否改变案例语义和可执行性”判断；修改比例只作为辅助证据。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883664"/>
            <a:ext cx="2505456" cy="2350008"/>
          </a:xfrm>
          <a:prstGeom prst="roundRect">
            <a:avLst>
              <a:gd name="adj" fmla="val 466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59536" y="2084832"/>
            <a:ext cx="658368" cy="658368"/>
          </a:xfrm>
          <a:prstGeom prst="ellipse">
            <a:avLst/>
          </a:prstGeom>
          <a:solidFill>
            <a:srgbClr val="E1F6EB"/>
          </a:solidFill>
          <a:ln w="12700">
            <a:solidFill>
              <a:srgbClr val="E1F6EB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23113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73352" y="2121408"/>
            <a:ext cx="1216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直接可用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77824" y="284378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无需语义修改，可直接进入评审或执行。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3730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E1F6EB"/>
          </a:solidFill>
          <a:ln w="12700">
            <a:solidFill>
              <a:srgbClr val="E1F6E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374904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主指标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419856" y="1883664"/>
            <a:ext cx="2505456" cy="2350008"/>
          </a:xfrm>
          <a:prstGeom prst="roundRect">
            <a:avLst>
              <a:gd name="adj" fmla="val 466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21024" y="2084832"/>
            <a:ext cx="658368" cy="658368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1024" y="223113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34840" y="2121408"/>
            <a:ext cx="1216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小改可用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639312" y="284378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仅补充措辞、数据、局部步骤；核心场景不变。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39312" y="3730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49040" y="374904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181344" y="1883664"/>
            <a:ext cx="2505456" cy="2350008"/>
          </a:xfrm>
          <a:prstGeom prst="roundRect">
            <a:avLst>
              <a:gd name="adj" fmla="val 466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82512" y="2084832"/>
            <a:ext cx="658368" cy="658368"/>
          </a:xfrm>
          <a:prstGeom prst="ellipse">
            <a:avLst/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223113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B72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196328" y="2121408"/>
            <a:ext cx="1216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大改可用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0" y="284378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需重构场景、步骤或预期结果后才能使用。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0" y="3730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10528" y="374904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9B72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8942832" y="1883664"/>
            <a:ext cx="2505456" cy="2350008"/>
          </a:xfrm>
          <a:prstGeom prst="roundRect">
            <a:avLst>
              <a:gd name="adj" fmla="val 466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44000" y="2084832"/>
            <a:ext cx="658368" cy="658368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223113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957816" y="2121408"/>
            <a:ext cx="1216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不可用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9162288" y="284378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理解方向错误、无法执行，建议废弃并重写。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162288" y="3730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72016" y="374904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废弃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58368" y="4617720"/>
            <a:ext cx="6858000" cy="960120"/>
          </a:xfrm>
          <a:prstGeom prst="roundRect">
            <a:avLst>
              <a:gd name="adj" fmla="val 11429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96112" y="4846320"/>
            <a:ext cx="457200" cy="457200"/>
          </a:xfrm>
          <a:prstGeom prst="ellipse">
            <a:avLst/>
          </a:prstGeom>
          <a:solidFill>
            <a:srgbClr val="21304D"/>
          </a:solidFill>
          <a:ln w="12700">
            <a:solidFill>
              <a:srgbClr val="21304D">
                <a:alpha val="0"/>
              </a:srgbClr>
            </a:solidFill>
            <a:prstDash val="solid"/>
          </a:ln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4951476"/>
            <a:ext cx="246888" cy="246888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1472184" y="47823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校准机制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2404872" y="47548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 30 条样例做双人盲评；分歧案例形成判例库，持续更新口径说明。</a:t>
            </a:r>
            <a:endParaRPr lang="en-US" sz="1320" dirty="0"/>
          </a:p>
        </p:txBody>
      </p:sp>
      <p:sp>
        <p:nvSpPr>
          <p:cNvPr id="41" name="Shape 38"/>
          <p:cNvSpPr/>
          <p:nvPr/>
        </p:nvSpPr>
        <p:spPr>
          <a:xfrm>
            <a:off x="7790688" y="4617720"/>
            <a:ext cx="372160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8046720" y="48188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不建议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8732520" y="47640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仅用“满意 / 不满意”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8732520" y="50840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无法区分小修与推倒重来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目标产品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问题标签：既能统计，也能行动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首版控制在 8 个一级类型；允许多选，并保留“其他 + 补充说明”。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847088"/>
            <a:ext cx="2496312" cy="1124712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029968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48256"/>
            <a:ext cx="2377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26464" y="20025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需求理解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841248" y="243230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误解目标、约束或角色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1847088"/>
            <a:ext cx="2496312" cy="1124712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11880" y="2029968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1608" y="2048256"/>
            <a:ext cx="2377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97096" y="20025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范围与覆盖</a:t>
            </a:r>
            <a:endParaRPr lang="en-US" sz="1440" dirty="0"/>
          </a:p>
        </p:txBody>
      </p:sp>
      <p:sp>
        <p:nvSpPr>
          <p:cNvPr id="17" name="Text 15"/>
          <p:cNvSpPr/>
          <p:nvPr/>
        </p:nvSpPr>
        <p:spPr>
          <a:xfrm>
            <a:off x="3611880" y="243230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漏场景、边界或异常路径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1847088"/>
            <a:ext cx="2496312" cy="1124712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82512" y="2029968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048256"/>
            <a:ext cx="2377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967728" y="20025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业务规则</a:t>
            </a: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6382512" y="243230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规则错误、冲突或过期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970264" y="1847088"/>
            <a:ext cx="2496312" cy="1124712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53144" y="2029968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62872" y="2048256"/>
            <a:ext cx="2377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72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738360" y="20025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前置与数据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9153144" y="243230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条件不全、数据不可获得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" y="3264408"/>
            <a:ext cx="2496312" cy="1124712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3447288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" y="3465576"/>
            <a:ext cx="2377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426464" y="34198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步骤可执行性</a:t>
            </a:r>
            <a:endParaRPr lang="en-US" sz="1440" dirty="0"/>
          </a:p>
        </p:txBody>
      </p:sp>
      <p:sp>
        <p:nvSpPr>
          <p:cNvPr id="32" name="Text 30"/>
          <p:cNvSpPr/>
          <p:nvPr/>
        </p:nvSpPr>
        <p:spPr>
          <a:xfrm>
            <a:off x="841248" y="384962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步骤跳跃、对象或操作不明确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429000" y="3264408"/>
            <a:ext cx="2496312" cy="1124712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611880" y="3447288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E1E5"/>
          </a:solidFill>
          <a:ln w="12700">
            <a:solidFill>
              <a:srgbClr val="FFE1E5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21608" y="3465576"/>
            <a:ext cx="2377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197096" y="34198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预期与断言</a:t>
            </a:r>
            <a:endParaRPr lang="en-US" sz="1440" dirty="0"/>
          </a:p>
        </p:txBody>
      </p:sp>
      <p:sp>
        <p:nvSpPr>
          <p:cNvPr id="37" name="Text 35"/>
          <p:cNvSpPr/>
          <p:nvPr/>
        </p:nvSpPr>
        <p:spPr>
          <a:xfrm>
            <a:off x="3611880" y="384962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结果模糊、不可验证或错误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99632" y="3264408"/>
            <a:ext cx="2496312" cy="1124712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382512" y="3447288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3465576"/>
            <a:ext cx="2377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967728" y="34198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冗余与粒度</a:t>
            </a:r>
            <a:endParaRPr lang="en-US" sz="1440" dirty="0"/>
          </a:p>
        </p:txBody>
      </p:sp>
      <p:sp>
        <p:nvSpPr>
          <p:cNvPr id="42" name="Text 40"/>
          <p:cNvSpPr/>
          <p:nvPr/>
        </p:nvSpPr>
        <p:spPr>
          <a:xfrm>
            <a:off x="6382512" y="384962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重复、过碎或场景混杂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970264" y="3264408"/>
            <a:ext cx="2496312" cy="1124712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153144" y="3447288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62872" y="3465576"/>
            <a:ext cx="2377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738360" y="34198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格式与一致性</a:t>
            </a:r>
            <a:endParaRPr lang="en-US" sz="1440" dirty="0"/>
          </a:p>
        </p:txBody>
      </p:sp>
      <p:sp>
        <p:nvSpPr>
          <p:cNvPr id="47" name="Text 45"/>
          <p:cNvSpPr/>
          <p:nvPr/>
        </p:nvSpPr>
        <p:spPr>
          <a:xfrm>
            <a:off x="9153144" y="384962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字段缺失、命名或模板不一致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58368" y="4901184"/>
            <a:ext cx="10826496" cy="822960"/>
          </a:xfrm>
          <a:prstGeom prst="roundRect">
            <a:avLst>
              <a:gd name="adj" fmla="val 13333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96112" y="5074920"/>
            <a:ext cx="438912" cy="438912"/>
          </a:xfrm>
          <a:prstGeom prst="ellipse">
            <a:avLst/>
          </a:prstGeom>
          <a:solidFill>
            <a:srgbClr val="21304D"/>
          </a:solidFill>
          <a:ln w="12700">
            <a:solidFill>
              <a:srgbClr val="21304D">
                <a:alpha val="0"/>
              </a:srgbClr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062" y="5175870"/>
            <a:ext cx="237012" cy="237012"/>
          </a:xfrm>
          <a:prstGeom prst="rect">
            <a:avLst/>
          </a:prstGeom>
        </p:spPr>
      </p:pic>
      <p:sp>
        <p:nvSpPr>
          <p:cNvPr id="51" name="Text 48"/>
          <p:cNvSpPr/>
          <p:nvPr/>
        </p:nvSpPr>
        <p:spPr>
          <a:xfrm>
            <a:off x="1463040" y="50109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影响功能单独记录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3063240" y="4992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 → 模块 → 功能点（层级标签）</a:t>
            </a:r>
            <a:endParaRPr lang="en-US" sz="1420" dirty="0"/>
          </a:p>
        </p:txBody>
      </p:sp>
      <p:sp>
        <p:nvSpPr>
          <p:cNvPr id="53" name="Text 50"/>
          <p:cNvSpPr/>
          <p:nvPr/>
        </p:nvSpPr>
        <p:spPr>
          <a:xfrm>
            <a:off x="6400800" y="50017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C9D3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问题类型解释“为什么差”，功能标签解释“差在哪里”。</a:t>
            </a:r>
            <a:endParaRPr lang="en-US" sz="1230" dirty="0"/>
          </a:p>
        </p:txBody>
      </p:sp>
      <p:sp>
        <p:nvSpPr>
          <p:cNvPr id="54" name="Shape 51"/>
          <p:cNvSpPr/>
          <p:nvPr/>
        </p:nvSpPr>
        <p:spPr>
          <a:xfrm>
            <a:off x="9985248" y="589788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0094976" y="5916168"/>
            <a:ext cx="9692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 + 说明</a:t>
            </a:r>
            <a:endParaRPr lang="en-US" sz="9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目标产品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数据模型：必须绑定“哪一版生成物”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评价不是孤立打分；要能回到案例文本、生成上下文和 Agent / Skill 修订。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9808" y="2240280"/>
            <a:ext cx="1600200" cy="18288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4D7CFE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2432304"/>
            <a:ext cx="475488" cy="475488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050" y="2541666"/>
            <a:ext cx="256764" cy="25676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3044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被测源码版本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32688" y="34290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sourceGeneration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targetCommit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2368296" y="3172968"/>
            <a:ext cx="61264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054096" y="2240280"/>
            <a:ext cx="1600200" cy="18288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007F75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36976" y="2432304"/>
            <a:ext cx="475488" cy="475488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338" y="2541666"/>
            <a:ext cx="256764" cy="2567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236976" y="3044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测试资产版本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3236976" y="34290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testWorkspaceVersionId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caseVersionId / hash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4672584" y="3172968"/>
            <a:ext cx="61264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5358384" y="2240280"/>
            <a:ext cx="1600200" cy="18288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9B7217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541264" y="2432304"/>
            <a:ext cx="475488" cy="475488"/>
          </a:xfrm>
          <a:prstGeom prst="ellipse">
            <a:avLst/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626" y="2541666"/>
            <a:ext cx="256764" cy="25676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541264" y="3044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人员与空间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541264" y="34290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userId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personalWorkspaceId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6976872" y="3172968"/>
            <a:ext cx="61264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7662672" y="2240280"/>
            <a:ext cx="1600200" cy="18288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27A269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845552" y="2432304"/>
            <a:ext cx="475488" cy="475488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4914" y="2541666"/>
            <a:ext cx="256764" cy="25676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845552" y="3044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人工评价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845552" y="34290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/ tags / notes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/ evaluatedAt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9281160" y="3172968"/>
            <a:ext cx="61264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9966960" y="2240280"/>
            <a:ext cx="1600200" cy="18288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8A6FE8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10149840" y="2432304"/>
            <a:ext cx="475488" cy="475488"/>
          </a:xfrm>
          <a:prstGeom prst="ellipse">
            <a:avLst/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9202" y="2541666"/>
            <a:ext cx="256764" cy="25676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149840" y="3044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迭代对比</a:t>
            </a:r>
            <a:endParaRPr lang="en-US" sz="1400" dirty="0"/>
          </a:p>
        </p:txBody>
      </p:sp>
      <p:sp>
        <p:nvSpPr>
          <p:cNvPr id="36" name="Text 29"/>
          <p:cNvSpPr/>
          <p:nvPr/>
        </p:nvSpPr>
        <p:spPr>
          <a:xfrm>
            <a:off x="10149840" y="34290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runId / agent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skillRevision / model?</a:t>
            </a:r>
            <a:endParaRPr lang="en-US" sz="980" dirty="0"/>
          </a:p>
        </p:txBody>
      </p:sp>
      <p:sp>
        <p:nvSpPr>
          <p:cNvPr id="37" name="Shape 30"/>
          <p:cNvSpPr/>
          <p:nvPr/>
        </p:nvSpPr>
        <p:spPr>
          <a:xfrm>
            <a:off x="1133856" y="4700016"/>
            <a:ext cx="9930384" cy="877824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1344168" y="487375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三重身份</a:t>
            </a:r>
            <a:endParaRPr lang="en-US" sz="1100" dirty="0"/>
          </a:p>
        </p:txBody>
      </p:sp>
      <p:sp>
        <p:nvSpPr>
          <p:cNvPr id="39" name="Text 32"/>
          <p:cNvSpPr/>
          <p:nvPr/>
        </p:nvSpPr>
        <p:spPr>
          <a:xfrm>
            <a:off x="1344168" y="51480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源码 + 测试资产 + 人员空间</a:t>
            </a:r>
            <a:endParaRPr lang="en-US" sz="1020" dirty="0"/>
          </a:p>
        </p:txBody>
      </p:sp>
      <p:sp>
        <p:nvSpPr>
          <p:cNvPr id="40" name="Text 33"/>
          <p:cNvSpPr/>
          <p:nvPr/>
        </p:nvSpPr>
        <p:spPr>
          <a:xfrm>
            <a:off x="3739896" y="487375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版本不可漂移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3739896" y="51480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评价绑定 caseVersionId</a:t>
            </a:r>
            <a:endParaRPr lang="en-US" sz="1020" dirty="0"/>
          </a:p>
        </p:txBody>
      </p:sp>
      <p:sp>
        <p:nvSpPr>
          <p:cNvPr id="42" name="Text 35"/>
          <p:cNvSpPr/>
          <p:nvPr/>
        </p:nvSpPr>
        <p:spPr>
          <a:xfrm>
            <a:off x="6135624" y="487375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变更可审计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6135624" y="51480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保留操作者、时间与差异</a:t>
            </a:r>
            <a:endParaRPr lang="en-US" sz="1020" dirty="0"/>
          </a:p>
        </p:txBody>
      </p:sp>
      <p:sp>
        <p:nvSpPr>
          <p:cNvPr id="44" name="Text 37"/>
          <p:cNvSpPr/>
          <p:nvPr/>
        </p:nvSpPr>
        <p:spPr>
          <a:xfrm>
            <a:off x="8531352" y="487375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兼容可扩展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8531352" y="51480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上下文字段允许为空并 additive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目标产品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看板效果：从总览一路钻到案例证据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下图为演示数据；核心是“指标 → 问题 → 功能 → 明细”的可钻取链路。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664208"/>
            <a:ext cx="11183112" cy="4553712"/>
          </a:xfrm>
          <a:prstGeom prst="roundRect">
            <a:avLst>
              <a:gd name="adj" fmla="val 2410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" y="1847088"/>
            <a:ext cx="10771632" cy="438912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392" y="1920240"/>
            <a:ext cx="274320" cy="274320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6" y="1983334"/>
            <a:ext cx="148133" cy="14813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61872" y="192024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应用：全部</a:t>
            </a:r>
            <a:endParaRPr lang="en-US" sz="920" dirty="0"/>
          </a:p>
        </p:txBody>
      </p:sp>
      <p:sp>
        <p:nvSpPr>
          <p:cNvPr id="13" name="Text 10"/>
          <p:cNvSpPr/>
          <p:nvPr/>
        </p:nvSpPr>
        <p:spPr>
          <a:xfrm>
            <a:off x="2240280" y="19202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被测版本：gen-42 / abc123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4160520" y="1920240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测试资产：2026.07</a:t>
            </a:r>
            <a:endParaRPr lang="en-US" sz="920" dirty="0"/>
          </a:p>
        </p:txBody>
      </p:sp>
      <p:sp>
        <p:nvSpPr>
          <p:cNvPr id="15" name="Text 12"/>
          <p:cNvSpPr/>
          <p:nvPr/>
        </p:nvSpPr>
        <p:spPr>
          <a:xfrm>
            <a:off x="5623560" y="19202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测试人员：全部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6931152" y="19202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修订：v3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10332720" y="1901952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442448" y="1920240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46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演示数据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704088" y="2441448"/>
            <a:ext cx="2414016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25511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819656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评价覆盖率</a:t>
            </a:r>
            <a:endParaRPr lang="en-US" sz="1030" dirty="0"/>
          </a:p>
        </p:txBody>
      </p:sp>
      <p:sp>
        <p:nvSpPr>
          <p:cNvPr id="22" name="Shape 19"/>
          <p:cNvSpPr/>
          <p:nvPr/>
        </p:nvSpPr>
        <p:spPr>
          <a:xfrm>
            <a:off x="3364992" y="2441448"/>
            <a:ext cx="2414016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29584" y="25511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4480560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直接可用率 A</a:t>
            </a:r>
            <a:endParaRPr lang="en-US" sz="1030" dirty="0"/>
          </a:p>
        </p:txBody>
      </p:sp>
      <p:sp>
        <p:nvSpPr>
          <p:cNvPr id="25" name="Shape 22"/>
          <p:cNvSpPr/>
          <p:nvPr/>
        </p:nvSpPr>
        <p:spPr>
          <a:xfrm>
            <a:off x="6025896" y="2441448"/>
            <a:ext cx="2414016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190488" y="25511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7141464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可用率 A+B</a:t>
            </a:r>
            <a:endParaRPr lang="en-US" sz="1030" dirty="0"/>
          </a:p>
        </p:txBody>
      </p:sp>
      <p:sp>
        <p:nvSpPr>
          <p:cNvPr id="28" name="Shape 25"/>
          <p:cNvSpPr/>
          <p:nvPr/>
        </p:nvSpPr>
        <p:spPr>
          <a:xfrm>
            <a:off x="8686800" y="2441448"/>
            <a:ext cx="2414016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851392" y="25511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6.4m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9802368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平均修改耗时</a:t>
            </a:r>
            <a:endParaRPr lang="en-US" sz="1030" dirty="0"/>
          </a:p>
        </p:txBody>
      </p:sp>
      <p:sp>
        <p:nvSpPr>
          <p:cNvPr id="31" name="Shape 28"/>
          <p:cNvSpPr/>
          <p:nvPr/>
        </p:nvSpPr>
        <p:spPr>
          <a:xfrm>
            <a:off x="704088" y="3401568"/>
            <a:ext cx="4434840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6112" y="357530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直接可用率趋势</a:t>
            </a:r>
            <a:endParaRPr lang="en-US" sz="1230" dirty="0"/>
          </a:p>
        </p:txBody>
      </p:sp>
      <p:sp>
        <p:nvSpPr>
          <p:cNvPr id="33" name="Text 30"/>
          <p:cNvSpPr/>
          <p:nvPr/>
        </p:nvSpPr>
        <p:spPr>
          <a:xfrm>
            <a:off x="3950208" y="3584448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 Skill 修订</a:t>
            </a:r>
            <a:endParaRPr lang="en-US" sz="920" dirty="0"/>
          </a:p>
        </p:txBody>
      </p:sp>
      <p:sp>
        <p:nvSpPr>
          <p:cNvPr id="34" name="Shape 31"/>
          <p:cNvSpPr/>
          <p:nvPr/>
        </p:nvSpPr>
        <p:spPr>
          <a:xfrm>
            <a:off x="1024128" y="4096512"/>
            <a:ext cx="3767328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24128" y="4663440"/>
            <a:ext cx="3767328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24128" y="5230368"/>
            <a:ext cx="3767328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15568" y="5148072"/>
            <a:ext cx="713232" cy="-256032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828800" y="4892040"/>
            <a:ext cx="713232" cy="73152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42032" y="4965192"/>
            <a:ext cx="713232" cy="-475488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255264" y="4489704"/>
            <a:ext cx="713232" cy="-173736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968496" y="4315968"/>
            <a:ext cx="640080" cy="-228600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51560" y="5084064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32688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820" dirty="0"/>
          </a:p>
        </p:txBody>
      </p:sp>
      <p:sp>
        <p:nvSpPr>
          <p:cNvPr id="44" name="Shape 41"/>
          <p:cNvSpPr/>
          <p:nvPr/>
        </p:nvSpPr>
        <p:spPr>
          <a:xfrm>
            <a:off x="1764792" y="4828032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645920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2478024" y="4901184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2359152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820" dirty="0"/>
          </a:p>
        </p:txBody>
      </p:sp>
      <p:sp>
        <p:nvSpPr>
          <p:cNvPr id="48" name="Shape 45"/>
          <p:cNvSpPr/>
          <p:nvPr/>
        </p:nvSpPr>
        <p:spPr>
          <a:xfrm>
            <a:off x="3191256" y="4425696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072384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3904488" y="4251960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785616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</a:t>
            </a:r>
            <a:endParaRPr lang="en-US" sz="820" dirty="0"/>
          </a:p>
        </p:txBody>
      </p:sp>
      <p:sp>
        <p:nvSpPr>
          <p:cNvPr id="52" name="Shape 49"/>
          <p:cNvSpPr/>
          <p:nvPr/>
        </p:nvSpPr>
        <p:spPr>
          <a:xfrm>
            <a:off x="4544568" y="4023360"/>
            <a:ext cx="128016" cy="128016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425696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4315968" y="3803904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425696" y="3822192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870" dirty="0"/>
          </a:p>
        </p:txBody>
      </p:sp>
      <p:sp>
        <p:nvSpPr>
          <p:cNvPr id="56" name="Shape 53"/>
          <p:cNvSpPr/>
          <p:nvPr/>
        </p:nvSpPr>
        <p:spPr>
          <a:xfrm>
            <a:off x="5312664" y="3401568"/>
            <a:ext cx="2916936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504688" y="357530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问题类型 Top 4</a:t>
            </a:r>
            <a:endParaRPr lang="en-US" sz="1230" dirty="0"/>
          </a:p>
        </p:txBody>
      </p:sp>
      <p:sp>
        <p:nvSpPr>
          <p:cNvPr id="58" name="Text 55"/>
          <p:cNvSpPr/>
          <p:nvPr/>
        </p:nvSpPr>
        <p:spPr>
          <a:xfrm>
            <a:off x="5504688" y="40416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需求理解</a:t>
            </a:r>
            <a:endParaRPr lang="en-US" sz="940" dirty="0"/>
          </a:p>
        </p:txBody>
      </p:sp>
      <p:sp>
        <p:nvSpPr>
          <p:cNvPr id="59" name="Shape 56"/>
          <p:cNvSpPr/>
          <p:nvPr/>
        </p:nvSpPr>
        <p:spPr>
          <a:xfrm>
            <a:off x="6236208" y="4069080"/>
            <a:ext cx="1353312" cy="118872"/>
          </a:xfrm>
          <a:prstGeom prst="roundRect">
            <a:avLst>
              <a:gd name="adj" fmla="val 46154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6236208" y="4069080"/>
            <a:ext cx="1109716" cy="118872"/>
          </a:xfrm>
          <a:prstGeom prst="roundRect">
            <a:avLst>
              <a:gd name="adj" fmla="val 46154"/>
            </a:avLst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7644384" y="4023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27%</a:t>
            </a:r>
            <a:endParaRPr lang="en-US" sz="920" dirty="0"/>
          </a:p>
        </p:txBody>
      </p:sp>
      <p:sp>
        <p:nvSpPr>
          <p:cNvPr id="62" name="Text 59"/>
          <p:cNvSpPr/>
          <p:nvPr/>
        </p:nvSpPr>
        <p:spPr>
          <a:xfrm>
            <a:off x="5504688" y="4480560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预期断言</a:t>
            </a:r>
            <a:endParaRPr lang="en-US" sz="940" dirty="0"/>
          </a:p>
        </p:txBody>
      </p:sp>
      <p:sp>
        <p:nvSpPr>
          <p:cNvPr id="63" name="Shape 60"/>
          <p:cNvSpPr/>
          <p:nvPr/>
        </p:nvSpPr>
        <p:spPr>
          <a:xfrm>
            <a:off x="6236208" y="4507992"/>
            <a:ext cx="1353312" cy="118872"/>
          </a:xfrm>
          <a:prstGeom prst="roundRect">
            <a:avLst>
              <a:gd name="adj" fmla="val 46154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236208" y="4507992"/>
            <a:ext cx="906719" cy="118872"/>
          </a:xfrm>
          <a:prstGeom prst="roundRect">
            <a:avLst>
              <a:gd name="adj" fmla="val 46154"/>
            </a:avLst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644384" y="44622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22%</a:t>
            </a:r>
            <a:endParaRPr lang="en-US" sz="920" dirty="0"/>
          </a:p>
        </p:txBody>
      </p:sp>
      <p:sp>
        <p:nvSpPr>
          <p:cNvPr id="66" name="Text 63"/>
          <p:cNvSpPr/>
          <p:nvPr/>
        </p:nvSpPr>
        <p:spPr>
          <a:xfrm>
            <a:off x="5504688" y="491947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前置数据</a:t>
            </a:r>
            <a:endParaRPr lang="en-US" sz="940" dirty="0"/>
          </a:p>
        </p:txBody>
      </p:sp>
      <p:sp>
        <p:nvSpPr>
          <p:cNvPr id="67" name="Shape 64"/>
          <p:cNvSpPr/>
          <p:nvPr/>
        </p:nvSpPr>
        <p:spPr>
          <a:xfrm>
            <a:off x="6236208" y="4946904"/>
            <a:ext cx="1353312" cy="118872"/>
          </a:xfrm>
          <a:prstGeom prst="roundRect">
            <a:avLst>
              <a:gd name="adj" fmla="val 46154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236208" y="4946904"/>
            <a:ext cx="744322" cy="118872"/>
          </a:xfrm>
          <a:prstGeom prst="roundRect">
            <a:avLst>
              <a:gd name="adj" fmla="val 46154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644384" y="490118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920" dirty="0"/>
          </a:p>
        </p:txBody>
      </p:sp>
      <p:sp>
        <p:nvSpPr>
          <p:cNvPr id="70" name="Text 67"/>
          <p:cNvSpPr/>
          <p:nvPr/>
        </p:nvSpPr>
        <p:spPr>
          <a:xfrm>
            <a:off x="5504688" y="535838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范围覆盖</a:t>
            </a:r>
            <a:endParaRPr lang="en-US" sz="940" dirty="0"/>
          </a:p>
        </p:txBody>
      </p:sp>
      <p:sp>
        <p:nvSpPr>
          <p:cNvPr id="71" name="Shape 68"/>
          <p:cNvSpPr/>
          <p:nvPr/>
        </p:nvSpPr>
        <p:spPr>
          <a:xfrm>
            <a:off x="6236208" y="5385816"/>
            <a:ext cx="1353312" cy="118872"/>
          </a:xfrm>
          <a:prstGeom prst="roundRect">
            <a:avLst>
              <a:gd name="adj" fmla="val 46154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236208" y="5385816"/>
            <a:ext cx="622524" cy="118872"/>
          </a:xfrm>
          <a:prstGeom prst="roundRect">
            <a:avLst>
              <a:gd name="adj" fmla="val 46154"/>
            </a:avLst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7644384" y="53400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20" dirty="0"/>
          </a:p>
        </p:txBody>
      </p:sp>
      <p:sp>
        <p:nvSpPr>
          <p:cNvPr id="74" name="Shape 71"/>
          <p:cNvSpPr/>
          <p:nvPr/>
        </p:nvSpPr>
        <p:spPr>
          <a:xfrm>
            <a:off x="8394192" y="3401568"/>
            <a:ext cx="3081528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8595360" y="357530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功能问题热区</a:t>
            </a:r>
            <a:endParaRPr lang="en-US" sz="1230" dirty="0"/>
          </a:p>
        </p:txBody>
      </p:sp>
      <p:sp>
        <p:nvSpPr>
          <p:cNvPr id="76" name="Text 73"/>
          <p:cNvSpPr/>
          <p:nvPr/>
        </p:nvSpPr>
        <p:spPr>
          <a:xfrm>
            <a:off x="8595360" y="405079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登录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8595360" y="44348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支付</a:t>
            </a:r>
            <a:endParaRPr lang="en-US" sz="900" dirty="0"/>
          </a:p>
        </p:txBody>
      </p:sp>
      <p:sp>
        <p:nvSpPr>
          <p:cNvPr id="78" name="Text 75"/>
          <p:cNvSpPr/>
          <p:nvPr/>
        </p:nvSpPr>
        <p:spPr>
          <a:xfrm>
            <a:off x="8595360" y="481888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对账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595360" y="5202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9217152" y="385876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理解</a:t>
            </a:r>
            <a:endParaRPr lang="en-US" sz="840" dirty="0"/>
          </a:p>
        </p:txBody>
      </p:sp>
      <p:sp>
        <p:nvSpPr>
          <p:cNvPr id="81" name="Text 78"/>
          <p:cNvSpPr/>
          <p:nvPr/>
        </p:nvSpPr>
        <p:spPr>
          <a:xfrm>
            <a:off x="9838944" y="385876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840" dirty="0"/>
          </a:p>
        </p:txBody>
      </p:sp>
      <p:sp>
        <p:nvSpPr>
          <p:cNvPr id="82" name="Text 79"/>
          <p:cNvSpPr/>
          <p:nvPr/>
        </p:nvSpPr>
        <p:spPr>
          <a:xfrm>
            <a:off x="10460736" y="385876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断言</a:t>
            </a:r>
            <a:endParaRPr lang="en-US" sz="840" dirty="0"/>
          </a:p>
        </p:txBody>
      </p:sp>
      <p:sp>
        <p:nvSpPr>
          <p:cNvPr id="83" name="Shape 80"/>
          <p:cNvSpPr/>
          <p:nvPr/>
        </p:nvSpPr>
        <p:spPr>
          <a:xfrm>
            <a:off x="9217152" y="4041648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838944" y="4041648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10460736" y="4041648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9217152" y="4425696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9838944" y="4425696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460736" y="4425696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9217152" y="4809744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9838944" y="4809744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460736" y="4809744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9217152" y="5193792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9838944" y="5193792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10460736" y="5193792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8622792" y="5541264"/>
            <a:ext cx="2048256" cy="310896"/>
          </a:xfrm>
          <a:prstGeom prst="roundRect">
            <a:avLst>
              <a:gd name="adj" fmla="val 50000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96" name="Text 93"/>
          <p:cNvSpPr/>
          <p:nvPr/>
        </p:nvSpPr>
        <p:spPr>
          <a:xfrm>
            <a:off x="8732520" y="5559552"/>
            <a:ext cx="1828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点击下钻 12 条案例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目标产品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指标体系：主指标、诊断指标、过程指标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生成数量不是质量；先回答“能否用”，再解释“为什么”和“反馈够不够”。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10844784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075688"/>
            <a:ext cx="512064" cy="512064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887" y="2193463"/>
            <a:ext cx="276515" cy="27651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581912" y="205740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91640" y="2075688"/>
            <a:ext cx="6309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主指标</a:t>
            </a:r>
            <a:endParaRPr lang="en-US" sz="970" dirty="0"/>
          </a:p>
        </p:txBody>
      </p:sp>
      <p:sp>
        <p:nvSpPr>
          <p:cNvPr id="13" name="Text 10"/>
          <p:cNvSpPr/>
          <p:nvPr/>
        </p:nvSpPr>
        <p:spPr>
          <a:xfrm>
            <a:off x="2660904" y="19933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直接可用率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660904" y="2359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级案例数 ÷ 已评价案例数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5806440" y="211226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判断智能体输出是否能直接进入后续环节</a:t>
            </a:r>
            <a:endParaRPr lang="en-US" sz="1230" dirty="0"/>
          </a:p>
        </p:txBody>
      </p:sp>
      <p:sp>
        <p:nvSpPr>
          <p:cNvPr id="16" name="Shape 13"/>
          <p:cNvSpPr/>
          <p:nvPr/>
        </p:nvSpPr>
        <p:spPr>
          <a:xfrm>
            <a:off x="658368" y="3136392"/>
            <a:ext cx="10844784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96112" y="3383280"/>
            <a:ext cx="512064" cy="512064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87" y="3501055"/>
            <a:ext cx="276515" cy="27651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1581912" y="3364992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691640" y="3383280"/>
            <a:ext cx="6309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诊断指标</a:t>
            </a:r>
            <a:endParaRPr lang="en-US" sz="970" dirty="0"/>
          </a:p>
        </p:txBody>
      </p:sp>
      <p:sp>
        <p:nvSpPr>
          <p:cNvPr id="21" name="Text 17"/>
          <p:cNvSpPr/>
          <p:nvPr/>
        </p:nvSpPr>
        <p:spPr>
          <a:xfrm>
            <a:off x="2660904" y="33009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问题分布 / 修改量 / 功能热区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2660904" y="36667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按标签、应用、案例类型、Skill 修订切片</a:t>
            </a:r>
            <a:endParaRPr lang="en-US" sz="1080" dirty="0"/>
          </a:p>
        </p:txBody>
      </p:sp>
      <p:sp>
        <p:nvSpPr>
          <p:cNvPr id="23" name="Text 19"/>
          <p:cNvSpPr/>
          <p:nvPr/>
        </p:nvSpPr>
        <p:spPr>
          <a:xfrm>
            <a:off x="5806440" y="341985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告诉团队应该改规则、知识、模板还是生成策略</a:t>
            </a:r>
            <a:endParaRPr lang="en-US" sz="1230" dirty="0"/>
          </a:p>
        </p:txBody>
      </p:sp>
      <p:sp>
        <p:nvSpPr>
          <p:cNvPr id="24" name="Shape 20"/>
          <p:cNvSpPr/>
          <p:nvPr/>
        </p:nvSpPr>
        <p:spPr>
          <a:xfrm>
            <a:off x="658368" y="4443984"/>
            <a:ext cx="10844784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96112" y="4690872"/>
            <a:ext cx="512064" cy="512064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887" y="4808647"/>
            <a:ext cx="276515" cy="276515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1581912" y="4672584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691640" y="4690872"/>
            <a:ext cx="6309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过程指标</a:t>
            </a:r>
            <a:endParaRPr lang="en-US" sz="970" dirty="0"/>
          </a:p>
        </p:txBody>
      </p:sp>
      <p:sp>
        <p:nvSpPr>
          <p:cNvPr id="29" name="Text 24"/>
          <p:cNvSpPr/>
          <p:nvPr/>
        </p:nvSpPr>
        <p:spPr>
          <a:xfrm>
            <a:off x="2660904" y="46085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评价覆盖率 / 评价时延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2660904" y="49743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已评价案例数 ÷ 待评价案例数</a:t>
            </a:r>
            <a:endParaRPr lang="en-US" sz="1080" dirty="0"/>
          </a:p>
        </p:txBody>
      </p:sp>
      <p:sp>
        <p:nvSpPr>
          <p:cNvPr id="31" name="Text 26"/>
          <p:cNvSpPr/>
          <p:nvPr/>
        </p:nvSpPr>
        <p:spPr>
          <a:xfrm>
            <a:off x="5806440" y="472744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判断看板结论是否有代表性，防止样本偏差</a:t>
            </a:r>
            <a:endParaRPr lang="en-US" sz="1230" dirty="0"/>
          </a:p>
        </p:txBody>
      </p:sp>
      <p:sp>
        <p:nvSpPr>
          <p:cNvPr id="32" name="Shape 27"/>
          <p:cNvSpPr/>
          <p:nvPr/>
        </p:nvSpPr>
        <p:spPr>
          <a:xfrm>
            <a:off x="658368" y="5833872"/>
            <a:ext cx="10844784" cy="347472"/>
          </a:xfrm>
          <a:prstGeom prst="roundRect">
            <a:avLst>
              <a:gd name="adj" fmla="val 47368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896112" y="590702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反例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1417320" y="5879592"/>
            <a:ext cx="6629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“本月生成 10,000 条案例”只能说明产量，不能说明可用性。</a:t>
            </a:r>
            <a:endParaRPr lang="en-US" sz="1130" dirty="0"/>
          </a:p>
        </p:txBody>
      </p:sp>
      <p:sp>
        <p:nvSpPr>
          <p:cNvPr id="35" name="Shape 30"/>
          <p:cNvSpPr/>
          <p:nvPr/>
        </p:nvSpPr>
        <p:spPr>
          <a:xfrm>
            <a:off x="8787384" y="5852160"/>
            <a:ext cx="2350008" cy="310896"/>
          </a:xfrm>
          <a:prstGeom prst="roundRect">
            <a:avLst>
              <a:gd name="adj" fmla="val 50000"/>
            </a:avLst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897112" y="5870448"/>
            <a:ext cx="21305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所有比例必须显示样本量 n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7400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8379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版本库关联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案例与开发版本库：双资产、只读关联、证据可追溯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开发源码是被测事实，测试案例是测试资产；评价层用版本身份与代码证据把两者连接起来。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577840" y="651052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879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结合 Codex 任务 019fae77… 的源码快照与人员工作区分析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" y="1847088"/>
            <a:ext cx="3035808" cy="3584448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07568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93976"/>
            <a:ext cx="11978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开发侧 · 被测对象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52928" y="2029968"/>
            <a:ext cx="493776" cy="493776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6496" y="2143536"/>
            <a:ext cx="266639" cy="26663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41248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应用源码快照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41248" y="3054096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targetCommit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selectedPaths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indexSha256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2258568" y="3127248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68296" y="3145536"/>
            <a:ext cx="8046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运行目录无 .git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841248" y="4315968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读取代码、接口、模块和数据结构事实；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需要版本差异时，使用物化阶段提前冻结的 ChangeSet。</a:t>
            </a:r>
            <a:endParaRPr lang="en-US" sz="1070" dirty="0"/>
          </a:p>
        </p:txBody>
      </p:sp>
      <p:sp>
        <p:nvSpPr>
          <p:cNvPr id="19" name="Shape 16"/>
          <p:cNvSpPr/>
          <p:nvPr/>
        </p:nvSpPr>
        <p:spPr>
          <a:xfrm>
            <a:off x="841248" y="5010912"/>
            <a:ext cx="134416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50976" y="502920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已存在：快照身份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2267712" y="501091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77440" y="5029200"/>
            <a:ext cx="9235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扩展：ChangeSet</a:t>
            </a:r>
            <a:endParaRPr lang="en-US" sz="860" dirty="0"/>
          </a:p>
        </p:txBody>
      </p:sp>
      <p:sp>
        <p:nvSpPr>
          <p:cNvPr id="23" name="Shape 20"/>
          <p:cNvSpPr/>
          <p:nvPr/>
        </p:nvSpPr>
        <p:spPr>
          <a:xfrm>
            <a:off x="3995928" y="2542032"/>
            <a:ext cx="2267712" cy="2267712"/>
          </a:xfrm>
          <a:prstGeom prst="ellipse">
            <a:avLst/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07408" y="2953512"/>
            <a:ext cx="1444752" cy="1444752"/>
          </a:xfrm>
          <a:prstGeom prst="ellipse">
            <a:avLst/>
          </a:prstGeom>
          <a:solidFill>
            <a:srgbClr val="152B4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837176" y="3383280"/>
            <a:ext cx="585216" cy="585216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776" y="3517880"/>
            <a:ext cx="316017" cy="31601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325112" y="41513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案例—源码</a:t>
            </a:r>
            <a:endParaRPr lang="en-US" sz="1640" dirty="0"/>
          </a:p>
          <a:p>
            <a:pPr algn="ctr" indent="0" marL="0">
              <a:buNone/>
            </a:pPr>
            <a:r>
              <a:rPr lang="en-US" sz="1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证据关联</a:t>
            </a:r>
            <a:endParaRPr lang="en-US" sz="1640" dirty="0"/>
          </a:p>
        </p:txBody>
      </p:sp>
      <p:sp>
        <p:nvSpPr>
          <p:cNvPr id="28" name="Shape 24"/>
          <p:cNvSpPr/>
          <p:nvPr/>
        </p:nvSpPr>
        <p:spPr>
          <a:xfrm>
            <a:off x="3639312" y="3639312"/>
            <a:ext cx="457200" cy="0"/>
          </a:xfrm>
          <a:prstGeom prst="line">
            <a:avLst/>
          </a:prstGeom>
          <a:noFill/>
          <a:ln w="21590">
            <a:solidFill>
              <a:srgbClr val="4D7CFE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263640" y="3639312"/>
            <a:ext cx="448056" cy="0"/>
          </a:xfrm>
          <a:prstGeom prst="line">
            <a:avLst/>
          </a:prstGeom>
          <a:noFill/>
          <a:ln w="2159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6729984" y="1847088"/>
            <a:ext cx="4846320" cy="3584448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967728" y="207568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077456" y="2093976"/>
            <a:ext cx="11978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测试侧 · 质量资产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10808208" y="2029968"/>
            <a:ext cx="493776" cy="493776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776" y="2143536"/>
            <a:ext cx="266639" cy="266639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967728" y="2615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测试案例版本</a:t>
            </a:r>
            <a:endParaRPr lang="en-US" sz="1700" dirty="0"/>
          </a:p>
        </p:txBody>
      </p:sp>
      <p:sp>
        <p:nvSpPr>
          <p:cNvPr id="36" name="Text 31"/>
          <p:cNvSpPr/>
          <p:nvPr/>
        </p:nvSpPr>
        <p:spPr>
          <a:xfrm>
            <a:off x="6967728" y="3035808"/>
            <a:ext cx="3913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caseVersionId / contentHash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测试工作库版本 / personalWorkspaceId</a:t>
            </a:r>
            <a:endParaRPr lang="en-US" sz="1120" dirty="0"/>
          </a:p>
        </p:txBody>
      </p:sp>
      <p:sp>
        <p:nvSpPr>
          <p:cNvPr id="37" name="Shape 32"/>
          <p:cNvSpPr/>
          <p:nvPr/>
        </p:nvSpPr>
        <p:spPr>
          <a:xfrm>
            <a:off x="6976872" y="3776472"/>
            <a:ext cx="1938528" cy="521208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114032" y="38587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代码证据</a:t>
            </a:r>
            <a:endParaRPr lang="en-US" sz="970" dirty="0"/>
          </a:p>
        </p:txBody>
      </p:sp>
      <p:sp>
        <p:nvSpPr>
          <p:cNvPr id="39" name="Text 34"/>
          <p:cNvSpPr/>
          <p:nvPr/>
        </p:nvSpPr>
        <p:spPr>
          <a:xfrm>
            <a:off x="7114032" y="4059936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/ APIs / symbols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9144000" y="3776472"/>
            <a:ext cx="1938528" cy="521208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9281160" y="38587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影响功能</a:t>
            </a:r>
            <a:endParaRPr lang="en-US" sz="970" dirty="0"/>
          </a:p>
        </p:txBody>
      </p:sp>
      <p:sp>
        <p:nvSpPr>
          <p:cNvPr id="42" name="Text 37"/>
          <p:cNvSpPr/>
          <p:nvPr/>
        </p:nvSpPr>
        <p:spPr>
          <a:xfrm>
            <a:off x="9281160" y="4059936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 → 模块 → 功能点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976872" y="4434840"/>
            <a:ext cx="1938528" cy="521208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7114032" y="451713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一致性判断</a:t>
            </a:r>
            <a:endParaRPr lang="en-US" sz="970" dirty="0"/>
          </a:p>
        </p:txBody>
      </p:sp>
      <p:sp>
        <p:nvSpPr>
          <p:cNvPr id="45" name="Text 40"/>
          <p:cNvSpPr/>
          <p:nvPr/>
        </p:nvSpPr>
        <p:spPr>
          <a:xfrm>
            <a:off x="7114032" y="4718304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 / 冲突 / 未覆盖</a:t>
            </a:r>
            <a:endParaRPr lang="en-US" sz="850" dirty="0"/>
          </a:p>
        </p:txBody>
      </p:sp>
      <p:sp>
        <p:nvSpPr>
          <p:cNvPr id="46" name="Shape 41"/>
          <p:cNvSpPr/>
          <p:nvPr/>
        </p:nvSpPr>
        <p:spPr>
          <a:xfrm>
            <a:off x="9144000" y="4434840"/>
            <a:ext cx="1938528" cy="521208"/>
          </a:xfrm>
          <a:prstGeom prst="roundRect">
            <a:avLst>
              <a:gd name="adj" fmla="val 15789"/>
            </a:avLst>
          </a:prstGeom>
          <a:solidFill>
            <a:srgbClr val="EAF9D6"/>
          </a:solidFill>
          <a:ln w="12700">
            <a:solidFill>
              <a:srgbClr val="EAF9D6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9281160" y="451713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评价结论</a:t>
            </a:r>
            <a:endParaRPr lang="en-US" sz="970" dirty="0"/>
          </a:p>
        </p:txBody>
      </p:sp>
      <p:sp>
        <p:nvSpPr>
          <p:cNvPr id="48" name="Text 43"/>
          <p:cNvSpPr/>
          <p:nvPr/>
        </p:nvSpPr>
        <p:spPr>
          <a:xfrm>
            <a:off x="9281160" y="4718304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A–D / 标签 / 说明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" y="5715000"/>
            <a:ext cx="10808208" cy="493776"/>
          </a:xfrm>
          <a:prstGeom prst="roundRect">
            <a:avLst>
              <a:gd name="adj" fmla="val 25926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14400" y="5843016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分析价值</a:t>
            </a:r>
            <a:endParaRPr lang="en-US" sz="1050" dirty="0"/>
          </a:p>
        </p:txBody>
      </p:sp>
      <p:sp>
        <p:nvSpPr>
          <p:cNvPr id="51" name="Text 46"/>
          <p:cNvSpPr/>
          <p:nvPr/>
        </p:nvSpPr>
        <p:spPr>
          <a:xfrm>
            <a:off x="1700784" y="5815584"/>
            <a:ext cx="9372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验证案例可执行性与预期结果 · 识别代码已变但案例未覆盖 · 区分案例生成问题与代码 / 需求事实不清</a:t>
            </a:r>
            <a:endParaRPr lang="en-US" sz="11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价值闭环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从看板回到智能体：让每次改进都可验证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同一套口径比较修订前后，并用代码证据区分“生成问题”与“被测事实变化”。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88720" y="2057400"/>
            <a:ext cx="1060704" cy="10607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2359152"/>
            <a:ext cx="457200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143000" y="2011680"/>
            <a:ext cx="320040" cy="320040"/>
          </a:xfrm>
          <a:prstGeom prst="ellipse">
            <a:avLst/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43000" y="20756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</a:t>
            </a:r>
            <a:endParaRPr lang="en-US" sz="1620" dirty="0"/>
          </a:p>
        </p:txBody>
      </p:sp>
      <p:sp>
        <p:nvSpPr>
          <p:cNvPr id="13" name="Text 10"/>
          <p:cNvSpPr/>
          <p:nvPr/>
        </p:nvSpPr>
        <p:spPr>
          <a:xfrm>
            <a:off x="786384" y="3703320"/>
            <a:ext cx="18562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A/B/C/D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标签 + 说明</a:t>
            </a:r>
            <a:endParaRPr lang="en-US" sz="1130" dirty="0"/>
          </a:p>
        </p:txBody>
      </p:sp>
      <p:sp>
        <p:nvSpPr>
          <p:cNvPr id="14" name="Shape 11"/>
          <p:cNvSpPr/>
          <p:nvPr/>
        </p:nvSpPr>
        <p:spPr>
          <a:xfrm>
            <a:off x="2304288" y="2587752"/>
            <a:ext cx="484632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438144" y="2057400"/>
            <a:ext cx="1060704" cy="1060704"/>
          </a:xfrm>
          <a:prstGeom prst="ellipse">
            <a:avLst/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2359152"/>
            <a:ext cx="457200" cy="4572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392424" y="2011680"/>
            <a:ext cx="320040" cy="320040"/>
          </a:xfrm>
          <a:prstGeom prst="ellipse">
            <a:avLst/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92424" y="20756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3118104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</a:t>
            </a:r>
            <a:endParaRPr lang="en-US" sz="1620" dirty="0"/>
          </a:p>
        </p:txBody>
      </p:sp>
      <p:sp>
        <p:nvSpPr>
          <p:cNvPr id="20" name="Text 16"/>
          <p:cNvSpPr/>
          <p:nvPr/>
        </p:nvSpPr>
        <p:spPr>
          <a:xfrm>
            <a:off x="3035808" y="3703320"/>
            <a:ext cx="18562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问题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功能热区</a:t>
            </a:r>
            <a:endParaRPr lang="en-US" sz="1130" dirty="0"/>
          </a:p>
        </p:txBody>
      </p:sp>
      <p:sp>
        <p:nvSpPr>
          <p:cNvPr id="21" name="Shape 17"/>
          <p:cNvSpPr/>
          <p:nvPr/>
        </p:nvSpPr>
        <p:spPr>
          <a:xfrm>
            <a:off x="4553712" y="2587752"/>
            <a:ext cx="484632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687568" y="2057400"/>
            <a:ext cx="1060704" cy="1060704"/>
          </a:xfrm>
          <a:prstGeom prst="ellipse">
            <a:avLst/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359152"/>
            <a:ext cx="457200" cy="45720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641848" y="2011680"/>
            <a:ext cx="320040" cy="320040"/>
          </a:xfrm>
          <a:prstGeom prst="ellipse">
            <a:avLst/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641848" y="20756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5367528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</a:t>
            </a:r>
            <a:endParaRPr lang="en-US" sz="1620" dirty="0"/>
          </a:p>
        </p:txBody>
      </p:sp>
      <p:sp>
        <p:nvSpPr>
          <p:cNvPr id="27" name="Text 22"/>
          <p:cNvSpPr/>
          <p:nvPr/>
        </p:nvSpPr>
        <p:spPr>
          <a:xfrm>
            <a:off x="5285232" y="3703320"/>
            <a:ext cx="18562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/ Rule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 / 模板</a:t>
            </a:r>
            <a:endParaRPr lang="en-US" sz="1130" dirty="0"/>
          </a:p>
        </p:txBody>
      </p:sp>
      <p:sp>
        <p:nvSpPr>
          <p:cNvPr id="28" name="Shape 23"/>
          <p:cNvSpPr/>
          <p:nvPr/>
        </p:nvSpPr>
        <p:spPr>
          <a:xfrm>
            <a:off x="6803136" y="2587752"/>
            <a:ext cx="484632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7936992" y="2057400"/>
            <a:ext cx="1060704" cy="1060704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2359152"/>
            <a:ext cx="457200" cy="4572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7891272" y="2011680"/>
            <a:ext cx="320040" cy="320040"/>
          </a:xfrm>
          <a:prstGeom prst="ellipse">
            <a:avLst/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7891272" y="20756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7616952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发布</a:t>
            </a:r>
            <a:endParaRPr lang="en-US" sz="1620" dirty="0"/>
          </a:p>
        </p:txBody>
      </p:sp>
      <p:sp>
        <p:nvSpPr>
          <p:cNvPr id="34" name="Text 28"/>
          <p:cNvSpPr/>
          <p:nvPr/>
        </p:nvSpPr>
        <p:spPr>
          <a:xfrm>
            <a:off x="7534656" y="3703320"/>
            <a:ext cx="18562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新修订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灰度或试点</a:t>
            </a:r>
            <a:endParaRPr lang="en-US" sz="1130" dirty="0"/>
          </a:p>
        </p:txBody>
      </p:sp>
      <p:sp>
        <p:nvSpPr>
          <p:cNvPr id="35" name="Shape 29"/>
          <p:cNvSpPr/>
          <p:nvPr/>
        </p:nvSpPr>
        <p:spPr>
          <a:xfrm>
            <a:off x="9052560" y="2587752"/>
            <a:ext cx="484632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36" name="Shape 30"/>
          <p:cNvSpPr/>
          <p:nvPr/>
        </p:nvSpPr>
        <p:spPr>
          <a:xfrm>
            <a:off x="10186416" y="2057400"/>
            <a:ext cx="1060704" cy="1060704"/>
          </a:xfrm>
          <a:prstGeom prst="ellipse">
            <a:avLst/>
          </a:prstGeom>
          <a:solidFill>
            <a:srgbClr val="27A269"/>
          </a:solidFill>
          <a:ln w="12700">
            <a:solidFill>
              <a:srgbClr val="27A269">
                <a:alpha val="0"/>
              </a:srgbClr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8168" y="2359152"/>
            <a:ext cx="457200" cy="45720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10140696" y="2011680"/>
            <a:ext cx="320040" cy="320040"/>
          </a:xfrm>
          <a:prstGeom prst="ellipse">
            <a:avLst/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10140696" y="20756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40" name="Text 33"/>
          <p:cNvSpPr/>
          <p:nvPr/>
        </p:nvSpPr>
        <p:spPr>
          <a:xfrm>
            <a:off x="9866376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验证</a:t>
            </a:r>
            <a:endParaRPr lang="en-US" sz="1620" dirty="0"/>
          </a:p>
        </p:txBody>
      </p:sp>
      <p:sp>
        <p:nvSpPr>
          <p:cNvPr id="41" name="Text 34"/>
          <p:cNvSpPr/>
          <p:nvPr/>
        </p:nvSpPr>
        <p:spPr>
          <a:xfrm>
            <a:off x="9784080" y="3703320"/>
            <a:ext cx="18562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同口径对比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样本与置信度</a:t>
            </a:r>
            <a:endParaRPr lang="en-US" sz="1130" dirty="0"/>
          </a:p>
        </p:txBody>
      </p:sp>
      <p:sp>
        <p:nvSpPr>
          <p:cNvPr id="42" name="Shape 35"/>
          <p:cNvSpPr/>
          <p:nvPr/>
        </p:nvSpPr>
        <p:spPr>
          <a:xfrm>
            <a:off x="10652760" y="4636008"/>
            <a:ext cx="-9445752" cy="0"/>
          </a:xfrm>
          <a:prstGeom prst="line">
            <a:avLst/>
          </a:prstGeom>
          <a:noFill/>
          <a:ln w="2159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43" name="Text 36"/>
          <p:cNvSpPr/>
          <p:nvPr/>
        </p:nvSpPr>
        <p:spPr>
          <a:xfrm>
            <a:off x="5513832" y="47365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持续循环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1143000" y="5230368"/>
            <a:ext cx="9902952" cy="676656"/>
          </a:xfrm>
          <a:prstGeom prst="roundRect">
            <a:avLst>
              <a:gd name="adj" fmla="val 16216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45" name="Shape 38"/>
          <p:cNvSpPr/>
          <p:nvPr/>
        </p:nvSpPr>
        <p:spPr>
          <a:xfrm>
            <a:off x="1389888" y="5349240"/>
            <a:ext cx="402336" cy="402336"/>
          </a:xfrm>
          <a:prstGeom prst="ellipse">
            <a:avLst/>
          </a:prstGeom>
          <a:solidFill>
            <a:srgbClr val="21304D"/>
          </a:solidFill>
          <a:ln w="12700">
            <a:solidFill>
              <a:srgbClr val="21304D">
                <a:alpha val="0"/>
              </a:srgbClr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2425" y="5441777"/>
            <a:ext cx="217261" cy="217261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1901952" y="534009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护栏</a:t>
            </a:r>
            <a:endParaRPr lang="en-US" sz="1050" dirty="0"/>
          </a:p>
        </p:txBody>
      </p:sp>
      <p:sp>
        <p:nvSpPr>
          <p:cNvPr id="48" name="Text 40"/>
          <p:cNvSpPr/>
          <p:nvPr/>
        </p:nvSpPr>
        <p:spPr>
          <a:xfrm>
            <a:off x="2706624" y="53035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人工反馈不直接自动训练；先做脱敏、复核、样本校准与版本对比。</a:t>
            </a:r>
            <a:endParaRPr lang="en-US" sz="1250" dirty="0"/>
          </a:p>
        </p:txBody>
      </p:sp>
      <p:sp>
        <p:nvSpPr>
          <p:cNvPr id="49" name="Shape 41"/>
          <p:cNvSpPr/>
          <p:nvPr/>
        </p:nvSpPr>
        <p:spPr>
          <a:xfrm>
            <a:off x="9217152" y="540410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50" name="Text 42"/>
          <p:cNvSpPr/>
          <p:nvPr/>
        </p:nvSpPr>
        <p:spPr>
          <a:xfrm>
            <a:off x="9326880" y="542239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证据优先</a:t>
            </a:r>
            <a:endParaRPr lang="en-US" sz="9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实施范围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MVP：先闭环，再做“聪明”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第一版只做能采集、能统计、能钻取、能对比的最小完整链路。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819656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77824" y="2039112"/>
            <a:ext cx="1069848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057400"/>
            <a:ext cx="850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必须完成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905256" y="2670048"/>
            <a:ext cx="228600" cy="228600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2706624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271016" y="26151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生成完成后的评价入口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5256" y="3154680"/>
            <a:ext cx="228600" cy="228600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" y="3191256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271016" y="30998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四级可用性 + 多选问题标签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5256" y="3639312"/>
            <a:ext cx="228600" cy="228600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" y="367588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271016" y="358444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影响功能 + 补充说明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" y="4123944"/>
            <a:ext cx="228600" cy="228600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256" y="416052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71016" y="406908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 / 源码快照版本关联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05256" y="4608576"/>
            <a:ext cx="228600" cy="228600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" y="464515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271016" y="455371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代码路径 / API 证据关联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5256" y="5093208"/>
            <a:ext cx="228600" cy="228600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5256" y="5129784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271016" y="5038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看板、钻取、权限与审计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352544" y="1819656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0" y="2039112"/>
            <a:ext cx="1069848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81728" y="2057400"/>
            <a:ext cx="850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条件允许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4599432" y="2670048"/>
            <a:ext cx="228600" cy="228600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2706624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965192" y="26151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自动计算修改差异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99432" y="3154680"/>
            <a:ext cx="228600" cy="228600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99432" y="3191256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965192" y="30998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批量评价与快捷键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99432" y="3639312"/>
            <a:ext cx="228600" cy="228600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99432" y="367588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65192" y="358444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源码事实一致性辅助分析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599432" y="4123944"/>
            <a:ext cx="228600" cy="228600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99432" y="416052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965192" y="406908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修订前后对比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599432" y="4608576"/>
            <a:ext cx="228600" cy="228600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99432" y="464515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965192" y="455371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冻结 ChangeSet 对接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599432" y="5093208"/>
            <a:ext cx="228600" cy="228600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99432" y="5129784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965192" y="5038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抽样复核 / 双人一致性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046720" y="1819656"/>
            <a:ext cx="3401568" cy="41605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266176" y="2039112"/>
            <a:ext cx="1069848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75904" y="2057400"/>
            <a:ext cx="850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本期不做</a:t>
            </a:r>
            <a:endParaRPr lang="en-US" sz="1020" dirty="0"/>
          </a:p>
        </p:txBody>
      </p:sp>
      <p:sp>
        <p:nvSpPr>
          <p:cNvPr id="53" name="Shape 51"/>
          <p:cNvSpPr/>
          <p:nvPr/>
        </p:nvSpPr>
        <p:spPr>
          <a:xfrm>
            <a:off x="8293608" y="2670048"/>
            <a:ext cx="228600" cy="228600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93608" y="2706624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8659368" y="26151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用自动评分完全替代人工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8293608" y="3154680"/>
            <a:ext cx="228600" cy="228600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93608" y="3191256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59368" y="30998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直接基于原始反馈自动训练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293608" y="3639312"/>
            <a:ext cx="228600" cy="228600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93608" y="367588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659368" y="358444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一次覆盖所有测试对象标签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8293608" y="4123944"/>
            <a:ext cx="228600" cy="228600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93608" y="416052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659368" y="406908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恢复源码快照中的 .git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8293608" y="4608576"/>
            <a:ext cx="228600" cy="228600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93608" y="464515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8659368" y="455371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混淆开发库与测试工作区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8293608" y="5093208"/>
            <a:ext cx="228600" cy="228600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93608" y="5129784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659368" y="5038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跨系统大而全数据中台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实施范围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周推进：每两周交付一次可演示增量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 5–7 人小组按能力交叉协作；每个阶段都用真实案例验证。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78992" y="2660904"/>
            <a:ext cx="9948672" cy="0"/>
          </a:xfrm>
          <a:prstGeom prst="line">
            <a:avLst/>
          </a:prstGeom>
          <a:noFill/>
          <a:ln w="63500">
            <a:solidFill>
              <a:srgbClr val="D9E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36192" y="2304288"/>
            <a:ext cx="713232" cy="7132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36192" y="251460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W1–2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768096" y="3108960"/>
            <a:ext cx="2249424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9264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定义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969264" y="3730752"/>
            <a:ext cx="18105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样本盘点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口径校准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案例—源码数据字典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15968" y="2304288"/>
            <a:ext cx="713232" cy="713232"/>
          </a:xfrm>
          <a:prstGeom prst="ellipse">
            <a:avLst/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5968" y="251460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W3–4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3547872" y="3108960"/>
            <a:ext cx="2249424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49040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3749040" y="3730752"/>
            <a:ext cx="18105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数据存储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工作台入口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095744" y="2304288"/>
            <a:ext cx="713232" cy="713232"/>
          </a:xfrm>
          <a:prstGeom prst="ellipse">
            <a:avLst/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95744" y="251460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W5–6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327648" y="3108960"/>
            <a:ext cx="2249424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28816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38544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6528816" y="3730752"/>
            <a:ext cx="18105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指标查询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看板与钻取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版本 / 模块筛选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875520" y="2304288"/>
            <a:ext cx="713232" cy="713232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75520" y="251460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W7–8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9107424" y="3108960"/>
            <a:ext cx="2249424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08592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18320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验证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9308592" y="3730752"/>
            <a:ext cx="18105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联调 / E2E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试点评价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版本对比与答辩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7240" y="5056632"/>
            <a:ext cx="2331720" cy="640080"/>
          </a:xfrm>
          <a:prstGeom prst="roundRect">
            <a:avLst>
              <a:gd name="adj" fmla="val 18571"/>
            </a:avLst>
          </a:prstGeom>
          <a:solidFill>
            <a:srgbClr val="0B132B"/>
          </a:solidFill>
          <a:ln w="12700">
            <a:solidFill>
              <a:srgbClr val="0B13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1832" y="517550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 / 口径</a:t>
            </a:r>
            <a:endParaRPr lang="en-US" sz="1070" dirty="0"/>
          </a:p>
        </p:txBody>
      </p:sp>
      <p:sp>
        <p:nvSpPr>
          <p:cNvPr id="35" name="Text 33"/>
          <p:cNvSpPr/>
          <p:nvPr/>
        </p:nvSpPr>
        <p:spPr>
          <a:xfrm>
            <a:off x="1746504" y="51755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需求、原型、判例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3520440" y="5056632"/>
            <a:ext cx="2331720" cy="640080"/>
          </a:xfrm>
          <a:prstGeom prst="roundRect">
            <a:avLst>
              <a:gd name="adj" fmla="val 18571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85032" y="517550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</a:t>
            </a:r>
            <a:endParaRPr lang="en-US" sz="1070" dirty="0"/>
          </a:p>
        </p:txBody>
      </p:sp>
      <p:sp>
        <p:nvSpPr>
          <p:cNvPr id="38" name="Text 36"/>
          <p:cNvSpPr/>
          <p:nvPr/>
        </p:nvSpPr>
        <p:spPr>
          <a:xfrm>
            <a:off x="4489704" y="51755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评价与看板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6263640" y="5056632"/>
            <a:ext cx="2331720" cy="640080"/>
          </a:xfrm>
          <a:prstGeom prst="roundRect">
            <a:avLst>
              <a:gd name="adj" fmla="val 18571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517550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 / 数据</a:t>
            </a:r>
            <a:endParaRPr lang="en-US" sz="1070" dirty="0"/>
          </a:p>
        </p:txBody>
      </p:sp>
      <p:sp>
        <p:nvSpPr>
          <p:cNvPr id="41" name="Text 39"/>
          <p:cNvSpPr/>
          <p:nvPr/>
        </p:nvSpPr>
        <p:spPr>
          <a:xfrm>
            <a:off x="7232904" y="51755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API、模型、统计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9006840" y="5056632"/>
            <a:ext cx="2331720" cy="640080"/>
          </a:xfrm>
          <a:prstGeom prst="roundRect">
            <a:avLst>
              <a:gd name="adj" fmla="val 18571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71432" y="517550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质量 / 测试</a:t>
            </a:r>
            <a:endParaRPr lang="en-US" sz="1070" dirty="0"/>
          </a:p>
        </p:txBody>
      </p:sp>
      <p:sp>
        <p:nvSpPr>
          <p:cNvPr id="44" name="Text 42"/>
          <p:cNvSpPr/>
          <p:nvPr/>
        </p:nvSpPr>
        <p:spPr>
          <a:xfrm>
            <a:off x="9976104" y="51755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样本、自动化、验收</a:t>
            </a:r>
            <a:endParaRPr lang="en-US" sz="980" dirty="0"/>
          </a:p>
        </p:txBody>
      </p:sp>
      <p:sp>
        <p:nvSpPr>
          <p:cNvPr id="45" name="Shape 43"/>
          <p:cNvSpPr/>
          <p:nvPr/>
        </p:nvSpPr>
        <p:spPr>
          <a:xfrm>
            <a:off x="4142232" y="5961888"/>
            <a:ext cx="1709928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51960" y="5980176"/>
            <a:ext cx="14904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每周一次口径校准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6144768" y="5961888"/>
            <a:ext cx="187452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54496" y="5980176"/>
            <a:ext cx="1655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每两周一次产品演示</a:t>
            </a:r>
            <a:endParaRPr lang="en-US" sz="9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验收方式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用一条真实生成任务，演示完整闭环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验收不是看页面数量，而是看案例能否追溯到评价、开发版本与代码证据。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AI 案例可用性评估看板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9224" y="2029968"/>
            <a:ext cx="530352" cy="530352"/>
          </a:xfrm>
          <a:prstGeom prst="ellipse">
            <a:avLst/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362456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362456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从需求与设计生成一批案例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51176" y="2295144"/>
            <a:ext cx="24688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916936" y="2029968"/>
            <a:ext cx="530352" cy="53035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16936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3630168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630168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完成单条 / 批量 A–D 评价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18888" y="2295144"/>
            <a:ext cx="24688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84648" y="2029968"/>
            <a:ext cx="530352" cy="530352"/>
          </a:xfrm>
          <a:prstGeom prst="ellipse">
            <a:avLst/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84648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5897880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统计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897880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看直接可用率与问题分布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86600" y="2295144"/>
            <a:ext cx="24688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52360" y="2029968"/>
            <a:ext cx="530352" cy="530352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8165592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钻取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165592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回到案例、源码版本与代码证据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354312" y="2295144"/>
            <a:ext cx="24688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720072" y="2029968"/>
            <a:ext cx="530352" cy="530352"/>
          </a:xfrm>
          <a:prstGeom prst="ellipse">
            <a:avLst/>
          </a:prstGeom>
          <a:solidFill>
            <a:srgbClr val="27A269"/>
          </a:solidFill>
          <a:ln w="12700">
            <a:solidFill>
              <a:srgbClr val="27A26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20072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10433304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对比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0433304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比较 Skill 修订前后变化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8368" y="3547872"/>
            <a:ext cx="10844784" cy="2011680"/>
          </a:xfrm>
          <a:prstGeom prst="roundRect">
            <a:avLst>
              <a:gd name="adj" fmla="val 5455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96112" y="379476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最小验收条件</a:t>
            </a:r>
            <a:endParaRPr lang="en-US" sz="1520" dirty="0"/>
          </a:p>
        </p:txBody>
      </p:sp>
      <p:sp>
        <p:nvSpPr>
          <p:cNvPr id="34" name="Shape 32"/>
          <p:cNvSpPr/>
          <p:nvPr/>
        </p:nvSpPr>
        <p:spPr>
          <a:xfrm>
            <a:off x="914400" y="4306824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4343400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1243584" y="427939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评价绑定案例版本、源码快照与操作者</a:t>
            </a:r>
            <a:endParaRPr lang="en-US" sz="1130" dirty="0"/>
          </a:p>
        </p:txBody>
      </p:sp>
      <p:sp>
        <p:nvSpPr>
          <p:cNvPr id="37" name="Shape 35"/>
          <p:cNvSpPr/>
          <p:nvPr/>
        </p:nvSpPr>
        <p:spPr>
          <a:xfrm>
            <a:off x="6172200" y="4306824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4343400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6501384" y="427939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单次评价中位耗时不高于 30 秒</a:t>
            </a:r>
            <a:endParaRPr lang="en-US" sz="1130" dirty="0"/>
          </a:p>
        </p:txBody>
      </p:sp>
      <p:sp>
        <p:nvSpPr>
          <p:cNvPr id="40" name="Shape 38"/>
          <p:cNvSpPr/>
          <p:nvPr/>
        </p:nvSpPr>
        <p:spPr>
          <a:xfrm>
            <a:off x="914400" y="4690872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727448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243584" y="4663440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看板汇总与明细抽查结果一致</a:t>
            </a:r>
            <a:endParaRPr lang="en-US" sz="1130" dirty="0"/>
          </a:p>
        </p:txBody>
      </p:sp>
      <p:sp>
        <p:nvSpPr>
          <p:cNvPr id="43" name="Shape 41"/>
          <p:cNvSpPr/>
          <p:nvPr/>
        </p:nvSpPr>
        <p:spPr>
          <a:xfrm>
            <a:off x="6172200" y="4690872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4727448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45" name="Text 43"/>
          <p:cNvSpPr/>
          <p:nvPr/>
        </p:nvSpPr>
        <p:spPr>
          <a:xfrm>
            <a:off x="6501384" y="4663440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任意指标可钻取到原案例与反馈证据</a:t>
            </a:r>
            <a:endParaRPr lang="en-US" sz="1130" dirty="0"/>
          </a:p>
        </p:txBody>
      </p:sp>
      <p:sp>
        <p:nvSpPr>
          <p:cNvPr id="46" name="Shape 44"/>
          <p:cNvSpPr/>
          <p:nvPr/>
        </p:nvSpPr>
        <p:spPr>
          <a:xfrm>
            <a:off x="914400" y="5074920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5111496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48" name="Text 46"/>
          <p:cNvSpPr/>
          <p:nvPr/>
        </p:nvSpPr>
        <p:spPr>
          <a:xfrm>
            <a:off x="1243584" y="504748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至少 30 条案例完成双人校准试评</a:t>
            </a:r>
            <a:endParaRPr lang="en-US" sz="1130" dirty="0"/>
          </a:p>
        </p:txBody>
      </p:sp>
      <p:sp>
        <p:nvSpPr>
          <p:cNvPr id="49" name="Shape 47"/>
          <p:cNvSpPr/>
          <p:nvPr/>
        </p:nvSpPr>
        <p:spPr>
          <a:xfrm>
            <a:off x="6172200" y="5074920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5111496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51" name="Text 49"/>
          <p:cNvSpPr/>
          <p:nvPr/>
        </p:nvSpPr>
        <p:spPr>
          <a:xfrm>
            <a:off x="6501384" y="504748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权限、审计、异常与兼容性完成验证</a:t>
            </a:r>
            <a:endParaRPr lang="en-US" sz="1130" dirty="0"/>
          </a:p>
        </p:txBody>
      </p:sp>
      <p:sp>
        <p:nvSpPr>
          <p:cNvPr id="52" name="Shape 50"/>
          <p:cNvSpPr/>
          <p:nvPr/>
        </p:nvSpPr>
        <p:spPr>
          <a:xfrm>
            <a:off x="4087368" y="5925312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97096" y="5943600"/>
            <a:ext cx="38039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成功 = 评价被使用，而不是页面被打开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822960"/>
            <a:ext cx="3840480" cy="3840480"/>
          </a:xfrm>
          <a:prstGeom prst="ellipse">
            <a:avLst/>
          </a:prstGeom>
          <a:solidFill>
            <a:srgbClr val="00A896">
              <a:alpha val="2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-228600"/>
            <a:ext cx="2651760" cy="2651760"/>
          </a:xfrm>
          <a:prstGeom prst="ellipse">
            <a:avLst/>
          </a:prstGeom>
          <a:solidFill>
            <a:srgbClr val="B8F36B">
              <a:alpha val="14000"/>
            </a:srgbClr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188720" y="5166360"/>
            <a:ext cx="2926080" cy="2926080"/>
          </a:xfrm>
          <a:prstGeom prst="ellipse">
            <a:avLst/>
          </a:prstGeom>
          <a:solidFill>
            <a:srgbClr val="8A6FE8">
              <a:alpha val="12000"/>
            </a:srgbClr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576072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594360"/>
            <a:ext cx="530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7512" y="1225296"/>
            <a:ext cx="9006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最终交付的不是一张报表，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而是一套让智能体持续变好的质量闭环。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694944" y="3044952"/>
            <a:ext cx="3401568" cy="1298448"/>
          </a:xfrm>
          <a:prstGeom prst="roundRect">
            <a:avLst>
              <a:gd name="adj" fmla="val 11972"/>
            </a:avLst>
          </a:prstGeom>
          <a:solidFill>
            <a:srgbClr val="152442"/>
          </a:solidFill>
          <a:ln w="12700">
            <a:solidFill>
              <a:srgbClr val="2A3C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300984"/>
            <a:ext cx="493776" cy="49377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968" y="3414552"/>
            <a:ext cx="266639" cy="266639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54480" y="322783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可评价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554480" y="362102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BBC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每条反馈有口径、有版本、有证据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4425696" y="3044952"/>
            <a:ext cx="3401568" cy="1298448"/>
          </a:xfrm>
          <a:prstGeom prst="roundRect">
            <a:avLst>
              <a:gd name="adj" fmla="val 11972"/>
            </a:avLst>
          </a:prstGeom>
          <a:solidFill>
            <a:srgbClr val="152442"/>
          </a:solidFill>
          <a:ln w="12700">
            <a:solidFill>
              <a:srgbClr val="2A3C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45152" y="3300984"/>
            <a:ext cx="493776" cy="493776"/>
          </a:xfrm>
          <a:prstGeom prst="ellipse">
            <a:avLst/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720" y="3414552"/>
            <a:ext cx="266639" cy="26663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85232" y="322783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可定位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285232" y="362102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BBC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知道问题类型、影响功能和责任资产</a:t>
            </a:r>
            <a:endParaRPr lang="en-US" sz="1120" dirty="0"/>
          </a:p>
        </p:txBody>
      </p:sp>
      <p:sp>
        <p:nvSpPr>
          <p:cNvPr id="18" name="Shape 14"/>
          <p:cNvSpPr/>
          <p:nvPr/>
        </p:nvSpPr>
        <p:spPr>
          <a:xfrm>
            <a:off x="8156448" y="3044952"/>
            <a:ext cx="3401568" cy="1298448"/>
          </a:xfrm>
          <a:prstGeom prst="roundRect">
            <a:avLst>
              <a:gd name="adj" fmla="val 11972"/>
            </a:avLst>
          </a:prstGeom>
          <a:solidFill>
            <a:srgbClr val="152442"/>
          </a:solidFill>
          <a:ln w="12700">
            <a:solidFill>
              <a:srgbClr val="2A3C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75904" y="3300984"/>
            <a:ext cx="493776" cy="493776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9472" y="3414552"/>
            <a:ext cx="266639" cy="266639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015984" y="322783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可验证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9015984" y="362102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BBC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/ Rule 修订前后可量化比较</a:t>
            </a:r>
            <a:endParaRPr lang="en-US" sz="1120" dirty="0"/>
          </a:p>
        </p:txBody>
      </p:sp>
      <p:sp>
        <p:nvSpPr>
          <p:cNvPr id="23" name="Shape 18"/>
          <p:cNvSpPr/>
          <p:nvPr/>
        </p:nvSpPr>
        <p:spPr>
          <a:xfrm>
            <a:off x="694944" y="4855464"/>
            <a:ext cx="10817352" cy="868680"/>
          </a:xfrm>
          <a:prstGeom prst="roundRect">
            <a:avLst>
              <a:gd name="adj" fmla="val 18947"/>
            </a:avLst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960120" y="504748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第一周就做三件事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2642616" y="498348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选 30 条真实案例   ② 完成双人评价校准   ③ 评审原型与数据字典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10241280" y="61264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测试效能团队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案例可用性评估看板｜开题汇报</dc:title>
  <dc:subject>AI 生成测试案例的可用性评价、问题标注、质量统计与智能体迭代闭环</dc:subject>
  <dc:creator>MIMO 测试智能体课题组</dc:creator>
  <cp:lastModifiedBy>MIMO 测试智能体课题组</cp:lastModifiedBy>
  <cp:revision>1</cp:revision>
  <dcterms:created xsi:type="dcterms:W3CDTF">2026-07-30T05:55:17Z</dcterms:created>
  <dcterms:modified xsi:type="dcterms:W3CDTF">2026-07-30T05:55:17Z</dcterms:modified>
</cp:coreProperties>
</file>