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开场先讲清楚：这个课题不是再做一个案例生成器，而是评估现有测试资产的可用性和变更响应度，并把风险转成可执行的优化清单。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这里要避免简单地把“代码变了、资产没变”判定为缺陷。它首先是风险信号；测试人员需要确认无需调整，或选择更新、补充、重新生成。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底座已覆盖工作区、上下文、运行、产物、版本和资产治理。新员工不重做聊天、编辑器、Git 或案例生成 Agent，只补测试资产评估、开发变更响应和优化闭环。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本周交付的主体是嵌入现有 agent-web 的两个网页，以及配套 API 和数据模型。现有案例生成/审核 Agent 直接复用，不新建 Agent；资产范围以测试案例为主，后续可扩展到脚本、数据和规约。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关键口径：“代码变了、资产没变”只是需要注意的风险信号，不是自动判定资产有错。开发源码快照和测试工作区保持分离；MVP 通过版本身份、变更文件清单和代码证据关联资产。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这是最终效果的核心示意。用户不仅评价案例能否使用，还需要对关联开发变更做出处置：确认无需调整，或更新、补充、重新生成资产。两类结论都要与当前资产版本和源码快照绑定。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看板数据全部标成演示数据，避免被误认为生产结论。可用性指标说明资产好不好用；资产响应率说明受影响的开发变更是否已被更新或人工确认。任意指标都必须钻取到变更证据、资产版本和处置记录。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这一页只呈现六个必须完成的工作包。课题仍以测试案例为首批资产，但评估口径已扩展到变更响应度和优化处置。30 条样例用于一周内校准与演示，不代表生产统计门槛。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一周实战每天 17 点集成一次，周二必须有前后端骨架，周三评估、变更关联和优化处置链路要通，周四看板与未响应风险钻取要通，周五用于真实试评、修复和答辩。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这一页必须回答“最终到底交付什么”。主体是现有平台中的资产评估与优化页、质量看板，不是一个新 Agent；同时交付支撑它们的评估/关联/统计 API、数据模型、测试和可运行的变更响应演示链路。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822960"/>
            <a:ext cx="3840480" cy="3840480"/>
          </a:xfrm>
          <a:prstGeom prst="ellipse">
            <a:avLst/>
          </a:prstGeom>
          <a:solidFill>
            <a:srgbClr val="00A896">
              <a:alpha val="2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12680" y="-228600"/>
            <a:ext cx="2651760" cy="2651760"/>
          </a:xfrm>
          <a:prstGeom prst="ellipse">
            <a:avLst/>
          </a:prstGeom>
          <a:solidFill>
            <a:srgbClr val="B8F36B">
              <a:alpha val="14000"/>
            </a:srgbClr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188720" y="5166360"/>
            <a:ext cx="2926080" cy="2926080"/>
          </a:xfrm>
          <a:prstGeom prst="ellipse">
            <a:avLst/>
          </a:prstGeom>
          <a:solidFill>
            <a:srgbClr val="8A6FE8">
              <a:alpha val="12000"/>
            </a:srgbClr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30352"/>
            <a:ext cx="2212848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48640"/>
            <a:ext cx="1993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新员工实战课题 · 开题汇报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58368" y="1051560"/>
            <a:ext cx="6995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面向开发变更的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测试资产质量评估与优化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94944" y="290779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C9D3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既评估资产好不好，也关注资产有没有响应代码变化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94944" y="34015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DF7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基于现有 MIMO 测试智能体底座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26680" y="932688"/>
            <a:ext cx="3584448" cy="3584448"/>
          </a:xfrm>
          <a:prstGeom prst="ellipse">
            <a:avLst/>
          </a:prstGeom>
          <a:solidFill>
            <a:srgbClr val="132342"/>
          </a:solidFill>
          <a:ln w="12700">
            <a:solidFill>
              <a:srgbClr val="2A3E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47304" y="1353312"/>
            <a:ext cx="2743200" cy="2743200"/>
          </a:xfrm>
          <a:prstGeom prst="ellipse">
            <a:avLst/>
          </a:prstGeom>
          <a:solidFill>
            <a:srgbClr val="0B1833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67928" y="1773936"/>
            <a:ext cx="1901952" cy="19019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51392" y="1993392"/>
            <a:ext cx="1335024" cy="1417320"/>
          </a:xfrm>
          <a:prstGeom prst="roundRect">
            <a:avLst>
              <a:gd name="adj" fmla="val 821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25128" y="21762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34856" y="2194560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CASE-017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9015984" y="257860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登录失败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锁定校验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2944368"/>
            <a:ext cx="420624" cy="420624"/>
          </a:xfrm>
          <a:prstGeom prst="ellipse">
            <a:avLst/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0472" y="3041112"/>
            <a:ext cx="227137" cy="22713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10515600" y="4325112"/>
            <a:ext cx="960120" cy="1024128"/>
          </a:xfrm>
          <a:prstGeom prst="line">
            <a:avLst/>
          </a:prstGeom>
          <a:noFill/>
          <a:ln w="101600">
            <a:solidFill>
              <a:srgbClr val="00A89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109960" y="4983480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4944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4672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变更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1764792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956816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066544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关联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026664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218688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328416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评估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288536" y="5367528"/>
            <a:ext cx="137160" cy="0"/>
          </a:xfrm>
          <a:prstGeom prst="line">
            <a:avLst/>
          </a:prstGeom>
          <a:noFill/>
          <a:ln w="21590">
            <a:solidFill>
              <a:srgbClr val="7C8DAA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480560" y="5212080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90288" y="5230368"/>
            <a:ext cx="8412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优化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0652760" y="6263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8FA1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6984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8503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课题定义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一句话：让测试资产及时响应开发变更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既评价 AI 生成案例是否可用，也识别“代码已变、关联资产未响应”的风险。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901952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95681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481328" y="2185416"/>
            <a:ext cx="9281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代码变了，资产不一定必须改；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但必须能说明“为何无需改，或准备怎么改”。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58368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59536" y="4279392"/>
            <a:ext cx="457200" cy="457200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4384548"/>
            <a:ext cx="246888" cy="2468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44752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资产能用吗？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A/B/C/D 可用性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419856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21024" y="4279392"/>
            <a:ext cx="457200" cy="457200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4384548"/>
            <a:ext cx="246888" cy="2468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06240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代码影响哪？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621024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路径 / 模块 / 功能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181344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82512" y="4279392"/>
            <a:ext cx="457200" cy="457200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668" y="4384548"/>
            <a:ext cx="246888" cy="2468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67728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资产响应了吗？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6382512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 / 修改 / 确认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8942832" y="406908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144000" y="4279392"/>
            <a:ext cx="457200" cy="457200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9156" y="4384548"/>
            <a:ext cx="246888" cy="24688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729216" y="426110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下一步怎么做？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144000" y="477316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 / 修正 / 重新生成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3886200" y="5833872"/>
            <a:ext cx="443484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3995928" y="5852160"/>
            <a:ext cx="42153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北极星：受影响变更的资产响应率持续提升</a:t>
            </a:r>
            <a:endParaRPr lang="en-US" sz="11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已有底座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我们不是从零开始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当前平台已具备案例生成所需的上下文、运行、资产和工程化能力。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依据：module-map / user-manual / http-api（2026-07-30）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21408"/>
            <a:ext cx="512064" cy="512064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455" y="2239183"/>
            <a:ext cx="276515" cy="2765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2704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应用与工作区</a:t>
            </a:r>
            <a:endParaRPr lang="en-US" sz="1620" dirty="0"/>
          </a:p>
        </p:txBody>
      </p:sp>
      <p:sp>
        <p:nvSpPr>
          <p:cNvPr id="13" name="Text 10"/>
          <p:cNvSpPr/>
          <p:nvPr/>
        </p:nvSpPr>
        <p:spPr>
          <a:xfrm>
            <a:off x="152704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应用、版本、个人 workspace、需求子条目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2121408"/>
            <a:ext cx="512064" cy="512064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775" y="2239183"/>
            <a:ext cx="276515" cy="2765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3036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上下文装配</a:t>
            </a:r>
            <a:endParaRPr lang="en-US" sz="1620" dirty="0"/>
          </a:p>
        </p:txBody>
      </p:sp>
      <p:sp>
        <p:nvSpPr>
          <p:cNvPr id="18" name="Text 14"/>
          <p:cNvSpPr/>
          <p:nvPr/>
        </p:nvSpPr>
        <p:spPr>
          <a:xfrm>
            <a:off x="523036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引入需求；@ 选择 Agent / 文件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065008" y="1901952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75320" y="2121408"/>
            <a:ext cx="512064" cy="512064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3095" y="2239183"/>
            <a:ext cx="276515" cy="27651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33688" y="21031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测试设计资产</a:t>
            </a:r>
            <a:endParaRPr lang="en-US" sz="1620" dirty="0"/>
          </a:p>
        </p:txBody>
      </p:sp>
      <p:sp>
        <p:nvSpPr>
          <p:cNvPr id="23" name="Text 18"/>
          <p:cNvSpPr/>
          <p:nvPr/>
        </p:nvSpPr>
        <p:spPr>
          <a:xfrm>
            <a:off x="8933688" y="2496312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测试分析、案例生成、案例审核已沉淀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5836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68680" y="3694176"/>
            <a:ext cx="512064" cy="512064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455" y="3811951"/>
            <a:ext cx="276515" cy="27651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52704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会话与运行</a:t>
            </a:r>
            <a:endParaRPr lang="en-US" sz="1620" dirty="0"/>
          </a:p>
        </p:txBody>
      </p:sp>
      <p:sp>
        <p:nvSpPr>
          <p:cNvPr id="28" name="Text 22"/>
          <p:cNvSpPr/>
          <p:nvPr/>
        </p:nvSpPr>
        <p:spPr>
          <a:xfrm>
            <a:off x="152704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/ Run / RunEvent SSE 实时呈现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36168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572000" y="3694176"/>
            <a:ext cx="512064" cy="512064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775" y="3811951"/>
            <a:ext cx="276515" cy="27651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3036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文件与版本</a:t>
            </a:r>
            <a:endParaRPr lang="en-US" sz="1620" dirty="0"/>
          </a:p>
        </p:txBody>
      </p:sp>
      <p:sp>
        <p:nvSpPr>
          <p:cNvPr id="33" name="Text 26"/>
          <p:cNvSpPr/>
          <p:nvPr/>
        </p:nvSpPr>
        <p:spPr>
          <a:xfrm>
            <a:off x="523036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编辑、Markdown 预览、Diff、Git 留痕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65008" y="3474720"/>
            <a:ext cx="340156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75320" y="3694176"/>
            <a:ext cx="512064" cy="512064"/>
          </a:xfrm>
          <a:prstGeom prst="ellipse">
            <a:avLst/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3095" y="3811951"/>
            <a:ext cx="276515" cy="276515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33688" y="367588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&amp; Skill Hub</a:t>
            </a:r>
            <a:endParaRPr lang="en-US" sz="1620" dirty="0"/>
          </a:p>
        </p:txBody>
      </p:sp>
      <p:sp>
        <p:nvSpPr>
          <p:cNvPr id="38" name="Text 30"/>
          <p:cNvSpPr/>
          <p:nvPr/>
        </p:nvSpPr>
        <p:spPr>
          <a:xfrm>
            <a:off x="8933688" y="4069080"/>
            <a:ext cx="2212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浏览、发布、引用、更新与修订管理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58368" y="5230368"/>
            <a:ext cx="10853928" cy="667512"/>
          </a:xfrm>
          <a:prstGeom prst="roundRect">
            <a:avLst>
              <a:gd name="adj" fmla="val 21918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896112" y="5340096"/>
            <a:ext cx="429768" cy="429768"/>
          </a:xfrm>
          <a:prstGeom prst="ellipse">
            <a:avLst/>
          </a:prstGeom>
          <a:solidFill>
            <a:srgbClr val="21304D"/>
          </a:solidFill>
          <a:ln w="12700">
            <a:solidFill>
              <a:srgbClr val="21304D">
                <a:alpha val="0"/>
              </a:srgbClr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959" y="5438943"/>
            <a:ext cx="232075" cy="232075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435608" y="532180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公共地基</a:t>
            </a:r>
            <a:endParaRPr lang="en-US" sz="1100" dirty="0"/>
          </a:p>
        </p:txBody>
      </p:sp>
      <p:sp>
        <p:nvSpPr>
          <p:cNvPr id="43" name="Text 34"/>
          <p:cNvSpPr/>
          <p:nvPr/>
        </p:nvSpPr>
        <p:spPr>
          <a:xfrm>
            <a:off x="2359152" y="53126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 API / traceId / 权限 · 只读源码快照身份 · 个人测试工作区 · 文件与版本治理</a:t>
            </a:r>
            <a:endParaRPr lang="en-US" sz="1240" dirty="0"/>
          </a:p>
        </p:txBody>
      </p:sp>
      <p:sp>
        <p:nvSpPr>
          <p:cNvPr id="44" name="Shape 35"/>
          <p:cNvSpPr/>
          <p:nvPr/>
        </p:nvSpPr>
        <p:spPr>
          <a:xfrm>
            <a:off x="9034272" y="5404104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9144000" y="5422392"/>
            <a:ext cx="1975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课题只补“评估 + 变更响应”</a:t>
            </a:r>
            <a:endParaRPr lang="en-US" sz="9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交付形态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最终交付：不是新 Agent，而是平台内的测试资产质量模块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复用现有案例生成/审核 Agent；新增资产评估、变更响应、优化处置和质量统计能力。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3232" y="1810512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195681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975104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直接复用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2075688" y="192938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测试案例生成 / 审核 Agent</a:t>
            </a:r>
            <a:endParaRPr lang="en-US" sz="1330" dirty="0"/>
          </a:p>
        </p:txBody>
      </p:sp>
      <p:sp>
        <p:nvSpPr>
          <p:cNvPr id="12" name="Text 10"/>
          <p:cNvSpPr/>
          <p:nvPr/>
        </p:nvSpPr>
        <p:spPr>
          <a:xfrm>
            <a:off x="4736592" y="1929384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继续负责生成案例，不在本周新建 Agent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713232" y="2615184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276148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79776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网页一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2075688" y="27340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资产评估与优化页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4736592" y="273405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可用性、代码证据、响应确认、优化动作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713232" y="3419856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0B132B"/>
          </a:solidFill>
          <a:ln w="12700">
            <a:solidFill>
              <a:srgbClr val="0B13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" y="356616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84448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网页二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2075688" y="3538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测试资产质量看板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4736592" y="3538728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BD5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可用性、资产响应率、风险清单、明细钻取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713232" y="4224528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437083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389120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服务能力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2075688" y="43434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 / 关联 / 统计 API</a:t>
            </a:r>
            <a:endParaRPr lang="en-US" sz="1330" dirty="0"/>
          </a:p>
        </p:txBody>
      </p:sp>
      <p:sp>
        <p:nvSpPr>
          <p:cNvPr id="27" name="Text 25"/>
          <p:cNvSpPr/>
          <p:nvPr/>
        </p:nvSpPr>
        <p:spPr>
          <a:xfrm>
            <a:off x="4736592" y="434340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保存评估、关联变更、查询风险、聚合统计</a:t>
            </a:r>
            <a:endParaRPr lang="en-US" sz="1180" dirty="0"/>
          </a:p>
        </p:txBody>
      </p:sp>
      <p:sp>
        <p:nvSpPr>
          <p:cNvPr id="28" name="Shape 26"/>
          <p:cNvSpPr/>
          <p:nvPr/>
        </p:nvSpPr>
        <p:spPr>
          <a:xfrm>
            <a:off x="713232" y="5029200"/>
            <a:ext cx="10744200" cy="612648"/>
          </a:xfrm>
          <a:prstGeom prst="roundRect">
            <a:avLst>
              <a:gd name="adj" fmla="val 194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" y="51755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193792"/>
            <a:ext cx="740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数据关联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2075688" y="514807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开发变更 + 资产版本 + 处置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4736592" y="514807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绑定 targetCommit、changedPaths、caseVersionId</a:t>
            </a:r>
            <a:endParaRPr lang="en-US" sz="1180" dirty="0"/>
          </a:p>
        </p:txBody>
      </p:sp>
      <p:sp>
        <p:nvSpPr>
          <p:cNvPr id="33" name="Shape 31"/>
          <p:cNvSpPr/>
          <p:nvPr/>
        </p:nvSpPr>
        <p:spPr>
          <a:xfrm>
            <a:off x="8668512" y="2011680"/>
            <a:ext cx="2487168" cy="2761488"/>
          </a:xfrm>
          <a:prstGeom prst="roundRect">
            <a:avLst>
              <a:gd name="adj" fmla="val 6618"/>
            </a:avLst>
          </a:prstGeom>
          <a:solidFill>
            <a:srgbClr val="17213D"/>
          </a:solidFill>
          <a:ln w="12700">
            <a:solidFill>
              <a:srgbClr val="17213D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62288" y="2496312"/>
            <a:ext cx="1499616" cy="1499616"/>
          </a:xfrm>
          <a:prstGeom prst="ellipse">
            <a:avLst/>
          </a:prstGeom>
          <a:solidFill>
            <a:srgbClr val="1D315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00616" y="2834640"/>
            <a:ext cx="822960" cy="8229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46920" y="2980944"/>
            <a:ext cx="530352" cy="530352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8901" y="3102925"/>
            <a:ext cx="286390" cy="28639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887968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Quality</a:t>
            </a:r>
            <a:endParaRPr lang="en-US" sz="1650" dirty="0"/>
          </a:p>
        </p:txBody>
      </p:sp>
      <p:sp>
        <p:nvSpPr>
          <p:cNvPr id="39" name="Text 36"/>
          <p:cNvSpPr/>
          <p:nvPr/>
        </p:nvSpPr>
        <p:spPr>
          <a:xfrm>
            <a:off x="9125712" y="41148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网页产品模块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3721608" y="5870448"/>
            <a:ext cx="4983480" cy="310896"/>
          </a:xfrm>
          <a:prstGeom prst="roundRect">
            <a:avLst>
              <a:gd name="adj" fmla="val 50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831336" y="5888736"/>
            <a:ext cx="47640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最终演示 = 代码变更 → 风险识别 → 资产处置 → 看板</a:t>
            </a:r>
            <a:endParaRPr lang="en-US" sz="10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变更关联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开发变更与测试资产：建立“变更—资产—处置”关系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代码变更且关联资产未响应时生成关注项，再由测试人员确认或优化。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651052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879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结合 Codex 任务 019fae77… 的源码快照与人员工作区分析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" y="1847088"/>
            <a:ext cx="3035808" cy="3584448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07568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093976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开发侧 · 生产变更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52928" y="2029968"/>
            <a:ext cx="493776" cy="493776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6496" y="2143536"/>
            <a:ext cx="266639" cy="26663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261518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前后两版源码快照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41248" y="3054096"/>
            <a:ext cx="1993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/ targetCommit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selectedPaths / indexSha256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变更文件清单（输入）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258568" y="38221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68296" y="3840480"/>
            <a:ext cx="8046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运行目录无 .git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841248" y="4224528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本周读取版本身份与已有/导入的变更文件清单；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不在运行快照中恢复 .git，不开发完整 Diff 引擎。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41248" y="5010912"/>
            <a:ext cx="134416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50976" y="50292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已存在：快照身份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2267712" y="501091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77440" y="5029200"/>
            <a:ext cx="9235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本周：变更输入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3995928" y="2542032"/>
            <a:ext cx="2267712" cy="2267712"/>
          </a:xfrm>
          <a:prstGeom prst="ellipse">
            <a:avLst/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2953512"/>
            <a:ext cx="1444752" cy="1444752"/>
          </a:xfrm>
          <a:prstGeom prst="ellipse">
            <a:avLst/>
          </a:prstGeom>
          <a:solidFill>
            <a:srgbClr val="152B45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37176" y="3383280"/>
            <a:ext cx="585216" cy="585216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776" y="3517880"/>
            <a:ext cx="316017" cy="31601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325112" y="41513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变更—资产</a:t>
            </a:r>
            <a:endParaRPr lang="en-US" sz="1640" dirty="0"/>
          </a:p>
          <a:p>
            <a:pPr algn="ctr" indent="0" marL="0">
              <a:buNone/>
            </a:pPr>
            <a:r>
              <a:rPr lang="en-US" sz="1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关联判断</a:t>
            </a:r>
            <a:endParaRPr lang="en-US" sz="1640" dirty="0"/>
          </a:p>
        </p:txBody>
      </p:sp>
      <p:sp>
        <p:nvSpPr>
          <p:cNvPr id="28" name="Shape 24"/>
          <p:cNvSpPr/>
          <p:nvPr/>
        </p:nvSpPr>
        <p:spPr>
          <a:xfrm>
            <a:off x="3639312" y="3639312"/>
            <a:ext cx="457200" cy="0"/>
          </a:xfrm>
          <a:prstGeom prst="line">
            <a:avLst/>
          </a:prstGeom>
          <a:noFill/>
          <a:ln w="21590">
            <a:solidFill>
              <a:srgbClr val="4D7CFE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263640" y="3639312"/>
            <a:ext cx="448056" cy="0"/>
          </a:xfrm>
          <a:prstGeom prst="line">
            <a:avLst/>
          </a:prstGeom>
          <a:noFill/>
          <a:ln w="2159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6729984" y="1847088"/>
            <a:ext cx="4846320" cy="3584448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967728" y="207568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077456" y="2093976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测试侧 · 质量资产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10808208" y="2029968"/>
            <a:ext cx="493776" cy="493776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776" y="2143536"/>
            <a:ext cx="266639" cy="266639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967728" y="2615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测试案例版本</a:t>
            </a:r>
            <a:endParaRPr lang="en-US" sz="1700" dirty="0"/>
          </a:p>
        </p:txBody>
      </p:sp>
      <p:sp>
        <p:nvSpPr>
          <p:cNvPr id="36" name="Text 31"/>
          <p:cNvSpPr/>
          <p:nvPr/>
        </p:nvSpPr>
        <p:spPr>
          <a:xfrm>
            <a:off x="6967728" y="3035808"/>
            <a:ext cx="3913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caseVersionId / contentHash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测试工作库版本 / personalWorkspaceId</a:t>
            </a:r>
            <a:endParaRPr lang="en-US" sz="1120" dirty="0"/>
          </a:p>
        </p:txBody>
      </p:sp>
      <p:sp>
        <p:nvSpPr>
          <p:cNvPr id="37" name="Shape 32"/>
          <p:cNvSpPr/>
          <p:nvPr/>
        </p:nvSpPr>
        <p:spPr>
          <a:xfrm>
            <a:off x="6976872" y="3776472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114032" y="38587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代码证据</a:t>
            </a:r>
            <a:endParaRPr lang="en-US" sz="970" dirty="0"/>
          </a:p>
        </p:txBody>
      </p:sp>
      <p:sp>
        <p:nvSpPr>
          <p:cNvPr id="39" name="Text 34"/>
          <p:cNvSpPr/>
          <p:nvPr/>
        </p:nvSpPr>
        <p:spPr>
          <a:xfrm>
            <a:off x="7114032" y="4059936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/ APIs / symbols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9144000" y="3776472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9281160" y="38587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影响功能</a:t>
            </a:r>
            <a:endParaRPr lang="en-US" sz="970" dirty="0"/>
          </a:p>
        </p:txBody>
      </p:sp>
      <p:sp>
        <p:nvSpPr>
          <p:cNvPr id="42" name="Text 37"/>
          <p:cNvSpPr/>
          <p:nvPr/>
        </p:nvSpPr>
        <p:spPr>
          <a:xfrm>
            <a:off x="9281160" y="4059936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 → 模块 → 功能点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976872" y="4434840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7114032" y="451713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资产响应</a:t>
            </a:r>
            <a:endParaRPr lang="en-US" sz="970" dirty="0"/>
          </a:p>
        </p:txBody>
      </p:sp>
      <p:sp>
        <p:nvSpPr>
          <p:cNvPr id="45" name="Text 40"/>
          <p:cNvSpPr/>
          <p:nvPr/>
        </p:nvSpPr>
        <p:spPr>
          <a:xfrm>
            <a:off x="7114032" y="4718304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 / 修改 / 确认无需改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9144000" y="4434840"/>
            <a:ext cx="1938528" cy="521208"/>
          </a:xfrm>
          <a:prstGeom prst="roundRect">
            <a:avLst>
              <a:gd name="adj" fmla="val 15789"/>
            </a:avLst>
          </a:prstGeom>
          <a:solidFill>
            <a:srgbClr val="EAF9D6"/>
          </a:solidFill>
          <a:ln w="12700">
            <a:solidFill>
              <a:srgbClr val="EAF9D6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9281160" y="4517136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风险状态</a:t>
            </a:r>
            <a:endParaRPr lang="en-US" sz="970" dirty="0"/>
          </a:p>
        </p:txBody>
      </p:sp>
      <p:sp>
        <p:nvSpPr>
          <p:cNvPr id="48" name="Text 43"/>
          <p:cNvSpPr/>
          <p:nvPr/>
        </p:nvSpPr>
        <p:spPr>
          <a:xfrm>
            <a:off x="9281160" y="4718304"/>
            <a:ext cx="157276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未响应 / 处理中 / 已关闭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" y="5715000"/>
            <a:ext cx="10808208" cy="493776"/>
          </a:xfrm>
          <a:prstGeom prst="roundRect">
            <a:avLst>
              <a:gd name="adj" fmla="val 25926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14400" y="5843016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分析价值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1700784" y="5815584"/>
            <a:ext cx="9372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代码已变且资产未响应 → 生成关注项 → 人工选择无需调整 / 更新已有 / 补充 / 重新生成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页面效果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评价页：完成反馈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同屏评价资产可用性、关联开发变更，并登记资产响应与优化动作。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11183112" cy="4480560"/>
          </a:xfrm>
          <a:prstGeom prst="roundRect">
            <a:avLst>
              <a:gd name="adj" fmla="val 2449"/>
            </a:avLst>
          </a:prstGeom>
          <a:solidFill>
            <a:srgbClr val="F8FAFD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00784"/>
            <a:ext cx="11183112" cy="438912"/>
          </a:xfrm>
          <a:prstGeom prst="roundRect">
            <a:avLst>
              <a:gd name="adj" fmla="val 25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1856232"/>
            <a:ext cx="100584" cy="100584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1856232"/>
            <a:ext cx="100584" cy="10058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1856232"/>
            <a:ext cx="100584" cy="10058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3312" y="1810512"/>
            <a:ext cx="5760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DDE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测试资产工作台 · 支付应用 / gen-42 / commit abc123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040112" y="1773936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03552"/>
          </a:solidFill>
          <a:ln w="12700">
            <a:solidFill>
              <a:srgbClr val="20355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149840" y="1792224"/>
            <a:ext cx="1024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待确认 1 项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94944" y="2313432"/>
            <a:ext cx="2331720" cy="3584448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24871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案例列表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1947672" y="2450592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4688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批量评价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22960" y="2898648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2980944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TC-001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50976" y="31821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登录成功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2432304" y="30540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F6EB"/>
          </a:solidFill>
          <a:ln w="12700">
            <a:solidFill>
              <a:srgbClr val="E1F6E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2032" y="3072384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822960" y="3685032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DDF7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3767328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TC-002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950976" y="39684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失败次数与锁定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2432304" y="384048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42032" y="3858768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822960" y="4471416"/>
            <a:ext cx="2066544" cy="621792"/>
          </a:xfrm>
          <a:prstGeom prst="roundRect">
            <a:avLst>
              <a:gd name="adj" fmla="val 13235"/>
            </a:avLst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553712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TC-003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950976" y="47548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解锁后再次登录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2432304" y="46268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4645152"/>
            <a:ext cx="91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896112" y="5394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筛选：未评价 · C/D · 有问题标签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172968" y="2313432"/>
            <a:ext cx="4754880" cy="358444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92424" y="2487168"/>
            <a:ext cx="1993392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02152" y="2505456"/>
            <a:ext cx="17739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变更关注 · lock-service.ts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392424" y="2816352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TC-002  连续失败后锁定账户</a:t>
            </a:r>
            <a:endParaRPr lang="en-US" sz="1620" dirty="0"/>
          </a:p>
        </p:txBody>
      </p:sp>
      <p:sp>
        <p:nvSpPr>
          <p:cNvPr id="40" name="Text 38"/>
          <p:cNvSpPr/>
          <p:nvPr/>
        </p:nvSpPr>
        <p:spPr>
          <a:xfrm>
            <a:off x="3401568" y="32735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前置条件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142232" y="32552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用户已注册，账户状态正常</a:t>
            </a:r>
            <a:endParaRPr lang="en-US" sz="1080" dirty="0"/>
          </a:p>
        </p:txBody>
      </p:sp>
      <p:sp>
        <p:nvSpPr>
          <p:cNvPr id="42" name="Shape 40"/>
          <p:cNvSpPr/>
          <p:nvPr/>
        </p:nvSpPr>
        <p:spPr>
          <a:xfrm>
            <a:off x="3401568" y="3776472"/>
            <a:ext cx="4160520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01568" y="39593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测试步骤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142232" y="39410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连续输入错误密码 5 次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第 6 次输入正确密码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3401568" y="4462272"/>
            <a:ext cx="4160520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1568" y="4645152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预期结果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142232" y="4626864"/>
            <a:ext cx="3410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账户被锁定；正确密码仍禁止登录，并提示解锁方式</a:t>
            </a:r>
            <a:endParaRPr lang="en-US" sz="1080" dirty="0"/>
          </a:p>
        </p:txBody>
      </p:sp>
      <p:sp>
        <p:nvSpPr>
          <p:cNvPr id="48" name="Shape 46"/>
          <p:cNvSpPr/>
          <p:nvPr/>
        </p:nvSpPr>
        <p:spPr>
          <a:xfrm>
            <a:off x="3401568" y="5468112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11296" y="5486400"/>
            <a:ext cx="9509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修改差异 3 处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4709160" y="5468112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补充锁定阈值  + 明确断言  + 增加解锁提示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8083296" y="2313432"/>
            <a:ext cx="3401568" cy="3584448"/>
          </a:xfrm>
          <a:prstGeom prst="roundRect">
            <a:avLst>
              <a:gd name="adj" fmla="val 2688"/>
            </a:avLst>
          </a:prstGeom>
          <a:solidFill>
            <a:srgbClr val="F2F7FB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02752" y="25054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评估与处置</a:t>
            </a:r>
            <a:endParaRPr lang="en-US" sz="1450" dirty="0"/>
          </a:p>
        </p:txBody>
      </p:sp>
      <p:sp>
        <p:nvSpPr>
          <p:cNvPr id="53" name="Shape 51"/>
          <p:cNvSpPr/>
          <p:nvPr/>
        </p:nvSpPr>
        <p:spPr>
          <a:xfrm>
            <a:off x="10579608" y="2478024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89336" y="2496312"/>
            <a:ext cx="338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311896" y="29169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8311896" y="3191256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21624" y="3209544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直接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720072" y="3191256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829800" y="3209544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小改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11896" y="3611880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21624" y="3630168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大改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9720072" y="3611880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829800" y="3630168"/>
            <a:ext cx="10424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不可用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311896" y="40873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变更响应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11896" y="4352544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21624" y="4370832"/>
            <a:ext cx="530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已修改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9144000" y="4352544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253728" y="4370832"/>
            <a:ext cx="676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无需调整</a:t>
            </a:r>
            <a:endParaRPr lang="en-US" sz="880" dirty="0"/>
          </a:p>
        </p:txBody>
      </p:sp>
      <p:sp>
        <p:nvSpPr>
          <p:cNvPr id="69" name="Shape 67"/>
          <p:cNvSpPr/>
          <p:nvPr/>
        </p:nvSpPr>
        <p:spPr>
          <a:xfrm>
            <a:off x="10122408" y="4352544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32136" y="4370832"/>
            <a:ext cx="530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8311896" y="482803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优化动作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061704" y="477316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71432" y="4791456"/>
            <a:ext cx="17465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补充案例 / 修正断言 / 重新生成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311896" y="5212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证据：auth/lock-service.ts 的锁定阈值已变更。</a:t>
            </a:r>
            <a:endParaRPr lang="en-US" sz="910" dirty="0"/>
          </a:p>
        </p:txBody>
      </p:sp>
      <p:sp>
        <p:nvSpPr>
          <p:cNvPr id="75" name="Shape 73"/>
          <p:cNvSpPr/>
          <p:nvPr/>
        </p:nvSpPr>
        <p:spPr>
          <a:xfrm>
            <a:off x="9674352" y="549554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784080" y="5513832"/>
            <a:ext cx="11978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保存评价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页面效果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质量看板：同时看“好不好用”和“有没有响应变更”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下图为演示数据；核心是“指标 → 风险 → 优化动作 → 资产证据”的可钻取链路。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11183112" cy="4553712"/>
          </a:xfrm>
          <a:prstGeom prst="roundRect">
            <a:avLst>
              <a:gd name="adj" fmla="val 2410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1847088"/>
            <a:ext cx="10771632" cy="43891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" y="1920240"/>
            <a:ext cx="274320" cy="274320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6" y="1983334"/>
            <a:ext cx="148133" cy="1481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61872" y="192024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应用：全部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2240280" y="19202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被测版本：gen-42 / abc123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4160520" y="1920240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测试资产：2026.07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5623560" y="19202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测试人员：全部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6931152" y="19202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修订：v3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0332720" y="1901952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442448" y="1920240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46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演示数据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704088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819656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直接可用率 A</a:t>
            </a:r>
            <a:endParaRPr lang="en-US" sz="1030" dirty="0"/>
          </a:p>
        </p:txBody>
      </p:sp>
      <p:sp>
        <p:nvSpPr>
          <p:cNvPr id="22" name="Shape 19"/>
          <p:cNvSpPr/>
          <p:nvPr/>
        </p:nvSpPr>
        <p:spPr>
          <a:xfrm>
            <a:off x="3364992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29584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4480560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资产变更响应率</a:t>
            </a:r>
            <a:endParaRPr lang="en-US" sz="1030" dirty="0"/>
          </a:p>
        </p:txBody>
      </p:sp>
      <p:sp>
        <p:nvSpPr>
          <p:cNvPr id="25" name="Shape 22"/>
          <p:cNvSpPr/>
          <p:nvPr/>
        </p:nvSpPr>
        <p:spPr>
          <a:xfrm>
            <a:off x="6025896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190488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7141464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未响应变更风险</a:t>
            </a:r>
            <a:endParaRPr lang="en-US" sz="1030" dirty="0"/>
          </a:p>
        </p:txBody>
      </p:sp>
      <p:sp>
        <p:nvSpPr>
          <p:cNvPr id="28" name="Shape 25"/>
          <p:cNvSpPr/>
          <p:nvPr/>
        </p:nvSpPr>
        <p:spPr>
          <a:xfrm>
            <a:off x="8686800" y="2441448"/>
            <a:ext cx="2414016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851392" y="255117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802368" y="25603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待优化测试资产</a:t>
            </a:r>
            <a:endParaRPr lang="en-US" sz="1030" dirty="0"/>
          </a:p>
        </p:txBody>
      </p:sp>
      <p:sp>
        <p:nvSpPr>
          <p:cNvPr id="31" name="Shape 28"/>
          <p:cNvSpPr/>
          <p:nvPr/>
        </p:nvSpPr>
        <p:spPr>
          <a:xfrm>
            <a:off x="704088" y="3401568"/>
            <a:ext cx="4434840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6112" y="35753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资产变更响应率趋势</a:t>
            </a:r>
            <a:endParaRPr lang="en-US" sz="1230" dirty="0"/>
          </a:p>
        </p:txBody>
      </p:sp>
      <p:sp>
        <p:nvSpPr>
          <p:cNvPr id="33" name="Text 30"/>
          <p:cNvSpPr/>
          <p:nvPr/>
        </p:nvSpPr>
        <p:spPr>
          <a:xfrm>
            <a:off x="3950208" y="3584448"/>
            <a:ext cx="896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按生产版本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1024128" y="4096512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24128" y="4663440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24128" y="5230368"/>
            <a:ext cx="3767328" cy="0"/>
          </a:xfrm>
          <a:prstGeom prst="line">
            <a:avLst/>
          </a:prstGeom>
          <a:noFill/>
          <a:ln w="12700">
            <a:solidFill>
              <a:srgbClr val="E9EEF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15568" y="5148072"/>
            <a:ext cx="713232" cy="-256032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828800" y="4892040"/>
            <a:ext cx="713232" cy="73152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42032" y="4965192"/>
            <a:ext cx="713232" cy="-475488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255264" y="4489704"/>
            <a:ext cx="713232" cy="-173736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968496" y="4315968"/>
            <a:ext cx="640080" cy="-228600"/>
          </a:xfrm>
          <a:prstGeom prst="line">
            <a:avLst/>
          </a:prstGeom>
          <a:noFill/>
          <a:ln w="33020">
            <a:solidFill>
              <a:srgbClr val="00A89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51560" y="5084064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32688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820" dirty="0"/>
          </a:p>
        </p:txBody>
      </p:sp>
      <p:sp>
        <p:nvSpPr>
          <p:cNvPr id="44" name="Shape 41"/>
          <p:cNvSpPr/>
          <p:nvPr/>
        </p:nvSpPr>
        <p:spPr>
          <a:xfrm>
            <a:off x="1764792" y="4828032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645920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2478024" y="4901184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2359152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3191256" y="4425696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72384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3904488" y="425196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785616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</a:t>
            </a:r>
            <a:endParaRPr lang="en-US" sz="820" dirty="0"/>
          </a:p>
        </p:txBody>
      </p:sp>
      <p:sp>
        <p:nvSpPr>
          <p:cNvPr id="52" name="Shape 49"/>
          <p:cNvSpPr/>
          <p:nvPr/>
        </p:nvSpPr>
        <p:spPr>
          <a:xfrm>
            <a:off x="4544568" y="4023360"/>
            <a:ext cx="128016" cy="128016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425696" y="544982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4315968" y="3803904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425696" y="382219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870" dirty="0"/>
          </a:p>
        </p:txBody>
      </p:sp>
      <p:sp>
        <p:nvSpPr>
          <p:cNvPr id="56" name="Shape 53"/>
          <p:cNvSpPr/>
          <p:nvPr/>
        </p:nvSpPr>
        <p:spPr>
          <a:xfrm>
            <a:off x="5312664" y="3401568"/>
            <a:ext cx="2916936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504688" y="35753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优化动作 Top 4</a:t>
            </a:r>
            <a:endParaRPr lang="en-US" sz="1230" dirty="0"/>
          </a:p>
        </p:txBody>
      </p:sp>
      <p:sp>
        <p:nvSpPr>
          <p:cNvPr id="58" name="Text 55"/>
          <p:cNvSpPr/>
          <p:nvPr/>
        </p:nvSpPr>
        <p:spPr>
          <a:xfrm>
            <a:off x="5504688" y="40416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补充场景</a:t>
            </a:r>
            <a:endParaRPr lang="en-US" sz="940" dirty="0"/>
          </a:p>
        </p:txBody>
      </p:sp>
      <p:sp>
        <p:nvSpPr>
          <p:cNvPr id="59" name="Shape 56"/>
          <p:cNvSpPr/>
          <p:nvPr/>
        </p:nvSpPr>
        <p:spPr>
          <a:xfrm>
            <a:off x="6236208" y="4069080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236208" y="4069080"/>
            <a:ext cx="1109716" cy="118872"/>
          </a:xfrm>
          <a:prstGeom prst="roundRect">
            <a:avLst>
              <a:gd name="adj" fmla="val 46154"/>
            </a:avLst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644384" y="4023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920" dirty="0"/>
          </a:p>
        </p:txBody>
      </p:sp>
      <p:sp>
        <p:nvSpPr>
          <p:cNvPr id="62" name="Text 59"/>
          <p:cNvSpPr/>
          <p:nvPr/>
        </p:nvSpPr>
        <p:spPr>
          <a:xfrm>
            <a:off x="5504688" y="44805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修正断言</a:t>
            </a:r>
            <a:endParaRPr lang="en-US" sz="940" dirty="0"/>
          </a:p>
        </p:txBody>
      </p:sp>
      <p:sp>
        <p:nvSpPr>
          <p:cNvPr id="63" name="Shape 60"/>
          <p:cNvSpPr/>
          <p:nvPr/>
        </p:nvSpPr>
        <p:spPr>
          <a:xfrm>
            <a:off x="6236208" y="4507992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36208" y="4507992"/>
            <a:ext cx="906719" cy="118872"/>
          </a:xfrm>
          <a:prstGeom prst="roundRect">
            <a:avLst>
              <a:gd name="adj" fmla="val 46154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644384" y="44622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22%</a:t>
            </a:r>
            <a:endParaRPr lang="en-US" sz="920" dirty="0"/>
          </a:p>
        </p:txBody>
      </p:sp>
      <p:sp>
        <p:nvSpPr>
          <p:cNvPr id="66" name="Text 63"/>
          <p:cNvSpPr/>
          <p:nvPr/>
        </p:nvSpPr>
        <p:spPr>
          <a:xfrm>
            <a:off x="5504688" y="491947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更新数据</a:t>
            </a:r>
            <a:endParaRPr lang="en-US" sz="940" dirty="0"/>
          </a:p>
        </p:txBody>
      </p:sp>
      <p:sp>
        <p:nvSpPr>
          <p:cNvPr id="67" name="Shape 64"/>
          <p:cNvSpPr/>
          <p:nvPr/>
        </p:nvSpPr>
        <p:spPr>
          <a:xfrm>
            <a:off x="6236208" y="4946904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36208" y="4946904"/>
            <a:ext cx="744322" cy="118872"/>
          </a:xfrm>
          <a:prstGeom prst="roundRect">
            <a:avLst>
              <a:gd name="adj" fmla="val 46154"/>
            </a:avLst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644384" y="490118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920" dirty="0"/>
          </a:p>
        </p:txBody>
      </p:sp>
      <p:sp>
        <p:nvSpPr>
          <p:cNvPr id="70" name="Text 67"/>
          <p:cNvSpPr/>
          <p:nvPr/>
        </p:nvSpPr>
        <p:spPr>
          <a:xfrm>
            <a:off x="5504688" y="5358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重新生成</a:t>
            </a:r>
            <a:endParaRPr lang="en-US" sz="940" dirty="0"/>
          </a:p>
        </p:txBody>
      </p:sp>
      <p:sp>
        <p:nvSpPr>
          <p:cNvPr id="71" name="Shape 68"/>
          <p:cNvSpPr/>
          <p:nvPr/>
        </p:nvSpPr>
        <p:spPr>
          <a:xfrm>
            <a:off x="6236208" y="5385816"/>
            <a:ext cx="1353312" cy="118872"/>
          </a:xfrm>
          <a:prstGeom prst="roundRect">
            <a:avLst>
              <a:gd name="adj" fmla="val 46154"/>
            </a:avLst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236208" y="5385816"/>
            <a:ext cx="622524" cy="118872"/>
          </a:xfrm>
          <a:prstGeom prst="roundRect">
            <a:avLst>
              <a:gd name="adj" fmla="val 46154"/>
            </a:avLst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644384" y="53400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20" dirty="0"/>
          </a:p>
        </p:txBody>
      </p:sp>
      <p:sp>
        <p:nvSpPr>
          <p:cNvPr id="74" name="Shape 71"/>
          <p:cNvSpPr/>
          <p:nvPr/>
        </p:nvSpPr>
        <p:spPr>
          <a:xfrm>
            <a:off x="8394192" y="3401568"/>
            <a:ext cx="3081528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8595360" y="35753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变更未响应热区</a:t>
            </a:r>
            <a:endParaRPr lang="en-US" sz="1230" dirty="0"/>
          </a:p>
        </p:txBody>
      </p:sp>
      <p:sp>
        <p:nvSpPr>
          <p:cNvPr id="76" name="Text 73"/>
          <p:cNvSpPr/>
          <p:nvPr/>
        </p:nvSpPr>
        <p:spPr>
          <a:xfrm>
            <a:off x="8595360" y="4050792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8595360" y="443484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支付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8595360" y="48188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对账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95360" y="5202936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217152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未改</a:t>
            </a:r>
            <a:endParaRPr lang="en-US" sz="840" dirty="0"/>
          </a:p>
        </p:txBody>
      </p:sp>
      <p:sp>
        <p:nvSpPr>
          <p:cNvPr id="81" name="Text 78"/>
          <p:cNvSpPr/>
          <p:nvPr/>
        </p:nvSpPr>
        <p:spPr>
          <a:xfrm>
            <a:off x="9838944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待确认</a:t>
            </a:r>
            <a:endParaRPr lang="en-US" sz="840" dirty="0"/>
          </a:p>
        </p:txBody>
      </p:sp>
      <p:sp>
        <p:nvSpPr>
          <p:cNvPr id="82" name="Text 79"/>
          <p:cNvSpPr/>
          <p:nvPr/>
        </p:nvSpPr>
        <p:spPr>
          <a:xfrm>
            <a:off x="10460736" y="3858768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待补充</a:t>
            </a:r>
            <a:endParaRPr lang="en-US" sz="840" dirty="0"/>
          </a:p>
        </p:txBody>
      </p:sp>
      <p:sp>
        <p:nvSpPr>
          <p:cNvPr id="83" name="Shape 80"/>
          <p:cNvSpPr/>
          <p:nvPr/>
        </p:nvSpPr>
        <p:spPr>
          <a:xfrm>
            <a:off x="9217152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838944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10460736" y="4041648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9217152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838944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460736" y="4425696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9217152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838944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460736" y="4809744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9217152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9838944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10460736" y="5193792"/>
            <a:ext cx="438912" cy="228600"/>
          </a:xfrm>
          <a:prstGeom prst="roundRect">
            <a:avLst>
              <a:gd name="adj" fmla="val 2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8622792" y="5541264"/>
            <a:ext cx="2048256" cy="310896"/>
          </a:xfrm>
          <a:prstGeom prst="roundRect">
            <a:avLst>
              <a:gd name="adj" fmla="val 50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96" name="Text 93"/>
          <p:cNvSpPr/>
          <p:nvPr/>
        </p:nvSpPr>
        <p:spPr>
          <a:xfrm>
            <a:off x="8732520" y="5559552"/>
            <a:ext cx="1828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点击下钻 12 条风险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一周任务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必须完成：拆成 6 个可并行、可验收的工作包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每个工作包都有明确产物；周五必须串成“开发变更—资产评估—优化处置”链路。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8105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0025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0208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55848" y="1984248"/>
            <a:ext cx="475488" cy="475488"/>
          </a:xfrm>
          <a:prstGeom prst="ellipse">
            <a:avLst/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5210" y="2093610"/>
            <a:ext cx="256764" cy="25676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44752" y="1984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评估口径与样本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841248" y="24688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确定 A–D、变更响应状态、问题/优化标签；准备 30 条样例。</a:t>
            </a:r>
            <a:endParaRPr lang="en-US" sz="1060" dirty="0"/>
          </a:p>
        </p:txBody>
      </p:sp>
      <p:sp>
        <p:nvSpPr>
          <p:cNvPr id="15" name="Shape 12"/>
          <p:cNvSpPr/>
          <p:nvPr/>
        </p:nvSpPr>
        <p:spPr>
          <a:xfrm>
            <a:off x="841248" y="29809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0976" y="29992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+ 测试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4352544" y="18105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35424" y="20025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45152" y="20208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50024" y="1984248"/>
            <a:ext cx="475488" cy="475488"/>
          </a:xfrm>
          <a:prstGeom prst="ellipse">
            <a:avLst/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386" y="2093610"/>
            <a:ext cx="256764" cy="2567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138928" y="1984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关联数据模型</a:t>
            </a:r>
            <a:endParaRPr lang="en-US" sz="1550" dirty="0"/>
          </a:p>
        </p:txBody>
      </p:sp>
      <p:sp>
        <p:nvSpPr>
          <p:cNvPr id="23" name="Text 19"/>
          <p:cNvSpPr/>
          <p:nvPr/>
        </p:nvSpPr>
        <p:spPr>
          <a:xfrm>
            <a:off x="4535424" y="24688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固化开发变更、资产版本、响应结论、优化动作与审计字段。</a:t>
            </a:r>
            <a:endParaRPr lang="en-US" sz="1060" dirty="0"/>
          </a:p>
        </p:txBody>
      </p:sp>
      <p:sp>
        <p:nvSpPr>
          <p:cNvPr id="24" name="Shape 20"/>
          <p:cNvSpPr/>
          <p:nvPr/>
        </p:nvSpPr>
        <p:spPr>
          <a:xfrm>
            <a:off x="4535424" y="29809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645152" y="29992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 + 产品</a:t>
            </a:r>
            <a:endParaRPr lang="en-US" sz="860" dirty="0"/>
          </a:p>
        </p:txBody>
      </p:sp>
      <p:sp>
        <p:nvSpPr>
          <p:cNvPr id="26" name="Shape 22"/>
          <p:cNvSpPr/>
          <p:nvPr/>
        </p:nvSpPr>
        <p:spPr>
          <a:xfrm>
            <a:off x="8046720" y="18105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229600" y="20025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339328" y="20208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10744200" y="1984248"/>
            <a:ext cx="475488" cy="475488"/>
          </a:xfrm>
          <a:prstGeom prst="ellipse">
            <a:avLst/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3562" y="2093610"/>
            <a:ext cx="256764" cy="25676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833104" y="1984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评估与风险 API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8229600" y="24688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完成评估、变更关联、未响应风险列表与聚合统计。</a:t>
            </a:r>
            <a:endParaRPr lang="en-US" sz="1060" dirty="0"/>
          </a:p>
        </p:txBody>
      </p:sp>
      <p:sp>
        <p:nvSpPr>
          <p:cNvPr id="33" name="Shape 28"/>
          <p:cNvSpPr/>
          <p:nvPr/>
        </p:nvSpPr>
        <p:spPr>
          <a:xfrm>
            <a:off x="8229600" y="29809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339328" y="29992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860" dirty="0"/>
          </a:p>
        </p:txBody>
      </p:sp>
      <p:sp>
        <p:nvSpPr>
          <p:cNvPr id="35" name="Shape 30"/>
          <p:cNvSpPr/>
          <p:nvPr/>
        </p:nvSpPr>
        <p:spPr>
          <a:xfrm>
            <a:off x="658368" y="36393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841248" y="3831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50976" y="38496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3355848" y="3813048"/>
            <a:ext cx="475488" cy="475488"/>
          </a:xfrm>
          <a:prstGeom prst="ellipse">
            <a:avLst/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210" y="3922410"/>
            <a:ext cx="256764" cy="256764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444752" y="3813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资产评估页</a:t>
            </a:r>
            <a:endParaRPr lang="en-US" sz="1550" dirty="0"/>
          </a:p>
        </p:txBody>
      </p:sp>
      <p:sp>
        <p:nvSpPr>
          <p:cNvPr id="41" name="Text 35"/>
          <p:cNvSpPr/>
          <p:nvPr/>
        </p:nvSpPr>
        <p:spPr>
          <a:xfrm>
            <a:off x="841248" y="42976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录入可用性、代码证据、资产响应结论和优化处置。</a:t>
            </a:r>
            <a:endParaRPr lang="en-US" sz="1060" dirty="0"/>
          </a:p>
        </p:txBody>
      </p:sp>
      <p:sp>
        <p:nvSpPr>
          <p:cNvPr id="42" name="Shape 36"/>
          <p:cNvSpPr/>
          <p:nvPr/>
        </p:nvSpPr>
        <p:spPr>
          <a:xfrm>
            <a:off x="841248" y="48097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50976" y="48280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860" dirty="0"/>
          </a:p>
        </p:txBody>
      </p:sp>
      <p:sp>
        <p:nvSpPr>
          <p:cNvPr id="44" name="Shape 38"/>
          <p:cNvSpPr/>
          <p:nvPr/>
        </p:nvSpPr>
        <p:spPr>
          <a:xfrm>
            <a:off x="4352544" y="36393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4535424" y="3831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4645152" y="38496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47" name="Shape 41"/>
          <p:cNvSpPr/>
          <p:nvPr/>
        </p:nvSpPr>
        <p:spPr>
          <a:xfrm>
            <a:off x="7050024" y="3813048"/>
            <a:ext cx="475488" cy="475488"/>
          </a:xfrm>
          <a:prstGeom prst="ellipse">
            <a:avLst/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386" y="3922410"/>
            <a:ext cx="256764" cy="256764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5138928" y="3813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质量看板</a:t>
            </a:r>
            <a:endParaRPr lang="en-US" sz="1550" dirty="0"/>
          </a:p>
        </p:txBody>
      </p:sp>
      <p:sp>
        <p:nvSpPr>
          <p:cNvPr id="50" name="Text 43"/>
          <p:cNvSpPr/>
          <p:nvPr/>
        </p:nvSpPr>
        <p:spPr>
          <a:xfrm>
            <a:off x="4535424" y="42976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完成可用性、资产响应率、未响应风险和优化明细钻取。</a:t>
            </a:r>
            <a:endParaRPr lang="en-US" sz="1060" dirty="0"/>
          </a:p>
        </p:txBody>
      </p:sp>
      <p:sp>
        <p:nvSpPr>
          <p:cNvPr id="51" name="Shape 44"/>
          <p:cNvSpPr/>
          <p:nvPr/>
        </p:nvSpPr>
        <p:spPr>
          <a:xfrm>
            <a:off x="4535424" y="48097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4645152" y="48280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 + 后端</a:t>
            </a:r>
            <a:endParaRPr lang="en-US" sz="860" dirty="0"/>
          </a:p>
        </p:txBody>
      </p:sp>
      <p:sp>
        <p:nvSpPr>
          <p:cNvPr id="53" name="Shape 46"/>
          <p:cNvSpPr/>
          <p:nvPr/>
        </p:nvSpPr>
        <p:spPr>
          <a:xfrm>
            <a:off x="8046720" y="3639312"/>
            <a:ext cx="340156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54" name="Shape 47"/>
          <p:cNvSpPr/>
          <p:nvPr/>
        </p:nvSpPr>
        <p:spPr>
          <a:xfrm>
            <a:off x="8229600" y="3831336"/>
            <a:ext cx="475488" cy="310896"/>
          </a:xfrm>
          <a:prstGeom prst="roundRect">
            <a:avLst>
              <a:gd name="adj" fmla="val 50000"/>
            </a:avLst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339328" y="384962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72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56" name="Shape 49"/>
          <p:cNvSpPr/>
          <p:nvPr/>
        </p:nvSpPr>
        <p:spPr>
          <a:xfrm>
            <a:off x="10744200" y="3813048"/>
            <a:ext cx="475488" cy="475488"/>
          </a:xfrm>
          <a:prstGeom prst="ellipse">
            <a:avLst/>
          </a:prstGeom>
          <a:solidFill>
            <a:srgbClr val="FFF1CE"/>
          </a:solidFill>
          <a:ln w="12700">
            <a:solidFill>
              <a:srgbClr val="FFF1CE">
                <a:alpha val="0"/>
              </a:srgbClr>
            </a:solidFill>
            <a:prstDash val="solid"/>
          </a:ln>
        </p:spPr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53562" y="3922410"/>
            <a:ext cx="256764" cy="256764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833104" y="3813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联调与验收</a:t>
            </a:r>
            <a:endParaRPr lang="en-US" sz="1550" dirty="0"/>
          </a:p>
        </p:txBody>
      </p:sp>
      <p:sp>
        <p:nvSpPr>
          <p:cNvPr id="59" name="Text 51"/>
          <p:cNvSpPr/>
          <p:nvPr/>
        </p:nvSpPr>
        <p:spPr>
          <a:xfrm>
            <a:off x="8229600" y="429768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接口测试、页面测试、统计对账；准备一条变更响应演示链路。</a:t>
            </a:r>
            <a:endParaRPr lang="en-US" sz="1060" dirty="0"/>
          </a:p>
        </p:txBody>
      </p:sp>
      <p:sp>
        <p:nvSpPr>
          <p:cNvPr id="60" name="Shape 52"/>
          <p:cNvSpPr/>
          <p:nvPr/>
        </p:nvSpPr>
        <p:spPr>
          <a:xfrm>
            <a:off x="8229600" y="480974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 w="12700">
            <a:solidFill>
              <a:srgbClr val="F5F8FC">
                <a:alpha val="0"/>
              </a:srgbClr>
            </a:solidFill>
            <a:prstDash val="solid"/>
          </a:ln>
        </p:spPr>
      </p:sp>
      <p:sp>
        <p:nvSpPr>
          <p:cNvPr id="61" name="Text 53"/>
          <p:cNvSpPr/>
          <p:nvPr/>
        </p:nvSpPr>
        <p:spPr>
          <a:xfrm>
            <a:off x="8339328" y="482803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+ 全员</a:t>
            </a:r>
            <a:endParaRPr lang="en-US" sz="860" dirty="0"/>
          </a:p>
        </p:txBody>
      </p:sp>
      <p:sp>
        <p:nvSpPr>
          <p:cNvPr id="62" name="Shape 54"/>
          <p:cNvSpPr/>
          <p:nvPr/>
        </p:nvSpPr>
        <p:spPr>
          <a:xfrm>
            <a:off x="2907792" y="5733288"/>
            <a:ext cx="6355080" cy="310896"/>
          </a:xfrm>
          <a:prstGeom prst="roundRect">
            <a:avLst>
              <a:gd name="adj" fmla="val 50000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</p:spPr>
      </p:sp>
      <p:sp>
        <p:nvSpPr>
          <p:cNvPr id="63" name="Text 55"/>
          <p:cNvSpPr/>
          <p:nvPr/>
        </p:nvSpPr>
        <p:spPr>
          <a:xfrm>
            <a:off x="3017520" y="5751576"/>
            <a:ext cx="61356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全部完成才算交付：2 个网页 + 评估/关联/统计 API + 数据模型 + 演示链路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一周任务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任务拆分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 5–7 人分成产品/质量、前端、后端数据、联调测试四条小线并行推进。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615184"/>
            <a:ext cx="10104120" cy="0"/>
          </a:xfrm>
          <a:prstGeom prst="line">
            <a:avLst/>
          </a:prstGeom>
          <a:noFill/>
          <a:ln w="63500">
            <a:solidFill>
              <a:srgbClr val="D9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5296" y="2258568"/>
            <a:ext cx="713232" cy="7132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246888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周一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94360" y="3054096"/>
            <a:ext cx="1965960" cy="1399032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95528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定规则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95528" y="3685032"/>
            <a:ext cx="15179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可用性口径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变更响应规则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条样例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93008" y="2258568"/>
            <a:ext cx="713232" cy="713232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93008" y="246888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周二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2862072" y="3054096"/>
            <a:ext cx="1965960" cy="1399032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063240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72968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搭骨架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063240" y="3685032"/>
            <a:ext cx="15179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 /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前端路由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联调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60720" y="2258568"/>
            <a:ext cx="713232" cy="713232"/>
          </a:xfrm>
          <a:prstGeom prst="ellipse">
            <a:avLst/>
          </a:prstGeom>
          <a:solidFill>
            <a:srgbClr val="27A269"/>
          </a:solidFill>
          <a:ln w="12700">
            <a:solidFill>
              <a:srgbClr val="27A26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46888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周三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129784" y="3054096"/>
            <a:ext cx="1965960" cy="1399032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30952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通评估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330952" y="3685032"/>
            <a:ext cx="15179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保存评估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变更—资产关联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优化处置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28432" y="2258568"/>
            <a:ext cx="713232" cy="713232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28432" y="246888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周四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7397496" y="3054096"/>
            <a:ext cx="1965960" cy="1399032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98664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EEE9FF"/>
          </a:solidFill>
          <a:ln w="12700">
            <a:solidFill>
              <a:srgbClr val="EEE9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08392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8A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通看板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7598664" y="3685032"/>
            <a:ext cx="15179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响应率统计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风险钻取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数据对账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296144" y="2258568"/>
            <a:ext cx="713232" cy="713232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96144" y="246888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周五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9665208" y="3054096"/>
            <a:ext cx="1965960" cy="1399032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866376" y="3310128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E7E2"/>
          </a:solidFill>
          <a:ln w="12700">
            <a:solidFill>
              <a:srgbClr val="FFE7E2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76104" y="3328416"/>
            <a:ext cx="3840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71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验收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9866376" y="3685032"/>
            <a:ext cx="151790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真实试评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回归测试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演示答辩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772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0B132B"/>
          </a:solidFill>
          <a:ln w="12700">
            <a:solidFill>
              <a:srgbClr val="0B132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18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/ 口径</a:t>
            </a:r>
            <a:endParaRPr lang="en-US" sz="1070" dirty="0"/>
          </a:p>
        </p:txBody>
      </p:sp>
      <p:sp>
        <p:nvSpPr>
          <p:cNvPr id="41" name="Text 39"/>
          <p:cNvSpPr/>
          <p:nvPr/>
        </p:nvSpPr>
        <p:spPr>
          <a:xfrm>
            <a:off x="17465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需求、原型、判例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35204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850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1070" dirty="0"/>
          </a:p>
        </p:txBody>
      </p:sp>
      <p:sp>
        <p:nvSpPr>
          <p:cNvPr id="44" name="Text 42"/>
          <p:cNvSpPr/>
          <p:nvPr/>
        </p:nvSpPr>
        <p:spPr>
          <a:xfrm>
            <a:off x="44897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评价与看板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62636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282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 / 数据</a:t>
            </a:r>
            <a:endParaRPr lang="en-US" sz="1070" dirty="0"/>
          </a:p>
        </p:txBody>
      </p:sp>
      <p:sp>
        <p:nvSpPr>
          <p:cNvPr id="47" name="Text 45"/>
          <p:cNvSpPr/>
          <p:nvPr/>
        </p:nvSpPr>
        <p:spPr>
          <a:xfrm>
            <a:off x="72329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API、模型、统计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9006840" y="5056632"/>
            <a:ext cx="2331720" cy="640080"/>
          </a:xfrm>
          <a:prstGeom prst="roundRect">
            <a:avLst>
              <a:gd name="adj" fmla="val 18571"/>
            </a:avLst>
          </a:prstGeom>
          <a:solidFill>
            <a:srgbClr val="F5F8FC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71432" y="5175504"/>
            <a:ext cx="896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 / 测试</a:t>
            </a:r>
            <a:endParaRPr lang="en-US" sz="1070" dirty="0"/>
          </a:p>
        </p:txBody>
      </p:sp>
      <p:sp>
        <p:nvSpPr>
          <p:cNvPr id="50" name="Text 48"/>
          <p:cNvSpPr/>
          <p:nvPr/>
        </p:nvSpPr>
        <p:spPr>
          <a:xfrm>
            <a:off x="9976104" y="51755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样本、自动化、验收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4069080" y="592531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78808" y="5943600"/>
            <a:ext cx="15636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 17:00 集成演示</a:t>
            </a:r>
            <a:endParaRPr lang="en-US" sz="980" dirty="0"/>
          </a:p>
        </p:txBody>
      </p:sp>
      <p:sp>
        <p:nvSpPr>
          <p:cNvPr id="53" name="Shape 51"/>
          <p:cNvSpPr/>
          <p:nvPr/>
        </p:nvSpPr>
        <p:spPr>
          <a:xfrm>
            <a:off x="6126480" y="5925312"/>
            <a:ext cx="2615184" cy="310896"/>
          </a:xfrm>
          <a:prstGeom prst="roundRect">
            <a:avLst>
              <a:gd name="adj" fmla="val 50000"/>
            </a:avLst>
          </a:prstGeom>
          <a:solidFill>
            <a:srgbClr val="E7EDFF"/>
          </a:solidFill>
          <a:ln w="12700">
            <a:solidFill>
              <a:srgbClr val="E7EDFF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36208" y="5943600"/>
            <a:ext cx="2395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4D7C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周四晚冻结功能，周五只修问题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2808" cy="310896"/>
          </a:xfrm>
          <a:prstGeom prst="roundRect">
            <a:avLst>
              <a:gd name="adj" fmla="val 50000"/>
            </a:avLst>
          </a:prstGeom>
          <a:solidFill>
            <a:srgbClr val="DDF7F1"/>
          </a:solidFill>
          <a:ln w="12700">
            <a:solidFill>
              <a:srgbClr val="DDF7F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02336"/>
            <a:ext cx="16733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最终验收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80467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答辩现场：演示一次“开发变更触发资产优化”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353312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从生产版本变更开始，找到关联测试资产、生成风险、完成处置，并回到看板。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MIMO 测试智能体 · 测试资产质量评估与优化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35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9224" y="2029968"/>
            <a:ext cx="530352" cy="530352"/>
          </a:xfrm>
          <a:prstGeom prst="ellipse">
            <a:avLst/>
          </a:prstGeom>
          <a:solidFill>
            <a:srgbClr val="4D7CFE"/>
          </a:solidFill>
          <a:ln w="12700">
            <a:solidFill>
              <a:srgbClr val="4D7CF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362456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导入变更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362456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选择生产版本与变更文件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51176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16936" y="2029968"/>
            <a:ext cx="530352" cy="53035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6936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630168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关联资产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630168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按代码证据找到关联案例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18888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84648" y="2029968"/>
            <a:ext cx="530352" cy="530352"/>
          </a:xfrm>
          <a:prstGeom prst="ellipse">
            <a:avLst/>
          </a:prstGeom>
          <a:solidFill>
            <a:srgbClr val="27A269"/>
          </a:solidFill>
          <a:ln w="12700">
            <a:solidFill>
              <a:srgbClr val="27A26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84648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5897880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生成风险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897880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识别代码已变但资产未响应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086600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52360" y="2029968"/>
            <a:ext cx="530352" cy="530352"/>
          </a:xfrm>
          <a:prstGeom prst="ellipse">
            <a:avLst/>
          </a:prstGeom>
          <a:solidFill>
            <a:srgbClr val="8A6FE8"/>
          </a:solidFill>
          <a:ln w="12700">
            <a:solidFill>
              <a:srgbClr val="8A6FE8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8165592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评估处置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65592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确认无需改或更新、补充资产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354312" y="2295144"/>
            <a:ext cx="246888" cy="0"/>
          </a:xfrm>
          <a:prstGeom prst="line">
            <a:avLst/>
          </a:prstGeom>
          <a:noFill/>
          <a:ln w="21590">
            <a:solidFill>
              <a:srgbClr val="4350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720072" y="2029968"/>
            <a:ext cx="530352" cy="530352"/>
          </a:xfrm>
          <a:prstGeom prst="ellipse">
            <a:avLst/>
          </a:prstGeom>
          <a:solidFill>
            <a:srgbClr val="FF715B"/>
          </a:solidFill>
          <a:ln w="12700">
            <a:solidFill>
              <a:srgbClr val="FF715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20072" y="217627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10433304" y="20482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看板验证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0433304" y="2404872"/>
            <a:ext cx="12527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7080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返回指标、风险与优化明细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" y="3547872"/>
            <a:ext cx="10844784" cy="2011680"/>
          </a:xfrm>
          <a:prstGeom prst="roundRect">
            <a:avLst>
              <a:gd name="adj" fmla="val 5455"/>
            </a:avLst>
          </a:prstGeom>
          <a:solidFill>
            <a:srgbClr val="0B132B"/>
          </a:solidFill>
          <a:ln w="12700">
            <a:solidFill>
              <a:srgbClr val="0B132B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B2A4A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96112" y="379476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B8F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最小验收条件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914400" y="4306824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343400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1243584" y="427939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资产评估页和质量看板均嵌入现有 agent-web</a:t>
            </a:r>
            <a:endParaRPr lang="en-US" sz="1130" dirty="0"/>
          </a:p>
        </p:txBody>
      </p:sp>
      <p:sp>
        <p:nvSpPr>
          <p:cNvPr id="37" name="Shape 35"/>
          <p:cNvSpPr/>
          <p:nvPr/>
        </p:nvSpPr>
        <p:spPr>
          <a:xfrm>
            <a:off x="6172200" y="4306824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4343400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6501384" y="427939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不新建 Agent，能接收现有生成案例</a:t>
            </a:r>
            <a:endParaRPr lang="en-US" sz="1130" dirty="0"/>
          </a:p>
        </p:txBody>
      </p:sp>
      <p:sp>
        <p:nvSpPr>
          <p:cNvPr id="40" name="Shape 38"/>
          <p:cNvSpPr/>
          <p:nvPr/>
        </p:nvSpPr>
        <p:spPr>
          <a:xfrm>
            <a:off x="914400" y="4690872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4727448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243584" y="4663440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开发变更、资产版本和处置记录可追溯</a:t>
            </a:r>
            <a:endParaRPr lang="en-US" sz="1130" dirty="0"/>
          </a:p>
        </p:txBody>
      </p:sp>
      <p:sp>
        <p:nvSpPr>
          <p:cNvPr id="43" name="Shape 41"/>
          <p:cNvSpPr/>
          <p:nvPr/>
        </p:nvSpPr>
        <p:spPr>
          <a:xfrm>
            <a:off x="6172200" y="4690872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4727448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6501384" y="4663440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代码已变但资产未响应时能生成关注项</a:t>
            </a:r>
            <a:endParaRPr lang="en-US" sz="1130" dirty="0"/>
          </a:p>
        </p:txBody>
      </p:sp>
      <p:sp>
        <p:nvSpPr>
          <p:cNvPr id="46" name="Shape 44"/>
          <p:cNvSpPr/>
          <p:nvPr/>
        </p:nvSpPr>
        <p:spPr>
          <a:xfrm>
            <a:off x="914400" y="5074920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5111496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48" name="Text 46"/>
          <p:cNvSpPr/>
          <p:nvPr/>
        </p:nvSpPr>
        <p:spPr>
          <a:xfrm>
            <a:off x="1243584" y="504748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支持无需调整、更新、补充和重新生成处置</a:t>
            </a:r>
            <a:endParaRPr lang="en-US" sz="1130" dirty="0"/>
          </a:p>
        </p:txBody>
      </p:sp>
      <p:sp>
        <p:nvSpPr>
          <p:cNvPr id="49" name="Shape 47"/>
          <p:cNvSpPr/>
          <p:nvPr/>
        </p:nvSpPr>
        <p:spPr>
          <a:xfrm>
            <a:off x="6172200" y="5074920"/>
            <a:ext cx="201168" cy="201168"/>
          </a:xfrm>
          <a:prstGeom prst="ellipse">
            <a:avLst/>
          </a:prstGeom>
          <a:solidFill>
            <a:srgbClr val="B8F36B"/>
          </a:solidFill>
          <a:ln w="12700">
            <a:solidFill>
              <a:srgbClr val="B8F36B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5111496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1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6501384" y="504748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 30 条试评及关键接口、页面测试</a:t>
            </a:r>
            <a:endParaRPr lang="en-US" sz="1130" dirty="0"/>
          </a:p>
        </p:txBody>
      </p:sp>
      <p:sp>
        <p:nvSpPr>
          <p:cNvPr id="52" name="Shape 50"/>
          <p:cNvSpPr/>
          <p:nvPr/>
        </p:nvSpPr>
        <p:spPr>
          <a:xfrm>
            <a:off x="2697480" y="5879592"/>
            <a:ext cx="6812280" cy="310896"/>
          </a:xfrm>
          <a:prstGeom prst="roundRect">
            <a:avLst>
              <a:gd name="adj" fmla="val 50000"/>
            </a:avLst>
          </a:prstGeom>
          <a:solidFill>
            <a:srgbClr val="EAF9D6"/>
          </a:solidFill>
          <a:ln w="12700">
            <a:solidFill>
              <a:srgbClr val="EAF9D6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07208" y="5897880"/>
            <a:ext cx="6592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7A2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最终交付 = 2 个网页 + 评估/关联/统计 API + 数据模型 + 1 条变更响应演示链路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测试效能团队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面向开发变更的测试资产质量评估与优化｜开题汇报</dc:title>
  <dc:subject>面向开发变更的测试资产可用性、变更响应度评估与优化闭环</dc:subject>
  <dc:creator>MIMO 测试智能体课题组</dc:creator>
  <cp:lastModifiedBy>MIMO 测试智能体课题组</cp:lastModifiedBy>
  <cp:revision>1</cp:revision>
  <dcterms:created xsi:type="dcterms:W3CDTF">2026-07-30T06:46:23Z</dcterms:created>
  <dcterms:modified xsi:type="dcterms:W3CDTF">2026-07-30T06:46:23Z</dcterms:modified>
</cp:coreProperties>
</file>