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开场先讲清楚：本课题不交付看板或网页，而是在现有平台中建成一个能调用的测试资产质量评估与优化 Agent，以及它编排的可复用 Skills。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“能用”不是文件能被发现就算完成。Agent 必须在真实变更和案例上稳定运行，结论能追溯到代码证据，优化后案例能被测试人员直接复核。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底座已覆盖工作区、上下文、运行、文件与版本、Agent/Skill 发现与调用、Hub 发布与引用。新员工不做网页和平台 API，直接在现有配置与运行机制上交付 Agent 和 Skills。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 Agent 专注任务理解、调用顺序和产物收口；4 个 Skill 保持单一职责，既能被主 Agent 编排，也能被单独调用和测试。这样新员工的交付是可运行配置，不是原型或仅有提示词文档。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关键口径：“代码变了、资产没变”是风险信号，不是自动判定资产有错。Agent 必须引用代码与资产证据，说明为何可以保留原资产，或生成可复核的修订结果。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这一页用一次真实调用说明“可用”。Agent 需要自动编排 4 个 Skill，将分析结论、代码证据和优化后案例写入测试工作区；不以聊天中有一段回答作为完成。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一周范围只包含这六个工作包。不建页面、不建专用 API、不建统计模型。必须使用平台实际 Agent/Skill 目录、真实模型和真实工作区运行，不把静态提示词或演示输出当成可用交付。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一周实战每天 17 点集成一次。周二、周三分别以独立 Skill 调用为验收门槛；周四必须用主 Agent 在真实模型和工作区中编排全链路；周五只做全量样例、修复和答辩。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这一页必须回答“最终到底交付什么”。没有看板、网页、专用 API 和数据模型。交付的是可被平台加载和运行的 Agent/Skill 配置、落盘产物契约、真实样例评测结果和现场演示链路。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822960"/>
            <a:ext cx="3840480" cy="384048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228600"/>
            <a:ext cx="2651760" cy="2651760"/>
          </a:xfrm>
          <a:prstGeom prst="ellipse">
            <a:avLst/>
          </a:prstGeom>
          <a:solidFill>
            <a:srgbClr val="B8F36B">
              <a:alpha val="14000"/>
            </a:srgbClr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5166360"/>
            <a:ext cx="2926080" cy="2926080"/>
          </a:xfrm>
          <a:prstGeom prst="ellipse">
            <a:avLst/>
          </a:prstGeom>
          <a:solidFill>
            <a:srgbClr val="8A6FE8">
              <a:alpha val="12000"/>
            </a:srgbClr>
          </a:solidFill>
          <a:ln w="12700">
            <a:solidFill>
              <a:srgbClr val="8A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48640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新员工实战课题 · 开题汇报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6995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测试资产质量评估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与优化 Agent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94944" y="29077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9D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面向开发变更，交付能真实运行的 Agent + Skills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4944" y="3401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D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基于现有 MIMO 测试智能体底座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932688"/>
            <a:ext cx="3584448" cy="3584448"/>
          </a:xfrm>
          <a:prstGeom prst="ellipse">
            <a:avLst/>
          </a:prstGeom>
          <a:solidFill>
            <a:srgbClr val="132342"/>
          </a:solidFill>
          <a:ln w="12700">
            <a:solidFill>
              <a:srgbClr val="2A3E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47304" y="1353312"/>
            <a:ext cx="2743200" cy="2743200"/>
          </a:xfrm>
          <a:prstGeom prst="ellipse">
            <a:avLst/>
          </a:prstGeom>
          <a:solidFill>
            <a:srgbClr val="0B18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67928" y="1773936"/>
            <a:ext cx="1901952" cy="19019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51392" y="1993392"/>
            <a:ext cx="1335024" cy="1417320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25128" y="21762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2194560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CASE-017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9015984" y="2578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登录失败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锁定校验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53728" y="2944368"/>
            <a:ext cx="420624" cy="420624"/>
          </a:xfrm>
          <a:prstGeom prst="ellipse">
            <a:avLst/>
          </a:prstGeom>
          <a:solidFill>
            <a:srgbClr val="E1F6EB"/>
          </a:solidFill>
          <a:ln w="12700">
            <a:solidFill>
              <a:srgbClr val="E1F6EB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0472" y="3041112"/>
            <a:ext cx="227137" cy="2271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0515600" y="4325112"/>
            <a:ext cx="960120" cy="1024128"/>
          </a:xfrm>
          <a:prstGeom prst="line">
            <a:avLst/>
          </a:prstGeom>
          <a:noFill/>
          <a:ln w="101600">
            <a:solidFill>
              <a:srgbClr val="00A89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09960" y="498348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4944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变更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764792" y="5367528"/>
            <a:ext cx="137160" cy="0"/>
          </a:xfrm>
          <a:prstGeom prst="line">
            <a:avLst/>
          </a:prstGeom>
          <a:noFill/>
          <a:ln w="21590">
            <a:solidFill>
              <a:srgbClr val="7C8DA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956816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66544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关联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026664" y="5367528"/>
            <a:ext cx="137160" cy="0"/>
          </a:xfrm>
          <a:prstGeom prst="line">
            <a:avLst/>
          </a:prstGeom>
          <a:noFill/>
          <a:ln w="21590">
            <a:solidFill>
              <a:srgbClr val="7C8DA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218688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28416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评估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88536" y="5367528"/>
            <a:ext cx="137160" cy="0"/>
          </a:xfrm>
          <a:prstGeom prst="line">
            <a:avLst/>
          </a:prstGeom>
          <a:noFill/>
          <a:ln w="21590">
            <a:solidFill>
              <a:srgbClr val="7C8DA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480560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0288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优化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652760" y="6263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6984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850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课题定义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一句话：让 Agent 把开发变更转成可用的测试资产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输入代码变更和现有案例，输出有证据的质量结论与可直接复核的优化资产。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01952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95681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481328" y="2185416"/>
            <a:ext cx="9281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代码变了，资产不一定必须改；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但必须能说明“为何无需改，或准备怎么改”。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8368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" y="4279392"/>
            <a:ext cx="457200" cy="457200"/>
          </a:xfrm>
          <a:prstGeom prst="ellipse">
            <a:avLst/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84548"/>
            <a:ext cx="246888" cy="2468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44752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资产能用吗？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9536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A/B/C/D 可用性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419856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21024" y="4279392"/>
            <a:ext cx="457200" cy="457200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4384548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06240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代码影响哪？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621024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 / 模块 / 功能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181344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82512" y="4279392"/>
            <a:ext cx="457200" cy="457200"/>
          </a:xfrm>
          <a:prstGeom prst="ellipse">
            <a:avLst/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68" y="4384548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67728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资产响应了吗？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82512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/ 修改 / 确认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942832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44000" y="4279392"/>
            <a:ext cx="457200" cy="457200"/>
          </a:xfrm>
          <a:prstGeom prst="ellipse">
            <a:avLst/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9156" y="4384548"/>
            <a:ext cx="246888" cy="2468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729216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下一步怎么做？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144000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 / 修正 / 重新生成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3520440" y="5833872"/>
            <a:ext cx="516636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30168" y="5852160"/>
            <a:ext cx="4946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北极星：真实样例的结论可采信、优化结果可直接复核</a:t>
            </a:r>
            <a:endParaRPr lang="en-US" sz="10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已有底座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我们不是从零开始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当前平台已具备案例生成所需的上下文、运行、资产和工程化能力。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7784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依据：module-map / user-manual / http-api（2026-07-30）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121408"/>
            <a:ext cx="512064" cy="512064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455" y="2239183"/>
            <a:ext cx="276515" cy="2765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2704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应用与工作区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527048" y="249631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应用、版本、个人 workspace、需求子条目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61688" y="1901952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121408"/>
            <a:ext cx="512064" cy="512064"/>
          </a:xfrm>
          <a:prstGeom prst="ellipse">
            <a:avLst/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2239183"/>
            <a:ext cx="276515" cy="2765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3036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上下文装配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5230368" y="249631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引入需求；@ 选择 Agent / 文件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65008" y="1901952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75320" y="2121408"/>
            <a:ext cx="512064" cy="512064"/>
          </a:xfrm>
          <a:prstGeom prst="ellipse">
            <a:avLst/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095" y="2239183"/>
            <a:ext cx="276515" cy="2765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3368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测试设计资产</a:t>
            </a:r>
            <a:endParaRPr lang="en-US" sz="1620" dirty="0"/>
          </a:p>
        </p:txBody>
      </p:sp>
      <p:sp>
        <p:nvSpPr>
          <p:cNvPr id="23" name="Text 18"/>
          <p:cNvSpPr/>
          <p:nvPr/>
        </p:nvSpPr>
        <p:spPr>
          <a:xfrm>
            <a:off x="8933688" y="249631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测试分析、案例生成、案例审核已沉淀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58368" y="3474720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8680" y="3694176"/>
            <a:ext cx="512064" cy="512064"/>
          </a:xfrm>
          <a:prstGeom prst="ellipse">
            <a:avLst/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55" y="3811951"/>
            <a:ext cx="276515" cy="2765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27048" y="3675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会话与运行</a:t>
            </a:r>
            <a:endParaRPr lang="en-US" sz="1620" dirty="0"/>
          </a:p>
        </p:txBody>
      </p:sp>
      <p:sp>
        <p:nvSpPr>
          <p:cNvPr id="28" name="Text 22"/>
          <p:cNvSpPr/>
          <p:nvPr/>
        </p:nvSpPr>
        <p:spPr>
          <a:xfrm>
            <a:off x="1527048" y="40690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/ Run / RunEvent SSE 实时呈现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61688" y="3474720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0" y="3694176"/>
            <a:ext cx="512064" cy="512064"/>
          </a:xfrm>
          <a:prstGeom prst="ellipse">
            <a:avLst/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775" y="3811951"/>
            <a:ext cx="276515" cy="27651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30368" y="3675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文件与版本</a:t>
            </a:r>
            <a:endParaRPr lang="en-US" sz="1620" dirty="0"/>
          </a:p>
        </p:txBody>
      </p:sp>
      <p:sp>
        <p:nvSpPr>
          <p:cNvPr id="33" name="Text 26"/>
          <p:cNvSpPr/>
          <p:nvPr/>
        </p:nvSpPr>
        <p:spPr>
          <a:xfrm>
            <a:off x="5230368" y="40690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编辑、Markdown 预览、Diff、Git 留痕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065008" y="3474720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75320" y="3694176"/>
            <a:ext cx="512064" cy="512064"/>
          </a:xfrm>
          <a:prstGeom prst="ellipse">
            <a:avLst/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3095" y="3811951"/>
            <a:ext cx="276515" cy="27651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33688" y="3675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&amp; Skill Hub</a:t>
            </a:r>
            <a:endParaRPr lang="en-US" sz="1620" dirty="0"/>
          </a:p>
        </p:txBody>
      </p:sp>
      <p:sp>
        <p:nvSpPr>
          <p:cNvPr id="38" name="Text 30"/>
          <p:cNvSpPr/>
          <p:nvPr/>
        </p:nvSpPr>
        <p:spPr>
          <a:xfrm>
            <a:off x="8933688" y="40690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浏览、发布、引用、更新与修订管理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58368" y="5230368"/>
            <a:ext cx="10853928" cy="667512"/>
          </a:xfrm>
          <a:prstGeom prst="roundRect">
            <a:avLst>
              <a:gd name="adj" fmla="val 21918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96112" y="5340096"/>
            <a:ext cx="429768" cy="429768"/>
          </a:xfrm>
          <a:prstGeom prst="ellipse">
            <a:avLst/>
          </a:prstGeom>
          <a:solidFill>
            <a:srgbClr val="21304D"/>
          </a:solidFill>
          <a:ln w="12700">
            <a:solidFill>
              <a:srgbClr val="21304D">
                <a:alpha val="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959" y="5438943"/>
            <a:ext cx="232075" cy="23207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435608" y="53218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公共地基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2359152" y="53126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API / traceId / 权限 · 只读源码快照身份 · 个人测试工作区 · 文件与版本治理</a:t>
            </a:r>
            <a:endParaRPr lang="en-US" sz="1240" dirty="0"/>
          </a:p>
        </p:txBody>
      </p:sp>
      <p:sp>
        <p:nvSpPr>
          <p:cNvPr id="44" name="Shape 35"/>
          <p:cNvSpPr/>
          <p:nvPr/>
        </p:nvSpPr>
        <p:spPr>
          <a:xfrm>
            <a:off x="9098280" y="5404104"/>
            <a:ext cx="2130552" cy="310896"/>
          </a:xfrm>
          <a:prstGeom prst="roundRect">
            <a:avLst>
              <a:gd name="adj" fmla="val 50000"/>
            </a:avLst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9208008" y="5422392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课题只补“1 Agent + 4 Skills”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交付形态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最终交付：1 个编排 Agent + 4 个可复用 Skill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不建看板、网页或专用 API；直接复用现有 Agent/Skill 加载、对话运行、文件产物和 Hub 发布能力。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810512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9568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75104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075688" y="1929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Asset Quality Optimizer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4736592" y="192938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理解任务、编排 Skills、汇总结论、写入产物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13232" y="2615184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76148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79776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01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075688" y="2734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change-impact-analysis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4736592" y="27340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读取版本与变更文件，提取影响模块、功能和证据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13232" y="3419856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5661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584448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02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075688" y="3538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asset-change-alignment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736592" y="35387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关联受影响测试资产，识别未响应或无需调整项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13232" y="4224528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37083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389120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94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03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075688" y="4343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test-asset-quality-review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4736592" y="43434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按准确性、完整性、可执行性和可维护性评估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13232" y="5029200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51755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193792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04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075688" y="51480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test-asset-optimization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4736592" y="51480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产出优化建议、修订后案例和可复核 Diff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8668512" y="2011680"/>
            <a:ext cx="2487168" cy="2761488"/>
          </a:xfrm>
          <a:prstGeom prst="roundRect">
            <a:avLst>
              <a:gd name="adj" fmla="val 6618"/>
            </a:avLst>
          </a:prstGeom>
          <a:solidFill>
            <a:srgbClr val="17213D"/>
          </a:solidFill>
          <a:ln w="12700">
            <a:solidFill>
              <a:srgbClr val="17213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62288" y="2496312"/>
            <a:ext cx="1499616" cy="1499616"/>
          </a:xfrm>
          <a:prstGeom prst="ellipse">
            <a:avLst/>
          </a:prstGeom>
          <a:solidFill>
            <a:srgbClr val="1D315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0616" y="283464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46920" y="2980944"/>
            <a:ext cx="530352" cy="530352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8901" y="3102925"/>
            <a:ext cx="286390" cy="28639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887968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Skills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8869680" y="4114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对话可调用 · 文件可落盘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2944368" y="5870448"/>
            <a:ext cx="6400800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54096" y="5888736"/>
            <a:ext cx="6181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最终运行 = 输入变更与资产 → Agent 编排 4 Skills → 评估报告 + 优化资产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2331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Agent 判断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如何建立“变更—资产—优化”关系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代码变更且关联资产未响应时生成关注项，再给出无需调整、更新、补充或重新生成建议。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7784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 Codex 任务 019fae77… 的源码快照与人员工作区分析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1847088"/>
            <a:ext cx="3035808" cy="358444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0756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93976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开发侧 · 生产变更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2928" y="2029968"/>
            <a:ext cx="493776" cy="493776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6496" y="2143536"/>
            <a:ext cx="266639" cy="26663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1248" y="261518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前后两版源码快照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1248" y="3054096"/>
            <a:ext cx="1993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/ targetCommit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selectedPaths / indexSha256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变更文件清单（输入）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58568" y="382219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68296" y="3840480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运行目录无 .git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841248" y="4224528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本周读取版本身份与已有/导入的变更文件清单；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不在运行快照中恢复 .git，不开发完整 Diff 引擎。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41248" y="5010912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50292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已存在：快照身份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2267712" y="50109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77440" y="5029200"/>
            <a:ext cx="923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本周：变更输入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3995928" y="2542032"/>
            <a:ext cx="2267712" cy="2267712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07408" y="2953512"/>
            <a:ext cx="1444752" cy="1444752"/>
          </a:xfrm>
          <a:prstGeom prst="ellipse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37176" y="3383280"/>
            <a:ext cx="585216" cy="585216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776" y="3517880"/>
            <a:ext cx="316017" cy="31601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325112" y="41513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变更—资产</a:t>
            </a:r>
            <a:endParaRPr lang="en-US" sz="1640" dirty="0"/>
          </a:p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关联判断</a:t>
            </a:r>
            <a:endParaRPr lang="en-US" sz="1640" dirty="0"/>
          </a:p>
        </p:txBody>
      </p:sp>
      <p:sp>
        <p:nvSpPr>
          <p:cNvPr id="28" name="Shape 24"/>
          <p:cNvSpPr/>
          <p:nvPr/>
        </p:nvSpPr>
        <p:spPr>
          <a:xfrm>
            <a:off x="3639312" y="3639312"/>
            <a:ext cx="457200" cy="0"/>
          </a:xfrm>
          <a:prstGeom prst="line">
            <a:avLst/>
          </a:prstGeom>
          <a:noFill/>
          <a:ln w="21590">
            <a:solidFill>
              <a:srgbClr val="4D7CFE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6263640" y="3639312"/>
            <a:ext cx="448056" cy="0"/>
          </a:xfrm>
          <a:prstGeom prst="line">
            <a:avLst/>
          </a:prstGeom>
          <a:noFill/>
          <a:ln w="2159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6729984" y="1847088"/>
            <a:ext cx="484632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967728" y="20756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77456" y="2093976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测试侧 · 质量资产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10808208" y="2029968"/>
            <a:ext cx="493776" cy="493776"/>
          </a:xfrm>
          <a:prstGeom prst="ellipse">
            <a:avLst/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776" y="2143536"/>
            <a:ext cx="266639" cy="266639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967728" y="2615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测试案例版本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6967728" y="3035808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caseVersionId / contentHash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测试工作库版本 / personalWorkspaceId</a:t>
            </a:r>
            <a:endParaRPr lang="en-US" sz="1120" dirty="0"/>
          </a:p>
        </p:txBody>
      </p:sp>
      <p:sp>
        <p:nvSpPr>
          <p:cNvPr id="37" name="Shape 32"/>
          <p:cNvSpPr/>
          <p:nvPr/>
        </p:nvSpPr>
        <p:spPr>
          <a:xfrm>
            <a:off x="6976872" y="3776472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114032" y="3858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代码证据</a:t>
            </a:r>
            <a:endParaRPr lang="en-US" sz="970" dirty="0"/>
          </a:p>
        </p:txBody>
      </p:sp>
      <p:sp>
        <p:nvSpPr>
          <p:cNvPr id="39" name="Text 34"/>
          <p:cNvSpPr/>
          <p:nvPr/>
        </p:nvSpPr>
        <p:spPr>
          <a:xfrm>
            <a:off x="7114032" y="4059936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/ APIs / symbols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9144000" y="3776472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9281160" y="3858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影响功能</a:t>
            </a:r>
            <a:endParaRPr lang="en-US" sz="970" dirty="0"/>
          </a:p>
        </p:txBody>
      </p:sp>
      <p:sp>
        <p:nvSpPr>
          <p:cNvPr id="42" name="Text 37"/>
          <p:cNvSpPr/>
          <p:nvPr/>
        </p:nvSpPr>
        <p:spPr>
          <a:xfrm>
            <a:off x="9281160" y="4059936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 → 模块 → 功能点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6976872" y="4434840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7114032" y="45171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资产响应</a:t>
            </a:r>
            <a:endParaRPr lang="en-US" sz="970" dirty="0"/>
          </a:p>
        </p:txBody>
      </p:sp>
      <p:sp>
        <p:nvSpPr>
          <p:cNvPr id="45" name="Text 40"/>
          <p:cNvSpPr/>
          <p:nvPr/>
        </p:nvSpPr>
        <p:spPr>
          <a:xfrm>
            <a:off x="7114032" y="471830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/ 修改 / 确认无需改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9144000" y="4434840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EAF9D6"/>
          </a:solidFill>
          <a:ln w="12700">
            <a:solidFill>
              <a:srgbClr val="EAF9D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281160" y="45171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风险状态</a:t>
            </a:r>
            <a:endParaRPr lang="en-US" sz="970" dirty="0"/>
          </a:p>
        </p:txBody>
      </p:sp>
      <p:sp>
        <p:nvSpPr>
          <p:cNvPr id="48" name="Text 43"/>
          <p:cNvSpPr/>
          <p:nvPr/>
        </p:nvSpPr>
        <p:spPr>
          <a:xfrm>
            <a:off x="9281160" y="471830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未响应 / 处理中 / 已关闭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685800" y="5715000"/>
            <a:ext cx="10808208" cy="493776"/>
          </a:xfrm>
          <a:prstGeom prst="roundRect">
            <a:avLst>
              <a:gd name="adj" fmla="val 25926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14400" y="584301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分析价值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1700784" y="5815584"/>
            <a:ext cx="9372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代码已变且资产未响应 → Agent 给出风险理由 → 产出处置建议和优化后资产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运行效果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一次调用：产出评估报告和优化后资产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用户在现有工作台选择 Agent、引入变更与案例；结果以 Markdown / JSON 文件落到测试工作区。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11183112" cy="4480560"/>
          </a:xfrm>
          <a:prstGeom prst="roundRect">
            <a:avLst>
              <a:gd name="adj" fmla="val 2449"/>
            </a:avLst>
          </a:prstGeom>
          <a:solidFill>
            <a:srgbClr val="F8FAFD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700784"/>
            <a:ext cx="11183112" cy="438912"/>
          </a:xfrm>
          <a:prstGeom prst="roundRect">
            <a:avLst>
              <a:gd name="adj" fmla="val 25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856232"/>
            <a:ext cx="100584" cy="100584"/>
          </a:xfrm>
          <a:prstGeom prst="ellipse">
            <a:avLst/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1856232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1856232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181051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D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@Test Asset Quality Optimizer · 支付应用 / gen-42 / commit abc123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48672" y="1773936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203552"/>
          </a:solidFill>
          <a:ln w="12700">
            <a:solidFill>
              <a:srgbClr val="20355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1792224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Skills 已完成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94944" y="2313432"/>
            <a:ext cx="2331720" cy="358444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487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输入资料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1947672" y="2450592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2468880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个文件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22960" y="2898648"/>
            <a:ext cx="2066544" cy="621792"/>
          </a:xfrm>
          <a:prstGeom prst="roundRect">
            <a:avLst>
              <a:gd name="adj" fmla="val 13235"/>
            </a:avLst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98094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50976" y="31821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changed-files.md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2432304" y="30540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1F6EB"/>
          </a:solidFill>
          <a:ln w="12700">
            <a:solidFill>
              <a:srgbClr val="E1F6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3072384"/>
            <a:ext cx="91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22960" y="3685032"/>
            <a:ext cx="2066544" cy="621792"/>
          </a:xfrm>
          <a:prstGeom prst="roundRect">
            <a:avLst>
              <a:gd name="adj" fmla="val 13235"/>
            </a:avLst>
          </a:prstGeom>
          <a:solidFill>
            <a:srgbClr val="DDF7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767328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950976" y="39684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TC-002.md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2432304" y="38404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858768"/>
            <a:ext cx="91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22960" y="4471416"/>
            <a:ext cx="2066544" cy="621792"/>
          </a:xfrm>
          <a:prstGeom prst="roundRect">
            <a:avLst>
              <a:gd name="adj" fmla="val 13235"/>
            </a:avLst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553712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950976" y="4754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detailed-design.md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2432304" y="46268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42032" y="4645152"/>
            <a:ext cx="91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96112" y="52303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任务：分析锁定阈值变更，评估并优化关联案例。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172968" y="2313432"/>
            <a:ext cx="4754880" cy="3584448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92424" y="2487168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2152" y="2505456"/>
            <a:ext cx="1444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3392424" y="281635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锁定阈值变更影响分析</a:t>
            </a:r>
            <a:endParaRPr lang="en-US" sz="1620" dirty="0"/>
          </a:p>
        </p:txBody>
      </p:sp>
      <p:sp>
        <p:nvSpPr>
          <p:cNvPr id="40" name="Text 38"/>
          <p:cNvSpPr/>
          <p:nvPr/>
        </p:nvSpPr>
        <p:spPr>
          <a:xfrm>
            <a:off x="3401568" y="327355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变更证据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42232" y="3255264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auth/lock-service.ts：失败阈值从 5 次调整为 3 次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3401568" y="3776472"/>
            <a:ext cx="4160520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395935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资产评估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42232" y="3941064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TC-002 仍使用 5 次阈值；核心场景正确，数据与断言过期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3401568" y="4462272"/>
            <a:ext cx="4160520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1568" y="464515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优化结果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42232" y="4626864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阈值更新为 3 次，补充第 4 次正确密码仍禁止登录的断言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3401568" y="5468112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11296" y="5486400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 B · 小改可用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83480" y="546811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change-impact → alignment → review → optimization</a:t>
            </a:r>
            <a:endParaRPr lang="en-US" sz="890" dirty="0"/>
          </a:p>
        </p:txBody>
      </p:sp>
      <p:sp>
        <p:nvSpPr>
          <p:cNvPr id="51" name="Shape 49"/>
          <p:cNvSpPr/>
          <p:nvPr/>
        </p:nvSpPr>
        <p:spPr>
          <a:xfrm>
            <a:off x="8083296" y="2313432"/>
            <a:ext cx="3401568" cy="3584448"/>
          </a:xfrm>
          <a:prstGeom prst="roundRect">
            <a:avLst>
              <a:gd name="adj" fmla="val 2688"/>
            </a:avLst>
          </a:prstGeom>
          <a:solidFill>
            <a:srgbClr val="F2F7FB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02752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产出文件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10378440" y="2478024"/>
            <a:ext cx="758952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88168" y="249631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已落盘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11896" y="2990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质量评估报告.md</a:t>
            </a:r>
            <a:endParaRPr lang="en-US" sz="1120" dirty="0"/>
          </a:p>
        </p:txBody>
      </p:sp>
      <p:sp>
        <p:nvSpPr>
          <p:cNvPr id="56" name="Text 54"/>
          <p:cNvSpPr/>
          <p:nvPr/>
        </p:nvSpPr>
        <p:spPr>
          <a:xfrm>
            <a:off x="8311896" y="33009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等级、问题、代码证据、风险理由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311896" y="3685032"/>
            <a:ext cx="26060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11896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优化后测试案例.md</a:t>
            </a:r>
            <a:endParaRPr lang="en-US" sz="1120" dirty="0"/>
          </a:p>
        </p:txBody>
      </p:sp>
      <p:sp>
        <p:nvSpPr>
          <p:cNvPr id="59" name="Text 57"/>
          <p:cNvSpPr/>
          <p:nvPr/>
        </p:nvSpPr>
        <p:spPr>
          <a:xfrm>
            <a:off x="8311896" y="41330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保留原场景，修正过期数据与断言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311896" y="4517136"/>
            <a:ext cx="26060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11896" y="4654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处理记录.json</a:t>
            </a:r>
            <a:endParaRPr lang="en-US" sz="1120" dirty="0"/>
          </a:p>
        </p:txBody>
      </p:sp>
      <p:sp>
        <p:nvSpPr>
          <p:cNvPr id="62" name="Text 60"/>
          <p:cNvSpPr/>
          <p:nvPr/>
        </p:nvSpPr>
        <p:spPr>
          <a:xfrm>
            <a:off x="8311896" y="4965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记录版本、Skill 结果、处置类型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674352" y="54955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84080" y="5513832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打开结果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一周任务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必须完成：1 个 Agent、4 个 Skill、1 组真实验证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每个能力都必须可发现、可调用、可独立测试；周五串成完整运行链路。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105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025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208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984248"/>
            <a:ext cx="475488" cy="475488"/>
          </a:xfrm>
          <a:prstGeom prst="ellipse">
            <a:avLst/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5210" y="2093610"/>
            <a:ext cx="256764" cy="2567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44752" y="1984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41248" y="24688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定义角色、输入、编排顺序、失败处理、落盘目录和输出契约。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41248" y="29809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" y="29992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组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352544" y="18105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5424" y="20025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20208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50024" y="1984248"/>
            <a:ext cx="475488" cy="475488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86" y="2093610"/>
            <a:ext cx="256764" cy="2567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38928" y="1984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变更影响 Skill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4535424" y="24688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从版本身份与变更文件提取模块、功能、接口和代码证据。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4535424" y="29809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45152" y="29992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</a:t>
            </a:r>
            <a:endParaRPr lang="en-US" sz="860" dirty="0"/>
          </a:p>
        </p:txBody>
      </p:sp>
      <p:sp>
        <p:nvSpPr>
          <p:cNvPr id="26" name="Shape 22"/>
          <p:cNvSpPr/>
          <p:nvPr/>
        </p:nvSpPr>
        <p:spPr>
          <a:xfrm>
            <a:off x="8046720" y="18105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229600" y="20025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39328" y="20208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0744200" y="1984248"/>
            <a:ext cx="475488" cy="475488"/>
          </a:xfrm>
          <a:prstGeom prst="ellipse">
            <a:avLst/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562" y="2093610"/>
            <a:ext cx="256764" cy="25676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833104" y="1984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资产关联 Skill</a:t>
            </a:r>
            <a:endParaRPr lang="en-US" sz="1550" dirty="0"/>
          </a:p>
        </p:txBody>
      </p:sp>
      <p:sp>
        <p:nvSpPr>
          <p:cNvPr id="32" name="Text 27"/>
          <p:cNvSpPr/>
          <p:nvPr/>
        </p:nvSpPr>
        <p:spPr>
          <a:xfrm>
            <a:off x="8229600" y="24688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根据功能、路径、接口和语义关联案例，识别变更未响应项。</a:t>
            </a:r>
            <a:endParaRPr lang="en-US" sz="1060" dirty="0"/>
          </a:p>
        </p:txBody>
      </p:sp>
      <p:sp>
        <p:nvSpPr>
          <p:cNvPr id="33" name="Shape 28"/>
          <p:cNvSpPr/>
          <p:nvPr/>
        </p:nvSpPr>
        <p:spPr>
          <a:xfrm>
            <a:off x="8229600" y="29809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339328" y="29992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B</a:t>
            </a:r>
            <a:endParaRPr lang="en-US" sz="860" dirty="0"/>
          </a:p>
        </p:txBody>
      </p:sp>
      <p:sp>
        <p:nvSpPr>
          <p:cNvPr id="35" name="Shape 30"/>
          <p:cNvSpPr/>
          <p:nvPr/>
        </p:nvSpPr>
        <p:spPr>
          <a:xfrm>
            <a:off x="658368" y="36393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41248" y="3831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50976" y="38496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355848" y="3813048"/>
            <a:ext cx="475488" cy="475488"/>
          </a:xfrm>
          <a:prstGeom prst="ellipse">
            <a:avLst/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210" y="3922410"/>
            <a:ext cx="256764" cy="25676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444752" y="3813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质量评估 Skill</a:t>
            </a:r>
            <a:endParaRPr lang="en-US" sz="1550" dirty="0"/>
          </a:p>
        </p:txBody>
      </p:sp>
      <p:sp>
        <p:nvSpPr>
          <p:cNvPr id="41" name="Text 35"/>
          <p:cNvSpPr/>
          <p:nvPr/>
        </p:nvSpPr>
        <p:spPr>
          <a:xfrm>
            <a:off x="841248" y="42976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A–D 等级、问题证据、影响面与处置建议。</a:t>
            </a:r>
            <a:endParaRPr lang="en-US" sz="1060" dirty="0"/>
          </a:p>
        </p:txBody>
      </p:sp>
      <p:sp>
        <p:nvSpPr>
          <p:cNvPr id="42" name="Shape 36"/>
          <p:cNvSpPr/>
          <p:nvPr/>
        </p:nvSpPr>
        <p:spPr>
          <a:xfrm>
            <a:off x="841248" y="4809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50976" y="48280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</a:t>
            </a:r>
            <a:endParaRPr lang="en-US" sz="860" dirty="0"/>
          </a:p>
        </p:txBody>
      </p:sp>
      <p:sp>
        <p:nvSpPr>
          <p:cNvPr id="44" name="Shape 38"/>
          <p:cNvSpPr/>
          <p:nvPr/>
        </p:nvSpPr>
        <p:spPr>
          <a:xfrm>
            <a:off x="4352544" y="36393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4535424" y="3831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645152" y="38496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7050024" y="3813048"/>
            <a:ext cx="475488" cy="475488"/>
          </a:xfrm>
          <a:prstGeom prst="ellipse">
            <a:avLst/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386" y="3922410"/>
            <a:ext cx="256764" cy="256764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138928" y="3813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资产优化 Skill</a:t>
            </a:r>
            <a:endParaRPr lang="en-US" sz="1550" dirty="0"/>
          </a:p>
        </p:txBody>
      </p:sp>
      <p:sp>
        <p:nvSpPr>
          <p:cNvPr id="50" name="Text 43"/>
          <p:cNvSpPr/>
          <p:nvPr/>
        </p:nvSpPr>
        <p:spPr>
          <a:xfrm>
            <a:off x="4535424" y="42976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在不破坏原始意图的前提下修正、补充或重新生成案例。</a:t>
            </a:r>
            <a:endParaRPr lang="en-US" sz="1060" dirty="0"/>
          </a:p>
        </p:txBody>
      </p:sp>
      <p:sp>
        <p:nvSpPr>
          <p:cNvPr id="51" name="Shape 44"/>
          <p:cNvSpPr/>
          <p:nvPr/>
        </p:nvSpPr>
        <p:spPr>
          <a:xfrm>
            <a:off x="4535424" y="4809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645152" y="48280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</a:t>
            </a:r>
            <a:endParaRPr lang="en-US" sz="860" dirty="0"/>
          </a:p>
        </p:txBody>
      </p:sp>
      <p:sp>
        <p:nvSpPr>
          <p:cNvPr id="53" name="Shape 46"/>
          <p:cNvSpPr/>
          <p:nvPr/>
        </p:nvSpPr>
        <p:spPr>
          <a:xfrm>
            <a:off x="8046720" y="36393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8229600" y="3831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339328" y="38496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7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10744200" y="3813048"/>
            <a:ext cx="475488" cy="475488"/>
          </a:xfrm>
          <a:prstGeom prst="ellipse">
            <a:avLst/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3562" y="3922410"/>
            <a:ext cx="256764" cy="256764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8833104" y="3813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真实验证</a:t>
            </a:r>
            <a:endParaRPr lang="en-US" sz="1550" dirty="0"/>
          </a:p>
        </p:txBody>
      </p:sp>
      <p:sp>
        <p:nvSpPr>
          <p:cNvPr id="59" name="Text 51"/>
          <p:cNvSpPr/>
          <p:nvPr/>
        </p:nvSpPr>
        <p:spPr>
          <a:xfrm>
            <a:off x="8229600" y="42976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30 组样例与期望结果，运行 Agent、回归 Skills、记录通过率。</a:t>
            </a:r>
            <a:endParaRPr lang="en-US" sz="1060" dirty="0"/>
          </a:p>
        </p:txBody>
      </p:sp>
      <p:sp>
        <p:nvSpPr>
          <p:cNvPr id="60" name="Shape 52"/>
          <p:cNvSpPr/>
          <p:nvPr/>
        </p:nvSpPr>
        <p:spPr>
          <a:xfrm>
            <a:off x="8229600" y="4809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8339328" y="48280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 + 全员</a:t>
            </a:r>
            <a:endParaRPr lang="en-US" sz="860" dirty="0"/>
          </a:p>
        </p:txBody>
      </p:sp>
      <p:sp>
        <p:nvSpPr>
          <p:cNvPr id="62" name="Shape 54"/>
          <p:cNvSpPr/>
          <p:nvPr/>
        </p:nvSpPr>
        <p:spPr>
          <a:xfrm>
            <a:off x="2871216" y="5733288"/>
            <a:ext cx="6446520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2980944" y="5751576"/>
            <a:ext cx="6227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全部完成才算交付：1 Agent + 4 Skills + 评估/优化文件产物 + 30 组验证样例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一周任务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任务拆分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 5–7 人分成 Agent 编排、变更/关联 Skills、评估/优化 Skills、质量验收四条小线。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615184"/>
            <a:ext cx="10104120" cy="0"/>
          </a:xfrm>
          <a:prstGeom prst="line">
            <a:avLst/>
          </a:prstGeom>
          <a:noFill/>
          <a:ln w="635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258568"/>
            <a:ext cx="713232" cy="7132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周一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94360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3101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328416"/>
            <a:ext cx="694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定契约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95528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输入输出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评估口径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组样例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93008" y="2258568"/>
            <a:ext cx="713232" cy="713232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周二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862072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63240" y="33101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3328416"/>
            <a:ext cx="694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通前两技能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063240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变更影响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资产关联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独立调用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258568"/>
            <a:ext cx="713232" cy="713232"/>
          </a:xfrm>
          <a:prstGeom prst="ellipse">
            <a:avLst/>
          </a:prstGeom>
          <a:solidFill>
            <a:srgbClr val="27A269"/>
          </a:solidFill>
          <a:ln w="12700">
            <a:solidFill>
              <a:srgbClr val="27A26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周三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129784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30952" y="33101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328416"/>
            <a:ext cx="694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通后两技能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330952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质量评估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资产优化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文件落盘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28432" y="2258568"/>
            <a:ext cx="713232" cy="713232"/>
          </a:xfrm>
          <a:prstGeom prst="ellipse">
            <a:avLst/>
          </a:prstGeom>
          <a:solidFill>
            <a:srgbClr val="8A6FE8"/>
          </a:solidFill>
          <a:ln w="12700">
            <a:solidFill>
              <a:srgbClr val="8A6FE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周四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397496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98664" y="33101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8392" y="3328416"/>
            <a:ext cx="694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 Agent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598664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 4 Skills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真实模型运行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修复失败样例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296144" y="2258568"/>
            <a:ext cx="713232" cy="713232"/>
          </a:xfrm>
          <a:prstGeom prst="ellipse">
            <a:avLst/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周五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665208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66376" y="33101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76104" y="3328416"/>
            <a:ext cx="694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7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866376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组全量运行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回归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演示答辩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72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编排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17465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契约、调度、落盘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5204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850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A/B</a:t>
            </a:r>
            <a:endParaRPr lang="en-US" sz="1070" dirty="0"/>
          </a:p>
        </p:txBody>
      </p:sp>
      <p:sp>
        <p:nvSpPr>
          <p:cNvPr id="44" name="Text 42"/>
          <p:cNvSpPr/>
          <p:nvPr/>
        </p:nvSpPr>
        <p:spPr>
          <a:xfrm>
            <a:off x="44897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变更与关联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2636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C/D</a:t>
            </a:r>
            <a:endParaRPr lang="en-US" sz="1070" dirty="0"/>
          </a:p>
        </p:txBody>
      </p:sp>
      <p:sp>
        <p:nvSpPr>
          <p:cNvPr id="47" name="Text 45"/>
          <p:cNvSpPr/>
          <p:nvPr/>
        </p:nvSpPr>
        <p:spPr>
          <a:xfrm>
            <a:off x="72329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评估与优化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90068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714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 / 测试</a:t>
            </a:r>
            <a:endParaRPr lang="en-US" sz="1070" dirty="0"/>
          </a:p>
        </p:txBody>
      </p:sp>
      <p:sp>
        <p:nvSpPr>
          <p:cNvPr id="50" name="Text 48"/>
          <p:cNvSpPr/>
          <p:nvPr/>
        </p:nvSpPr>
        <p:spPr>
          <a:xfrm>
            <a:off x="99761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样例、评测、验收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069080" y="592531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78808" y="5943600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17:00 集成演示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6126480" y="5925312"/>
            <a:ext cx="2615184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5943600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周四晚冻结功能，周五只修问题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最终验收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答辩现场：让 Agent 处理一次真实开发变更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不演示原型图；现场选择 Agent、引入代码与案例，运行 4 个 Skill，并打开落盘产物。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测试资产质量评估与优化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" y="2029968"/>
            <a:ext cx="530352" cy="530352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362456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准备输入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62456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版本身份、变更文件、现有案例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51176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16936" y="2029968"/>
            <a:ext cx="530352" cy="5303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630168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Agent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30168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用自然语言下达评估与优化任务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18888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84648" y="2029968"/>
            <a:ext cx="530352" cy="530352"/>
          </a:xfrm>
          <a:prstGeom prst="ellipse">
            <a:avLst/>
          </a:prstGeom>
          <a:solidFill>
            <a:srgbClr val="27A269"/>
          </a:solidFill>
          <a:ln w="12700">
            <a:solidFill>
              <a:srgbClr val="27A26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897880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 Skills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897880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展示变更、关联、评估和优化过程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52360" y="2029968"/>
            <a:ext cx="530352" cy="530352"/>
          </a:xfrm>
          <a:prstGeom prst="ellipse">
            <a:avLst/>
          </a:prstGeom>
          <a:solidFill>
            <a:srgbClr val="8A6FE8"/>
          </a:solidFill>
          <a:ln w="12700">
            <a:solidFill>
              <a:srgbClr val="8A6FE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165592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查看产物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165592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打开评估报告、优化案例和处理记录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54312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20072" y="2029968"/>
            <a:ext cx="530352" cy="530352"/>
          </a:xfrm>
          <a:prstGeom prst="ellipse">
            <a:avLst/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20072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10433304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人工复核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433304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校验代码证据、风险理由与案例可用性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" y="3547872"/>
            <a:ext cx="10844784" cy="2011680"/>
          </a:xfrm>
          <a:prstGeom prst="roundRect">
            <a:avLst>
              <a:gd name="adj" fmla="val 5455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6112" y="3794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最小验收条件</a:t>
            </a:r>
            <a:endParaRPr lang="en-US" sz="1520" dirty="0"/>
          </a:p>
        </p:txBody>
      </p:sp>
      <p:sp>
        <p:nvSpPr>
          <p:cNvPr id="34" name="Shape 32"/>
          <p:cNvSpPr/>
          <p:nvPr/>
        </p:nvSpPr>
        <p:spPr>
          <a:xfrm>
            <a:off x="914400" y="4306824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3434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243584" y="4279392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个主 Agent 能在平台被发现、选择和真实调用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6172200" y="4306824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3434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501384" y="4279392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个 Skill 均可独立发现、调用和回归测试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914400" y="4690872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7274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243584" y="4663440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结论可追溯到变更文件、代码路径与资产版本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6172200" y="4690872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7274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501384" y="4663440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代码已变但资产未响应时，能说明风险而非简单报错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914400" y="5074920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5111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1243584" y="5047488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优化后案例以文件落盘，差异清晰且可人工复核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6172200" y="5074920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5111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01384" y="5047488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组真实样例运行完成，失败项有记录、修复与回归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2606040" y="5879592"/>
            <a:ext cx="699516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15768" y="5897880"/>
            <a:ext cx="6775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最终交付 = 1 Agent + 4 Skills + 3 类落盘产物 + 30 组验证样例 + 1 条真实演示链路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测试效能团队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测试资产质量评估与优化 Agent｜开题汇报</dc:title>
  <dc:subject>面向开发变更的测试资产质量评估与优化 Agent 及 Skills</dc:subject>
  <dc:creator>MIMO 测试智能体课题组</dc:creator>
  <cp:lastModifiedBy>MIMO 测试智能体课题组</cp:lastModifiedBy>
  <cp:revision>1</cp:revision>
  <dcterms:created xsi:type="dcterms:W3CDTF">2026-07-30T07:01:07Z</dcterms:created>
  <dcterms:modified xsi:type="dcterms:W3CDTF">2026-07-30T07:01:07Z</dcterms:modified>
</cp:coreProperties>
</file>